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Lst>
  <p:notesMasterIdLst>
    <p:notesMasterId r:id="rId44"/>
  </p:notesMasterIdLst>
  <p:sldIdLst>
    <p:sldId id="357" r:id="rId5"/>
    <p:sldId id="358" r:id="rId6"/>
    <p:sldId id="334" r:id="rId7"/>
    <p:sldId id="3967" r:id="rId8"/>
    <p:sldId id="3958" r:id="rId9"/>
    <p:sldId id="3968" r:id="rId10"/>
    <p:sldId id="3970" r:id="rId11"/>
    <p:sldId id="3971" r:id="rId12"/>
    <p:sldId id="3972" r:id="rId13"/>
    <p:sldId id="3976" r:id="rId14"/>
    <p:sldId id="3966" r:id="rId15"/>
    <p:sldId id="3964" r:id="rId16"/>
    <p:sldId id="3974" r:id="rId17"/>
    <p:sldId id="3975" r:id="rId18"/>
    <p:sldId id="351" r:id="rId19"/>
    <p:sldId id="353" r:id="rId20"/>
    <p:sldId id="347" r:id="rId21"/>
    <p:sldId id="3980" r:id="rId22"/>
    <p:sldId id="3981" r:id="rId23"/>
    <p:sldId id="355" r:id="rId24"/>
    <p:sldId id="352" r:id="rId25"/>
    <p:sldId id="265" r:id="rId26"/>
    <p:sldId id="266" r:id="rId27"/>
    <p:sldId id="267" r:id="rId28"/>
    <p:sldId id="269" r:id="rId29"/>
    <p:sldId id="271" r:id="rId30"/>
    <p:sldId id="268" r:id="rId31"/>
    <p:sldId id="3969" r:id="rId32"/>
    <p:sldId id="274" r:id="rId33"/>
    <p:sldId id="3982" r:id="rId34"/>
    <p:sldId id="356" r:id="rId35"/>
    <p:sldId id="3965" r:id="rId36"/>
    <p:sldId id="3973" r:id="rId37"/>
    <p:sldId id="363" r:id="rId38"/>
    <p:sldId id="350" r:id="rId39"/>
    <p:sldId id="371" r:id="rId40"/>
    <p:sldId id="3936" r:id="rId41"/>
    <p:sldId id="3978" r:id="rId42"/>
    <p:sldId id="3933"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14"/>
    <p:restoredTop sz="94658"/>
  </p:normalViewPr>
  <p:slideViewPr>
    <p:cSldViewPr snapToGrid="0">
      <p:cViewPr varScale="1">
        <p:scale>
          <a:sx n="116" d="100"/>
          <a:sy n="116" d="100"/>
        </p:scale>
        <p:origin x="4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36F475-F7F5-6C41-B37C-656C49194CAF}" type="datetimeFigureOut">
              <a:rPr lang="en-US" smtClean="0"/>
              <a:t>1/25/26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5839EF-EF2D-A244-8B03-02564FD38722}" type="slidenum">
              <a:rPr lang="en-US" smtClean="0"/>
              <a:t>‹#›</a:t>
            </a:fld>
            <a:endParaRPr lang="en-US"/>
          </a:p>
        </p:txBody>
      </p:sp>
    </p:spTree>
    <p:extLst>
      <p:ext uri="{BB962C8B-B14F-4D97-AF65-F5344CB8AC3E}">
        <p14:creationId xmlns:p14="http://schemas.microsoft.com/office/powerpoint/2010/main" val="2679280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5839EF-EF2D-A244-8B03-02564FD38722}" type="slidenum">
              <a:rPr lang="en-US" smtClean="0"/>
              <a:t>1</a:t>
            </a:fld>
            <a:endParaRPr lang="en-US"/>
          </a:p>
        </p:txBody>
      </p:sp>
    </p:spTree>
    <p:extLst>
      <p:ext uri="{BB962C8B-B14F-4D97-AF65-F5344CB8AC3E}">
        <p14:creationId xmlns:p14="http://schemas.microsoft.com/office/powerpoint/2010/main" val="3430128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5839EF-EF2D-A244-8B03-02564FD38722}" type="slidenum">
              <a:rPr lang="en-US" smtClean="0"/>
              <a:t>11</a:t>
            </a:fld>
            <a:endParaRPr lang="en-US"/>
          </a:p>
        </p:txBody>
      </p:sp>
    </p:spTree>
    <p:extLst>
      <p:ext uri="{BB962C8B-B14F-4D97-AF65-F5344CB8AC3E}">
        <p14:creationId xmlns:p14="http://schemas.microsoft.com/office/powerpoint/2010/main" val="2831840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5839EF-EF2D-A244-8B03-02564FD38722}" type="slidenum">
              <a:rPr lang="en-US" smtClean="0"/>
              <a:t>28</a:t>
            </a:fld>
            <a:endParaRPr lang="en-US"/>
          </a:p>
        </p:txBody>
      </p:sp>
    </p:spTree>
    <p:extLst>
      <p:ext uri="{BB962C8B-B14F-4D97-AF65-F5344CB8AC3E}">
        <p14:creationId xmlns:p14="http://schemas.microsoft.com/office/powerpoint/2010/main" val="913403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80411-3FCA-8985-FEDF-6FB6B507FD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E00BF-6CB1-82AA-07B6-F509E2D11A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05220E-2801-93AC-B1A6-298F486EF5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90E273-C2B5-DF67-8429-76D7D50ABE5C}"/>
              </a:ext>
            </a:extLst>
          </p:cNvPr>
          <p:cNvSpPr>
            <a:spLocks noGrp="1"/>
          </p:cNvSpPr>
          <p:nvPr>
            <p:ph type="sldNum" sz="quarter" idx="5"/>
          </p:nvPr>
        </p:nvSpPr>
        <p:spPr/>
        <p:txBody>
          <a:bodyPr/>
          <a:lstStyle/>
          <a:p>
            <a:fld id="{515839EF-EF2D-A244-8B03-02564FD38722}" type="slidenum">
              <a:rPr lang="en-US" smtClean="0"/>
              <a:t>33</a:t>
            </a:fld>
            <a:endParaRPr lang="en-US"/>
          </a:p>
        </p:txBody>
      </p:sp>
    </p:spTree>
    <p:extLst>
      <p:ext uri="{BB962C8B-B14F-4D97-AF65-F5344CB8AC3E}">
        <p14:creationId xmlns:p14="http://schemas.microsoft.com/office/powerpoint/2010/main" val="1079939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5839EF-EF2D-A244-8B03-02564FD38722}" type="slidenum">
              <a:rPr lang="en-US" smtClean="0"/>
              <a:t>37</a:t>
            </a:fld>
            <a:endParaRPr lang="en-US"/>
          </a:p>
        </p:txBody>
      </p:sp>
    </p:spTree>
    <p:extLst>
      <p:ext uri="{BB962C8B-B14F-4D97-AF65-F5344CB8AC3E}">
        <p14:creationId xmlns:p14="http://schemas.microsoft.com/office/powerpoint/2010/main" val="37064881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FD422-CF21-5F4B-9F3C-D943F67A9BE0}"/>
              </a:ext>
            </a:extLst>
          </p:cNvPr>
          <p:cNvSpPr>
            <a:spLocks noGrp="1"/>
          </p:cNvSpPr>
          <p:nvPr>
            <p:ph type="ctrTitle" hasCustomPrompt="1"/>
          </p:nvPr>
        </p:nvSpPr>
        <p:spPr>
          <a:xfrm>
            <a:off x="813175" y="1481540"/>
            <a:ext cx="10334625" cy="1947460"/>
          </a:xfrm>
        </p:spPr>
        <p:txBody>
          <a:bodyPr anchor="t" anchorCtr="0"/>
          <a:lstStyle>
            <a:lvl1pPr algn="l">
              <a:defRPr sz="6000" b="1" i="0">
                <a:solidFill>
                  <a:schemeClr val="bg1"/>
                </a:solidFill>
                <a:latin typeface="+mn-lt"/>
                <a:cs typeface="Arial" panose="020B06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B4A5F0DF-C789-3B48-88B2-EEF178B1680D}"/>
              </a:ext>
            </a:extLst>
          </p:cNvPr>
          <p:cNvSpPr>
            <a:spLocks noGrp="1"/>
          </p:cNvSpPr>
          <p:nvPr>
            <p:ph type="subTitle" idx="1"/>
          </p:nvPr>
        </p:nvSpPr>
        <p:spPr>
          <a:xfrm>
            <a:off x="813175" y="4712963"/>
            <a:ext cx="10334625" cy="746185"/>
          </a:xfrm>
        </p:spPr>
        <p:txBody>
          <a:bodyP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Text Placeholder 4">
            <a:extLst>
              <a:ext uri="{FF2B5EF4-FFF2-40B4-BE49-F238E27FC236}">
                <a16:creationId xmlns:a16="http://schemas.microsoft.com/office/drawing/2014/main" id="{4B87851E-C1E1-6E46-8D1B-95D6C1888590}"/>
              </a:ext>
            </a:extLst>
          </p:cNvPr>
          <p:cNvSpPr>
            <a:spLocks noGrp="1"/>
          </p:cNvSpPr>
          <p:nvPr>
            <p:ph type="body" sz="quarter" idx="10"/>
          </p:nvPr>
        </p:nvSpPr>
        <p:spPr>
          <a:xfrm>
            <a:off x="813175" y="3441178"/>
            <a:ext cx="10334625" cy="1259607"/>
          </a:xfrm>
        </p:spPr>
        <p:txBody>
          <a:bodyPr>
            <a:noAutofit/>
          </a:bodyPr>
          <a:lstStyle>
            <a:lvl1pPr marL="0" indent="0">
              <a:buFontTx/>
              <a:buNone/>
              <a:defRPr sz="2400">
                <a:solidFill>
                  <a:schemeClr val="bg1"/>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a:t>Click to edit Master text styles</a:t>
            </a:r>
          </a:p>
        </p:txBody>
      </p:sp>
      <p:pic>
        <p:nvPicPr>
          <p:cNvPr id="7" name="Picture 6">
            <a:extLst>
              <a:ext uri="{FF2B5EF4-FFF2-40B4-BE49-F238E27FC236}">
                <a16:creationId xmlns:a16="http://schemas.microsoft.com/office/drawing/2014/main" id="{89D2A825-8C85-4864-2E62-013DFA1BE822}"/>
              </a:ext>
            </a:extLst>
          </p:cNvPr>
          <p:cNvPicPr>
            <a:picLocks noChangeAspect="1"/>
          </p:cNvPicPr>
          <p:nvPr userDrawn="1"/>
        </p:nvPicPr>
        <p:blipFill>
          <a:blip r:embed="rId3"/>
          <a:srcRect/>
          <a:stretch/>
        </p:blipFill>
        <p:spPr>
          <a:xfrm>
            <a:off x="6983308" y="450531"/>
            <a:ext cx="1787236" cy="457200"/>
          </a:xfrm>
          <a:prstGeom prst="rect">
            <a:avLst/>
          </a:prstGeom>
        </p:spPr>
      </p:pic>
      <p:pic>
        <p:nvPicPr>
          <p:cNvPr id="9" name="Picture 8">
            <a:extLst>
              <a:ext uri="{FF2B5EF4-FFF2-40B4-BE49-F238E27FC236}">
                <a16:creationId xmlns:a16="http://schemas.microsoft.com/office/drawing/2014/main" id="{1301BF93-7347-8E26-5A60-860D7BDA7FE6}"/>
              </a:ext>
            </a:extLst>
          </p:cNvPr>
          <p:cNvPicPr>
            <a:picLocks noChangeAspect="1"/>
          </p:cNvPicPr>
          <p:nvPr userDrawn="1"/>
        </p:nvPicPr>
        <p:blipFill>
          <a:blip r:embed="rId4"/>
          <a:stretch>
            <a:fillRect/>
          </a:stretch>
        </p:blipFill>
        <p:spPr>
          <a:xfrm>
            <a:off x="4655554" y="457965"/>
            <a:ext cx="1825604" cy="457200"/>
          </a:xfrm>
          <a:prstGeom prst="rect">
            <a:avLst/>
          </a:prstGeom>
        </p:spPr>
      </p:pic>
      <p:pic>
        <p:nvPicPr>
          <p:cNvPr id="1028" name="Picture 4">
            <a:extLst>
              <a:ext uri="{FF2B5EF4-FFF2-40B4-BE49-F238E27FC236}">
                <a16:creationId xmlns:a16="http://schemas.microsoft.com/office/drawing/2014/main" id="{2A43BF2A-1EAF-3D73-5D60-2A3780FE9404}"/>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059062" y="393380"/>
            <a:ext cx="2569640" cy="621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2655364"/>
      </p:ext>
    </p:extLst>
  </p:cSld>
  <p:clrMapOvr>
    <a:masterClrMapping/>
  </p:clrMapOvr>
  <p:extLst>
    <p:ext uri="{DCECCB84-F9BA-43D5-87BE-67443E8EF086}">
      <p15:sldGuideLst xmlns:p15="http://schemas.microsoft.com/office/powerpoint/2012/main">
        <p15:guide id="7" orient="horz" pos="2160" userDrawn="1">
          <p15:clr>
            <a:srgbClr val="FBAE40"/>
          </p15:clr>
        </p15:guide>
        <p15:guide id="8" pos="3840" userDrawn="1">
          <p15:clr>
            <a:srgbClr val="FBAE40"/>
          </p15:clr>
        </p15:guide>
        <p15:guide id="9" orient="horz" pos="3888" userDrawn="1">
          <p15:clr>
            <a:srgbClr val="FBAE40"/>
          </p15:clr>
        </p15:guide>
        <p15:guide id="10" pos="360" userDrawn="1">
          <p15:clr>
            <a:srgbClr val="FBAE40"/>
          </p15:clr>
        </p15:guide>
        <p15:guide id="11" pos="7320" userDrawn="1">
          <p15:clr>
            <a:srgbClr val="FBAE40"/>
          </p15:clr>
        </p15:guide>
        <p15:guide id="12" orient="horz" pos="398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4785F67-179E-4145-8BCB-4A0C61A894B6}"/>
              </a:ext>
            </a:extLst>
          </p:cNvPr>
          <p:cNvSpPr>
            <a:spLocks noGrp="1"/>
          </p:cNvSpPr>
          <p:nvPr>
            <p:ph type="sldNum" sz="quarter" idx="4"/>
          </p:nvPr>
        </p:nvSpPr>
        <p:spPr>
          <a:xfrm>
            <a:off x="11451649" y="6533724"/>
            <a:ext cx="432486" cy="294041"/>
          </a:xfrm>
          <a:prstGeom prst="rect">
            <a:avLst/>
          </a:prstGeom>
        </p:spPr>
        <p:txBody>
          <a:bodyPr lIns="0" tIns="0" rIns="0" bIns="0" anchor="ctr"/>
          <a:lstStyle>
            <a:lvl1pPr algn="ctr">
              <a:defRPr sz="1000">
                <a:solidFill>
                  <a:schemeClr val="tx1"/>
                </a:solidFill>
              </a:defRPr>
            </a:lvl1pPr>
          </a:lstStyle>
          <a:p>
            <a:fld id="{933A556B-7C63-244D-9B7C-B0EA8042B330}" type="slidenum">
              <a:rPr lang="en-US" smtClean="0"/>
              <a:pPr/>
              <a:t>‹#›</a:t>
            </a:fld>
            <a:endParaRPr lang="en-US"/>
          </a:p>
        </p:txBody>
      </p:sp>
      <p:sp>
        <p:nvSpPr>
          <p:cNvPr id="8" name="Title Placeholder 1">
            <a:extLst>
              <a:ext uri="{FF2B5EF4-FFF2-40B4-BE49-F238E27FC236}">
                <a16:creationId xmlns:a16="http://schemas.microsoft.com/office/drawing/2014/main" id="{7E7747BA-6145-3552-2339-5F4BF5DF2FDE}"/>
              </a:ext>
            </a:extLst>
          </p:cNvPr>
          <p:cNvSpPr>
            <a:spLocks noGrp="1"/>
          </p:cNvSpPr>
          <p:nvPr>
            <p:ph type="title"/>
          </p:nvPr>
        </p:nvSpPr>
        <p:spPr>
          <a:xfrm>
            <a:off x="462579" y="0"/>
            <a:ext cx="11499925" cy="825178"/>
          </a:xfrm>
          <a:prstGeom prst="rect">
            <a:avLst/>
          </a:prstGeom>
        </p:spPr>
        <p:txBody>
          <a:bodyPr vert="horz" lIns="91440" tIns="45720" rIns="91440" bIns="45720" rtlCol="0" anchor="ctr">
            <a:normAutofit/>
          </a:bodyPr>
          <a:lstStyle/>
          <a:p>
            <a:r>
              <a:rPr lang="en-US"/>
              <a:t>Click to edit Master title style</a:t>
            </a:r>
          </a:p>
        </p:txBody>
      </p:sp>
      <p:sp>
        <p:nvSpPr>
          <p:cNvPr id="9" name="Text Placeholder 2">
            <a:extLst>
              <a:ext uri="{FF2B5EF4-FFF2-40B4-BE49-F238E27FC236}">
                <a16:creationId xmlns:a16="http://schemas.microsoft.com/office/drawing/2014/main" id="{C65258C7-5BE3-51E9-6313-6F03042F389D}"/>
              </a:ext>
            </a:extLst>
          </p:cNvPr>
          <p:cNvSpPr>
            <a:spLocks noGrp="1"/>
          </p:cNvSpPr>
          <p:nvPr>
            <p:ph idx="1"/>
          </p:nvPr>
        </p:nvSpPr>
        <p:spPr>
          <a:xfrm>
            <a:off x="462579" y="975365"/>
            <a:ext cx="11499925" cy="48658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4568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ontent 1 - Bullet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56E40-B484-1283-A234-15FBD885539D}"/>
              </a:ext>
            </a:extLst>
          </p:cNvPr>
          <p:cNvSpPr>
            <a:spLocks noGrp="1"/>
          </p:cNvSpPr>
          <p:nvPr>
            <p:ph type="title" hasCustomPrompt="1"/>
          </p:nvPr>
        </p:nvSpPr>
        <p:spPr/>
        <p:txBody>
          <a:bodyPr/>
          <a:lstStyle>
            <a:lvl1pPr>
              <a:defRPr/>
            </a:lvl1pPr>
          </a:lstStyle>
          <a:p>
            <a:r>
              <a:rPr lang="en-US"/>
              <a:t>Slide Title [Layout: Content 1 – Bulleted]</a:t>
            </a:r>
          </a:p>
        </p:txBody>
      </p:sp>
      <p:sp>
        <p:nvSpPr>
          <p:cNvPr id="5" name="Text Placeholder 4">
            <a:extLst>
              <a:ext uri="{FF2B5EF4-FFF2-40B4-BE49-F238E27FC236}">
                <a16:creationId xmlns:a16="http://schemas.microsoft.com/office/drawing/2014/main" id="{C27E89AC-E876-D4E3-122F-C3259C467096}"/>
              </a:ext>
            </a:extLst>
          </p:cNvPr>
          <p:cNvSpPr>
            <a:spLocks noGrp="1"/>
          </p:cNvSpPr>
          <p:nvPr>
            <p:ph type="body" sz="quarter" idx="10" hasCustomPrompt="1"/>
          </p:nvPr>
        </p:nvSpPr>
        <p:spPr>
          <a:xfrm>
            <a:off x="461963" y="930274"/>
            <a:ext cx="11521440" cy="5212080"/>
          </a:xfrm>
        </p:spPr>
        <p:txBody>
          <a:bodyPr/>
          <a:lstStyle>
            <a:lvl1pPr>
              <a:defRPr/>
            </a:lvl1pPr>
            <a:lvl2pPr marL="515938" indent="-228600">
              <a:defRPr/>
            </a:lvl2pPr>
            <a:lvl3pPr marL="744538" indent="-169863">
              <a:defRPr/>
            </a:lvl3pPr>
            <a:lvl4pPr marL="973138" indent="-169863">
              <a:defRPr/>
            </a:lvl4pPr>
            <a:lvl5pPr marL="1201738" indent="-169863">
              <a:defRPr/>
            </a:lvl5pPr>
          </a:lstStyle>
          <a:p>
            <a:pPr lvl="0"/>
            <a:r>
              <a:rPr lang="en-US"/>
              <a:t>Level 1 – Arial 24</a:t>
            </a:r>
          </a:p>
          <a:p>
            <a:pPr lvl="1"/>
            <a:r>
              <a:rPr lang="en-US"/>
              <a:t>Level 2 – Arial 20</a:t>
            </a:r>
          </a:p>
          <a:p>
            <a:pPr lvl="2"/>
            <a:r>
              <a:rPr lang="en-US"/>
              <a:t>Level 3 – Arial 18</a:t>
            </a:r>
          </a:p>
          <a:p>
            <a:pPr lvl="3"/>
            <a:r>
              <a:rPr lang="en-US"/>
              <a:t>Level 4 – Arial 16</a:t>
            </a:r>
          </a:p>
          <a:p>
            <a:pPr lvl="4"/>
            <a:r>
              <a:rPr lang="en-US"/>
              <a:t>Level 5 – Arial 16</a:t>
            </a:r>
          </a:p>
        </p:txBody>
      </p:sp>
      <p:sp>
        <p:nvSpPr>
          <p:cNvPr id="3" name="Slide Number Placeholder 5">
            <a:extLst>
              <a:ext uri="{FF2B5EF4-FFF2-40B4-BE49-F238E27FC236}">
                <a16:creationId xmlns:a16="http://schemas.microsoft.com/office/drawing/2014/main" id="{A2169AFE-B8AC-BEBB-44D5-6F9FE48E0132}"/>
              </a:ext>
            </a:extLst>
          </p:cNvPr>
          <p:cNvSpPr>
            <a:spLocks noGrp="1"/>
          </p:cNvSpPr>
          <p:nvPr>
            <p:ph type="sldNum" sz="quarter" idx="4"/>
          </p:nvPr>
        </p:nvSpPr>
        <p:spPr>
          <a:xfrm>
            <a:off x="11451649" y="6533724"/>
            <a:ext cx="432486" cy="294041"/>
          </a:xfrm>
          <a:prstGeom prst="rect">
            <a:avLst/>
          </a:prstGeom>
        </p:spPr>
        <p:txBody>
          <a:bodyPr lIns="0" tIns="0" rIns="0" bIns="0" anchor="ctr"/>
          <a:lstStyle>
            <a:lvl1pPr algn="ctr">
              <a:defRPr sz="1000">
                <a:solidFill>
                  <a:schemeClr val="tx1"/>
                </a:solidFill>
              </a:defRPr>
            </a:lvl1pPr>
          </a:lstStyle>
          <a:p>
            <a:fld id="{933A556B-7C63-244D-9B7C-B0EA8042B330}" type="slidenum">
              <a:rPr lang="en-US" smtClean="0"/>
              <a:pPr/>
              <a:t>‹#›</a:t>
            </a:fld>
            <a:endParaRPr lang="en-US"/>
          </a:p>
        </p:txBody>
      </p:sp>
    </p:spTree>
    <p:extLst>
      <p:ext uri="{BB962C8B-B14F-4D97-AF65-F5344CB8AC3E}">
        <p14:creationId xmlns:p14="http://schemas.microsoft.com/office/powerpoint/2010/main" val="384615109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4785F67-179E-4145-8BCB-4A0C61A894B6}"/>
              </a:ext>
            </a:extLst>
          </p:cNvPr>
          <p:cNvSpPr>
            <a:spLocks noGrp="1"/>
          </p:cNvSpPr>
          <p:nvPr>
            <p:ph type="sldNum" sz="quarter" idx="4"/>
          </p:nvPr>
        </p:nvSpPr>
        <p:spPr>
          <a:xfrm>
            <a:off x="11451649" y="6533724"/>
            <a:ext cx="432486" cy="294041"/>
          </a:xfrm>
          <a:prstGeom prst="rect">
            <a:avLst/>
          </a:prstGeom>
        </p:spPr>
        <p:txBody>
          <a:bodyPr lIns="0" tIns="0" rIns="0" bIns="0" anchor="ctr"/>
          <a:lstStyle>
            <a:lvl1pPr algn="ctr">
              <a:defRPr sz="1000">
                <a:solidFill>
                  <a:schemeClr val="tx1"/>
                </a:solidFill>
              </a:defRPr>
            </a:lvl1pPr>
          </a:lstStyle>
          <a:p>
            <a:fld id="{933A556B-7C63-244D-9B7C-B0EA8042B330}" type="slidenum">
              <a:rPr lang="en-US" smtClean="0"/>
              <a:pPr/>
              <a:t>‹#›</a:t>
            </a:fld>
            <a:endParaRPr lang="en-US"/>
          </a:p>
        </p:txBody>
      </p:sp>
      <p:sp>
        <p:nvSpPr>
          <p:cNvPr id="9" name="Text Placeholder 2">
            <a:extLst>
              <a:ext uri="{FF2B5EF4-FFF2-40B4-BE49-F238E27FC236}">
                <a16:creationId xmlns:a16="http://schemas.microsoft.com/office/drawing/2014/main" id="{C65258C7-5BE3-51E9-6313-6F03042F389D}"/>
              </a:ext>
            </a:extLst>
          </p:cNvPr>
          <p:cNvSpPr>
            <a:spLocks noGrp="1"/>
          </p:cNvSpPr>
          <p:nvPr>
            <p:ph idx="1"/>
          </p:nvPr>
        </p:nvSpPr>
        <p:spPr>
          <a:xfrm>
            <a:off x="462579" y="975365"/>
            <a:ext cx="11499925" cy="48658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1170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93986" y="0"/>
            <a:ext cx="10515600" cy="672662"/>
          </a:xfrm>
        </p:spPr>
        <p:txBody>
          <a:bodyPr/>
          <a:lstStyle>
            <a:lvl1pPr>
              <a:defRPr>
                <a:latin typeface="+mn-lt"/>
              </a:defRPr>
            </a:lvl1pPr>
          </a:lstStyle>
          <a:p>
            <a:r>
              <a:rPr lang="en-US"/>
              <a:t>Click to edit Master title style</a:t>
            </a:r>
          </a:p>
        </p:txBody>
      </p:sp>
      <p:sp>
        <p:nvSpPr>
          <p:cNvPr id="3" name="Date Placeholder 2"/>
          <p:cNvSpPr>
            <a:spLocks noGrp="1"/>
          </p:cNvSpPr>
          <p:nvPr>
            <p:ph type="dt" sz="half" idx="10"/>
          </p:nvPr>
        </p:nvSpPr>
        <p:spPr/>
        <p:txBody>
          <a:bodyPr/>
          <a:lstStyle>
            <a:lvl1pPr>
              <a:defRPr>
                <a:latin typeface="+mn-lt"/>
              </a:defRPr>
            </a:lvl1pPr>
          </a:lstStyle>
          <a:p>
            <a:endParaRPr lang="en-US" dirty="0">
              <a:latin typeface="+mn-lt"/>
            </a:endParaRPr>
          </a:p>
        </p:txBody>
      </p:sp>
      <p:sp>
        <p:nvSpPr>
          <p:cNvPr id="4" name="Footer Placeholder 3"/>
          <p:cNvSpPr>
            <a:spLocks noGrp="1"/>
          </p:cNvSpPr>
          <p:nvPr>
            <p:ph type="ftr" sz="quarter" idx="11"/>
          </p:nvPr>
        </p:nvSpPr>
        <p:spPr/>
        <p:txBody>
          <a:bodyPr/>
          <a:lstStyle>
            <a:lvl1pPr>
              <a:defRPr>
                <a:latin typeface="+mn-lt"/>
              </a:defRPr>
            </a:lvl1pPr>
          </a:lstStyle>
          <a:p>
            <a:endParaRPr lang="en-US" dirty="0">
              <a:latin typeface="+mn-lt"/>
            </a:endParaRPr>
          </a:p>
        </p:txBody>
      </p:sp>
      <p:sp>
        <p:nvSpPr>
          <p:cNvPr id="5" name="Slide Number Placeholder 4"/>
          <p:cNvSpPr>
            <a:spLocks noGrp="1"/>
          </p:cNvSpPr>
          <p:nvPr>
            <p:ph type="sldNum" sz="quarter" idx="12"/>
          </p:nvPr>
        </p:nvSpPr>
        <p:spPr>
          <a:xfrm>
            <a:off x="11247120" y="6356352"/>
            <a:ext cx="825696" cy="365125"/>
          </a:xfrm>
        </p:spPr>
        <p:txBody>
          <a:bodyPr/>
          <a:lstStyle>
            <a:lvl1pPr>
              <a:defRPr sz="1400" b="1">
                <a:latin typeface="+mn-lt"/>
              </a:defRPr>
            </a:lvl1pPr>
          </a:lstStyle>
          <a:p>
            <a:fld id="{893C5830-40F3-F04E-B2E3-10E6672BA8FF}" type="slidenum">
              <a:rPr lang="en-US" smtClean="0"/>
              <a:pPr/>
              <a:t>‹#›</a:t>
            </a:fld>
            <a:endParaRPr lang="en-US" b="1"/>
          </a:p>
        </p:txBody>
      </p:sp>
    </p:spTree>
    <p:extLst>
      <p:ext uri="{BB962C8B-B14F-4D97-AF65-F5344CB8AC3E}">
        <p14:creationId xmlns:p14="http://schemas.microsoft.com/office/powerpoint/2010/main" val="22267197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7DAAA2-8718-2247-8539-9A0DC22C048C}"/>
              </a:ext>
            </a:extLst>
          </p:cNvPr>
          <p:cNvSpPr>
            <a:spLocks noGrp="1"/>
          </p:cNvSpPr>
          <p:nvPr>
            <p:ph type="title"/>
          </p:nvPr>
        </p:nvSpPr>
        <p:spPr>
          <a:xfrm>
            <a:off x="462579" y="0"/>
            <a:ext cx="11499925" cy="705344"/>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A73056FE-C136-A54B-9DE3-EACD8E08FED9}"/>
              </a:ext>
            </a:extLst>
          </p:cNvPr>
          <p:cNvSpPr>
            <a:spLocks noGrp="1"/>
          </p:cNvSpPr>
          <p:nvPr>
            <p:ph type="body" idx="1"/>
          </p:nvPr>
        </p:nvSpPr>
        <p:spPr>
          <a:xfrm>
            <a:off x="462579" y="975365"/>
            <a:ext cx="11499925" cy="48658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CAB150B5-704F-CF21-3183-8DB97C07706C}"/>
              </a:ext>
            </a:extLst>
          </p:cNvPr>
          <p:cNvCxnSpPr>
            <a:cxnSpLocks/>
          </p:cNvCxnSpPr>
          <p:nvPr userDrawn="1"/>
        </p:nvCxnSpPr>
        <p:spPr>
          <a:xfrm>
            <a:off x="462579" y="705344"/>
            <a:ext cx="11499925" cy="0"/>
          </a:xfrm>
          <a:prstGeom prst="line">
            <a:avLst/>
          </a:prstGeom>
          <a:ln w="25400">
            <a:gradFill>
              <a:gsLst>
                <a:gs pos="0">
                  <a:schemeClr val="bg2"/>
                </a:gs>
                <a:gs pos="100000">
                  <a:schemeClr val="accent5"/>
                </a:gs>
              </a:gsLst>
              <a:lin ang="0" scaled="0"/>
            </a:gra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958D2D7-4525-7982-81CE-BAFE8EFB999D}"/>
              </a:ext>
            </a:extLst>
          </p:cNvPr>
          <p:cNvCxnSpPr/>
          <p:nvPr userDrawn="1"/>
        </p:nvCxnSpPr>
        <p:spPr>
          <a:xfrm>
            <a:off x="462579" y="6258385"/>
            <a:ext cx="11499925" cy="0"/>
          </a:xfrm>
          <a:prstGeom prst="line">
            <a:avLst/>
          </a:prstGeom>
        </p:spPr>
        <p:style>
          <a:lnRef idx="1">
            <a:schemeClr val="dk1"/>
          </a:lnRef>
          <a:fillRef idx="0">
            <a:schemeClr val="dk1"/>
          </a:fillRef>
          <a:effectRef idx="0">
            <a:schemeClr val="dk1"/>
          </a:effectRef>
          <a:fontRef idx="minor">
            <a:schemeClr val="tx1"/>
          </a:fontRef>
        </p:style>
      </p:cxnSp>
      <p:sp>
        <p:nvSpPr>
          <p:cNvPr id="7" name="Slide Number Placeholder 5">
            <a:extLst>
              <a:ext uri="{FF2B5EF4-FFF2-40B4-BE49-F238E27FC236}">
                <a16:creationId xmlns:a16="http://schemas.microsoft.com/office/drawing/2014/main" id="{0B2AFF6D-0928-4D72-853B-80E1EFEDB36D}"/>
              </a:ext>
            </a:extLst>
          </p:cNvPr>
          <p:cNvSpPr>
            <a:spLocks noGrp="1"/>
          </p:cNvSpPr>
          <p:nvPr>
            <p:ph type="sldNum" sz="quarter" idx="4"/>
          </p:nvPr>
        </p:nvSpPr>
        <p:spPr>
          <a:xfrm>
            <a:off x="11551038" y="6454957"/>
            <a:ext cx="432486" cy="294041"/>
          </a:xfrm>
          <a:prstGeom prst="rect">
            <a:avLst/>
          </a:prstGeom>
        </p:spPr>
        <p:txBody>
          <a:bodyPr lIns="0" tIns="0" rIns="0" bIns="0" anchor="ctr"/>
          <a:lstStyle>
            <a:lvl1pPr algn="ctr">
              <a:defRPr sz="1000">
                <a:solidFill>
                  <a:schemeClr val="tx1"/>
                </a:solidFill>
              </a:defRPr>
            </a:lvl1pPr>
          </a:lstStyle>
          <a:p>
            <a:fld id="{933A556B-7C63-244D-9B7C-B0EA8042B330}" type="slidenum">
              <a:rPr lang="en-US" smtClean="0"/>
              <a:pPr/>
              <a:t>‹#›</a:t>
            </a:fld>
            <a:endParaRPr lang="en-US"/>
          </a:p>
        </p:txBody>
      </p:sp>
      <p:sp>
        <p:nvSpPr>
          <p:cNvPr id="9" name="Text Placeholder 2">
            <a:extLst>
              <a:ext uri="{FF2B5EF4-FFF2-40B4-BE49-F238E27FC236}">
                <a16:creationId xmlns:a16="http://schemas.microsoft.com/office/drawing/2014/main" id="{E51EB3C1-1414-4721-B9A9-43D43377DAF1}"/>
              </a:ext>
            </a:extLst>
          </p:cNvPr>
          <p:cNvSpPr txBox="1">
            <a:spLocks/>
          </p:cNvSpPr>
          <p:nvPr userDrawn="1"/>
        </p:nvSpPr>
        <p:spPr>
          <a:xfrm>
            <a:off x="8804954" y="6533723"/>
            <a:ext cx="2568207" cy="294041"/>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 Rathmann and D. Gaskell</a:t>
            </a:r>
          </a:p>
        </p:txBody>
      </p:sp>
      <p:sp>
        <p:nvSpPr>
          <p:cNvPr id="4" name="Text Placeholder 2">
            <a:extLst>
              <a:ext uri="{FF2B5EF4-FFF2-40B4-BE49-F238E27FC236}">
                <a16:creationId xmlns:a16="http://schemas.microsoft.com/office/drawing/2014/main" id="{526DD3E6-F72F-817D-185B-672CFFA9434E}"/>
              </a:ext>
            </a:extLst>
          </p:cNvPr>
          <p:cNvSpPr txBox="1">
            <a:spLocks/>
          </p:cNvSpPr>
          <p:nvPr userDrawn="1"/>
        </p:nvSpPr>
        <p:spPr>
          <a:xfrm>
            <a:off x="351422" y="6534374"/>
            <a:ext cx="8453532" cy="29404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schemeClr val="tx1"/>
                </a:solidFill>
              </a:rPr>
              <a:t>Director's Review of the EIC Detector Subproject to Assess Baseline Readiness, </a:t>
            </a:r>
            <a:r>
              <a:rPr lang="en-US" sz="1400" dirty="0"/>
              <a:t>February 3</a:t>
            </a:r>
            <a:r>
              <a:rPr lang="en-US" sz="1400" baseline="30000" dirty="0"/>
              <a:t>rd</a:t>
            </a:r>
            <a:r>
              <a:rPr lang="en-US" sz="1400" dirty="0"/>
              <a:t> – 5</a:t>
            </a:r>
            <a:r>
              <a:rPr lang="en-US" sz="1400" baseline="30000" dirty="0"/>
              <a:t>th</a:t>
            </a:r>
            <a:r>
              <a:rPr lang="en-US" sz="1400" dirty="0"/>
              <a:t>, 2026</a:t>
            </a:r>
          </a:p>
        </p:txBody>
      </p:sp>
    </p:spTree>
    <p:extLst>
      <p:ext uri="{BB962C8B-B14F-4D97-AF65-F5344CB8AC3E}">
        <p14:creationId xmlns:p14="http://schemas.microsoft.com/office/powerpoint/2010/main" val="5445211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Lst>
  <p:hf hdr="0" ftr="0" dt="0"/>
  <p:txStyles>
    <p:titleStyle>
      <a:lvl1pPr algn="l" defTabSz="914400" rtl="0" eaLnBrk="1" latinLnBrk="0" hangingPunct="1">
        <a:lnSpc>
          <a:spcPct val="90000"/>
        </a:lnSpc>
        <a:spcBef>
          <a:spcPct val="0"/>
        </a:spcBef>
        <a:buNone/>
        <a:defRPr sz="4000" b="1" u="none"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userDrawn="1">
          <p15:clr>
            <a:srgbClr val="F26B43"/>
          </p15:clr>
        </p15:guide>
        <p15:guide id="8" pos="3840" userDrawn="1">
          <p15:clr>
            <a:srgbClr val="F26B43"/>
          </p15:clr>
        </p15:guide>
        <p15:guide id="9" pos="360" userDrawn="1">
          <p15:clr>
            <a:srgbClr val="F26B43"/>
          </p15:clr>
        </p15:guide>
        <p15:guide id="10" orient="horz" pos="3888" userDrawn="1">
          <p15:clr>
            <a:srgbClr val="F26B43"/>
          </p15:clr>
        </p15:guide>
        <p15:guide id="11" pos="7320" userDrawn="1">
          <p15:clr>
            <a:srgbClr val="F26B43"/>
          </p15:clr>
        </p15:guide>
        <p15:guide id="12"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110.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eic.jlab.org/Requirements/DET.html" TargetMode="External"/><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hyperlink" Target="https://brookhavenlab.sharepoint.com/:x:/r/sites/eRHIC/bnl&amp;slac/experimental%20equipment/_layouts/15/Doc.aspx?sourcedoc=%7B2D4F9E97-765F-4354-BBC8-0764B251C9EB%7D&amp;file=Requirements.20241205.xlsx&amp;action=default&amp;mobileredirect=true"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7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7.png"/><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1.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emf"/><Relationship Id="rId1" Type="http://schemas.openxmlformats.org/officeDocument/2006/relationships/slideLayout" Target="../slideLayouts/slideLayout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eic.jlab.org/Documents/DET/Interfaces/ICD-Current/DET-DS-POL-EPOL-Internal-ICD.docx" TargetMode="External"/><Relationship Id="rId2" Type="http://schemas.openxmlformats.org/officeDocument/2006/relationships/hyperlink" Target="https://eic.jlab.org/Documents/DET/Interfaces/DET-Interfaces-Current.pdf" TargetMode="External"/><Relationship Id="rId1" Type="http://schemas.openxmlformats.org/officeDocument/2006/relationships/slideLayout" Target="../slideLayouts/slideLayout2.xml"/><Relationship Id="rId4" Type="http://schemas.openxmlformats.org/officeDocument/2006/relationships/hyperlink" Target="https://eic.jlab.org/Documents/DET/Interfaces/ICD-Current/DET-DS-POL-HPOL-Internal-ICD.docx"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eic.jlab.org/Documents/DET/Quality/References/Detector-6.10-QualityControlPlan.pdf"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2.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00.pn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36.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5.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90.png"/></Relationships>
</file>

<file path=ppt/slides/_rels/slide37.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20.png"/><Relationship Id="rId7" Type="http://schemas.openxmlformats.org/officeDocument/2006/relationships/image" Target="../media/image55.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61.png"/><Relationship Id="rId5" Type="http://schemas.openxmlformats.org/officeDocument/2006/relationships/image" Target="../media/image54.jpeg"/><Relationship Id="rId4" Type="http://schemas.openxmlformats.org/officeDocument/2006/relationships/image" Target="../media/image53.jpeg"/></Relationships>
</file>

<file path=ppt/slides/_rels/slide38.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5.xml"/><Relationship Id="rId5" Type="http://schemas.openxmlformats.org/officeDocument/2006/relationships/image" Target="../media/image60.jpeg"/><Relationship Id="rId4" Type="http://schemas.openxmlformats.org/officeDocument/2006/relationships/image" Target="../media/image59.jpeg"/></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56CBC-DA70-7741-BB3F-BCDBBE052F88}"/>
              </a:ext>
            </a:extLst>
          </p:cNvPr>
          <p:cNvSpPr>
            <a:spLocks noGrp="1"/>
          </p:cNvSpPr>
          <p:nvPr>
            <p:ph type="ctrTitle"/>
          </p:nvPr>
        </p:nvSpPr>
        <p:spPr>
          <a:xfrm>
            <a:off x="482974" y="1526050"/>
            <a:ext cx="10334625" cy="660527"/>
          </a:xfrm>
        </p:spPr>
        <p:txBody>
          <a:bodyPr>
            <a:normAutofit/>
          </a:bodyPr>
          <a:lstStyle/>
          <a:p>
            <a:r>
              <a:rPr lang="en-US" sz="3600" dirty="0"/>
              <a:t>Electron and Hadron Polarimetry</a:t>
            </a:r>
          </a:p>
        </p:txBody>
      </p:sp>
      <p:sp>
        <p:nvSpPr>
          <p:cNvPr id="14" name="Text Placeholder 37">
            <a:extLst>
              <a:ext uri="{FF2B5EF4-FFF2-40B4-BE49-F238E27FC236}">
                <a16:creationId xmlns:a16="http://schemas.microsoft.com/office/drawing/2014/main" id="{5CDA84A7-E2AC-4682-991D-6E32ECB00388}"/>
              </a:ext>
            </a:extLst>
          </p:cNvPr>
          <p:cNvSpPr txBox="1">
            <a:spLocks/>
          </p:cNvSpPr>
          <p:nvPr/>
        </p:nvSpPr>
        <p:spPr>
          <a:xfrm>
            <a:off x="482974" y="2112492"/>
            <a:ext cx="5460625" cy="50165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800" dirty="0">
                <a:solidFill>
                  <a:schemeClr val="bg1"/>
                </a:solidFill>
              </a:rPr>
              <a:t>WBS 6.03.01.11</a:t>
            </a:r>
          </a:p>
        </p:txBody>
      </p:sp>
      <p:sp>
        <p:nvSpPr>
          <p:cNvPr id="15" name="Text Placeholder 37">
            <a:extLst>
              <a:ext uri="{FF2B5EF4-FFF2-40B4-BE49-F238E27FC236}">
                <a16:creationId xmlns:a16="http://schemas.microsoft.com/office/drawing/2014/main" id="{C1B2002E-00D6-4CAD-A65D-64D3BAA92F63}"/>
              </a:ext>
            </a:extLst>
          </p:cNvPr>
          <p:cNvSpPr txBox="1">
            <a:spLocks/>
          </p:cNvSpPr>
          <p:nvPr/>
        </p:nvSpPr>
        <p:spPr>
          <a:xfrm>
            <a:off x="482974" y="3056556"/>
            <a:ext cx="5282825" cy="50165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800" b="1">
              <a:solidFill>
                <a:schemeClr val="bg1"/>
              </a:solidFill>
            </a:endParaRPr>
          </a:p>
        </p:txBody>
      </p:sp>
      <p:sp>
        <p:nvSpPr>
          <p:cNvPr id="3" name="Text Placeholder 3">
            <a:extLst>
              <a:ext uri="{FF2B5EF4-FFF2-40B4-BE49-F238E27FC236}">
                <a16:creationId xmlns:a16="http://schemas.microsoft.com/office/drawing/2014/main" id="{7783A233-1672-52E2-7AB1-CC8753BB4413}"/>
              </a:ext>
            </a:extLst>
          </p:cNvPr>
          <p:cNvSpPr>
            <a:spLocks noGrp="1"/>
          </p:cNvSpPr>
          <p:nvPr>
            <p:ph type="body" sz="quarter" idx="10"/>
          </p:nvPr>
        </p:nvSpPr>
        <p:spPr>
          <a:xfrm>
            <a:off x="614947" y="2929316"/>
            <a:ext cx="10962105" cy="448978"/>
          </a:xfrm>
        </p:spPr>
        <p:txBody>
          <a:bodyPr vert="horz" lIns="91440" tIns="45720" rIns="91440" bIns="45720" numCol="2" rtlCol="0" anchor="t">
            <a:noAutofit/>
          </a:bodyPr>
          <a:lstStyle/>
          <a:p>
            <a:r>
              <a:rPr lang="en-US" dirty="0">
                <a:cs typeface="Arial"/>
              </a:rPr>
              <a:t>Frank Rathmann</a:t>
            </a:r>
          </a:p>
          <a:p>
            <a:r>
              <a:rPr lang="en-US" dirty="0">
                <a:cs typeface="Arial"/>
              </a:rPr>
              <a:t>Dave Gaskell</a:t>
            </a:r>
          </a:p>
        </p:txBody>
      </p:sp>
      <p:sp>
        <p:nvSpPr>
          <p:cNvPr id="4" name="Text Placeholder 3">
            <a:extLst>
              <a:ext uri="{FF2B5EF4-FFF2-40B4-BE49-F238E27FC236}">
                <a16:creationId xmlns:a16="http://schemas.microsoft.com/office/drawing/2014/main" id="{B58E9DDE-D85B-8B0F-14D3-11FB47114BBF}"/>
              </a:ext>
            </a:extLst>
          </p:cNvPr>
          <p:cNvSpPr txBox="1">
            <a:spLocks/>
          </p:cNvSpPr>
          <p:nvPr/>
        </p:nvSpPr>
        <p:spPr>
          <a:xfrm>
            <a:off x="614947" y="3523891"/>
            <a:ext cx="10962105" cy="448978"/>
          </a:xfrm>
          <a:prstGeom prst="rect">
            <a:avLst/>
          </a:prstGeom>
        </p:spPr>
        <p:txBody>
          <a:bodyPr vert="horz" lIns="91440" tIns="45720" rIns="91440" bIns="45720" numCol="2" rtlCol="0" anchor="t">
            <a:noAutofit/>
          </a:bodyPr>
          <a:lstStyle>
            <a:lvl1pPr marL="0" indent="0" algn="l" defTabSz="685800" rtl="0" eaLnBrk="1" latinLnBrk="0" hangingPunct="1">
              <a:lnSpc>
                <a:spcPct val="100000"/>
              </a:lnSpc>
              <a:spcBef>
                <a:spcPts val="0"/>
              </a:spcBef>
              <a:buClr>
                <a:srgbClr val="0096FF"/>
              </a:buClr>
              <a:buFontTx/>
              <a:buNone/>
              <a:defRPr sz="2800" b="1" kern="1200">
                <a:solidFill>
                  <a:schemeClr val="bg1"/>
                </a:solidFill>
                <a:latin typeface="+mn-lt"/>
                <a:ea typeface="+mn-ea"/>
                <a:cs typeface="+mn-cs"/>
              </a:defRPr>
            </a:lvl1pPr>
            <a:lvl2pPr marL="457200" indent="0" algn="l" defTabSz="685800" rtl="0" eaLnBrk="1" latinLnBrk="0" hangingPunct="1">
              <a:lnSpc>
                <a:spcPct val="90000"/>
              </a:lnSpc>
              <a:spcBef>
                <a:spcPts val="375"/>
              </a:spcBef>
              <a:buClr>
                <a:srgbClr val="0096FF"/>
              </a:buClr>
              <a:buFontTx/>
              <a:buNone/>
              <a:defRPr sz="2000" kern="1200">
                <a:solidFill>
                  <a:schemeClr val="tx1"/>
                </a:solidFill>
                <a:latin typeface="+mn-lt"/>
                <a:ea typeface="+mn-ea"/>
                <a:cs typeface="+mn-cs"/>
              </a:defRPr>
            </a:lvl2pPr>
            <a:lvl3pPr marL="914400" indent="0" algn="l" defTabSz="685800" rtl="0" eaLnBrk="1" latinLnBrk="0" hangingPunct="1">
              <a:lnSpc>
                <a:spcPct val="90000"/>
              </a:lnSpc>
              <a:spcBef>
                <a:spcPts val="375"/>
              </a:spcBef>
              <a:buClr>
                <a:srgbClr val="0096FF"/>
              </a:buClr>
              <a:buFontTx/>
              <a:buNone/>
              <a:defRPr sz="2000" kern="1200">
                <a:solidFill>
                  <a:schemeClr val="tx1"/>
                </a:solidFill>
                <a:latin typeface="+mn-lt"/>
                <a:ea typeface="+mn-ea"/>
                <a:cs typeface="+mn-cs"/>
              </a:defRPr>
            </a:lvl3pPr>
            <a:lvl4pPr marL="1371600" indent="0" algn="l" defTabSz="685800" rtl="0" eaLnBrk="1" latinLnBrk="0" hangingPunct="1">
              <a:lnSpc>
                <a:spcPct val="90000"/>
              </a:lnSpc>
              <a:spcBef>
                <a:spcPts val="375"/>
              </a:spcBef>
              <a:buClr>
                <a:srgbClr val="0096FF"/>
              </a:buClr>
              <a:buFontTx/>
              <a:buNone/>
              <a:defRPr sz="2000" kern="1200">
                <a:solidFill>
                  <a:schemeClr val="tx1"/>
                </a:solidFill>
                <a:latin typeface="+mn-lt"/>
                <a:ea typeface="+mn-ea"/>
                <a:cs typeface="+mn-cs"/>
              </a:defRPr>
            </a:lvl4pPr>
            <a:lvl5pPr marL="1828800" indent="0" algn="l" defTabSz="685800" rtl="0" eaLnBrk="1" latinLnBrk="0" hangingPunct="1">
              <a:lnSpc>
                <a:spcPct val="90000"/>
              </a:lnSpc>
              <a:spcBef>
                <a:spcPts val="375"/>
              </a:spcBef>
              <a:buClr>
                <a:srgbClr val="0096FF"/>
              </a:buClr>
              <a:buFontTx/>
              <a:buNone/>
              <a:defRPr sz="20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b="0" dirty="0">
                <a:cs typeface="Arial"/>
              </a:rPr>
              <a:t>L3 Manager WBS 6.03.01.11</a:t>
            </a:r>
          </a:p>
          <a:p>
            <a:r>
              <a:rPr lang="en-US" b="0" dirty="0">
                <a:cs typeface="Arial"/>
              </a:rPr>
              <a:t>L4 Manager WBS 6.03.01.11.01</a:t>
            </a:r>
          </a:p>
        </p:txBody>
      </p:sp>
      <p:sp>
        <p:nvSpPr>
          <p:cNvPr id="5" name="Text Placeholder 3">
            <a:extLst>
              <a:ext uri="{FF2B5EF4-FFF2-40B4-BE49-F238E27FC236}">
                <a16:creationId xmlns:a16="http://schemas.microsoft.com/office/drawing/2014/main" id="{C2052C69-6170-F061-F858-5FF877315AD3}"/>
              </a:ext>
            </a:extLst>
          </p:cNvPr>
          <p:cNvSpPr txBox="1">
            <a:spLocks/>
          </p:cNvSpPr>
          <p:nvPr/>
        </p:nvSpPr>
        <p:spPr>
          <a:xfrm>
            <a:off x="614946" y="4055457"/>
            <a:ext cx="10962105" cy="448978"/>
          </a:xfrm>
          <a:prstGeom prst="rect">
            <a:avLst/>
          </a:prstGeom>
        </p:spPr>
        <p:txBody>
          <a:bodyPr vert="horz" lIns="91440" tIns="45720" rIns="91440" bIns="45720" numCol="2" rtlCol="0" anchor="t">
            <a:noAutofit/>
          </a:bodyPr>
          <a:lstStyle>
            <a:lvl1pPr marL="0" indent="0" algn="l" defTabSz="685800" rtl="0" eaLnBrk="1" latinLnBrk="0" hangingPunct="1">
              <a:lnSpc>
                <a:spcPct val="100000"/>
              </a:lnSpc>
              <a:spcBef>
                <a:spcPts val="0"/>
              </a:spcBef>
              <a:buClr>
                <a:srgbClr val="0096FF"/>
              </a:buClr>
              <a:buFontTx/>
              <a:buNone/>
              <a:defRPr sz="2800" b="1" kern="1200">
                <a:solidFill>
                  <a:schemeClr val="bg1"/>
                </a:solidFill>
                <a:latin typeface="+mn-lt"/>
                <a:ea typeface="+mn-ea"/>
                <a:cs typeface="+mn-cs"/>
              </a:defRPr>
            </a:lvl1pPr>
            <a:lvl2pPr marL="457200" indent="0" algn="l" defTabSz="685800" rtl="0" eaLnBrk="1" latinLnBrk="0" hangingPunct="1">
              <a:lnSpc>
                <a:spcPct val="90000"/>
              </a:lnSpc>
              <a:spcBef>
                <a:spcPts val="375"/>
              </a:spcBef>
              <a:buClr>
                <a:srgbClr val="0096FF"/>
              </a:buClr>
              <a:buFontTx/>
              <a:buNone/>
              <a:defRPr sz="2000" kern="1200">
                <a:solidFill>
                  <a:schemeClr val="tx1"/>
                </a:solidFill>
                <a:latin typeface="+mn-lt"/>
                <a:ea typeface="+mn-ea"/>
                <a:cs typeface="+mn-cs"/>
              </a:defRPr>
            </a:lvl2pPr>
            <a:lvl3pPr marL="914400" indent="0" algn="l" defTabSz="685800" rtl="0" eaLnBrk="1" latinLnBrk="0" hangingPunct="1">
              <a:lnSpc>
                <a:spcPct val="90000"/>
              </a:lnSpc>
              <a:spcBef>
                <a:spcPts val="375"/>
              </a:spcBef>
              <a:buClr>
                <a:srgbClr val="0096FF"/>
              </a:buClr>
              <a:buFontTx/>
              <a:buNone/>
              <a:defRPr sz="2000" kern="1200">
                <a:solidFill>
                  <a:schemeClr val="tx1"/>
                </a:solidFill>
                <a:latin typeface="+mn-lt"/>
                <a:ea typeface="+mn-ea"/>
                <a:cs typeface="+mn-cs"/>
              </a:defRPr>
            </a:lvl3pPr>
            <a:lvl4pPr marL="1371600" indent="0" algn="l" defTabSz="685800" rtl="0" eaLnBrk="1" latinLnBrk="0" hangingPunct="1">
              <a:lnSpc>
                <a:spcPct val="90000"/>
              </a:lnSpc>
              <a:spcBef>
                <a:spcPts val="375"/>
              </a:spcBef>
              <a:buClr>
                <a:srgbClr val="0096FF"/>
              </a:buClr>
              <a:buFontTx/>
              <a:buNone/>
              <a:defRPr sz="2000" kern="1200">
                <a:solidFill>
                  <a:schemeClr val="tx1"/>
                </a:solidFill>
                <a:latin typeface="+mn-lt"/>
                <a:ea typeface="+mn-ea"/>
                <a:cs typeface="+mn-cs"/>
              </a:defRPr>
            </a:lvl4pPr>
            <a:lvl5pPr marL="1828800" indent="0" algn="l" defTabSz="685800" rtl="0" eaLnBrk="1" latinLnBrk="0" hangingPunct="1">
              <a:lnSpc>
                <a:spcPct val="90000"/>
              </a:lnSpc>
              <a:spcBef>
                <a:spcPts val="375"/>
              </a:spcBef>
              <a:buClr>
                <a:srgbClr val="0096FF"/>
              </a:buClr>
              <a:buFontTx/>
              <a:buNone/>
              <a:defRPr sz="20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b="0" dirty="0">
                <a:cs typeface="Arial"/>
              </a:rPr>
              <a:t>BNL</a:t>
            </a:r>
          </a:p>
          <a:p>
            <a:r>
              <a:rPr lang="en-US" b="0" dirty="0">
                <a:cs typeface="Arial"/>
              </a:rPr>
              <a:t>JLab</a:t>
            </a:r>
          </a:p>
        </p:txBody>
      </p:sp>
      <p:sp>
        <p:nvSpPr>
          <p:cNvPr id="6" name="Text Placeholder 37">
            <a:extLst>
              <a:ext uri="{FF2B5EF4-FFF2-40B4-BE49-F238E27FC236}">
                <a16:creationId xmlns:a16="http://schemas.microsoft.com/office/drawing/2014/main" id="{82862562-6186-CADE-9E18-28DC741AF320}"/>
              </a:ext>
            </a:extLst>
          </p:cNvPr>
          <p:cNvSpPr txBox="1">
            <a:spLocks/>
          </p:cNvSpPr>
          <p:nvPr/>
        </p:nvSpPr>
        <p:spPr>
          <a:xfrm>
            <a:off x="482973" y="4772769"/>
            <a:ext cx="11547446" cy="86637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bg1"/>
                </a:solidFill>
              </a:rPr>
              <a:t>Director's Review of the EIC Detector Subproject to Assess Baseline Readiness</a:t>
            </a:r>
          </a:p>
          <a:p>
            <a:pPr marL="0" indent="0">
              <a:buNone/>
            </a:pPr>
            <a:r>
              <a:rPr lang="en-US" sz="2000" dirty="0">
                <a:solidFill>
                  <a:schemeClr val="bg1"/>
                </a:solidFill>
              </a:rPr>
              <a:t>February 3</a:t>
            </a:r>
            <a:r>
              <a:rPr lang="en-US" sz="2000" baseline="30000" dirty="0">
                <a:solidFill>
                  <a:schemeClr val="bg1"/>
                </a:solidFill>
              </a:rPr>
              <a:t>rd</a:t>
            </a:r>
            <a:r>
              <a:rPr lang="en-US" sz="2000" dirty="0">
                <a:solidFill>
                  <a:schemeClr val="bg1"/>
                </a:solidFill>
              </a:rPr>
              <a:t> – 5</a:t>
            </a:r>
            <a:r>
              <a:rPr lang="en-US" sz="2000" baseline="30000" dirty="0">
                <a:solidFill>
                  <a:schemeClr val="bg1"/>
                </a:solidFill>
              </a:rPr>
              <a:t>th</a:t>
            </a:r>
            <a:r>
              <a:rPr lang="en-US" sz="2000" dirty="0">
                <a:solidFill>
                  <a:schemeClr val="bg1"/>
                </a:solidFill>
              </a:rPr>
              <a:t>, 2026</a:t>
            </a:r>
          </a:p>
        </p:txBody>
      </p:sp>
    </p:spTree>
    <p:extLst>
      <p:ext uri="{BB962C8B-B14F-4D97-AF65-F5344CB8AC3E}">
        <p14:creationId xmlns:p14="http://schemas.microsoft.com/office/powerpoint/2010/main" val="2526174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AF1903-EB86-7F83-7065-855C2E5E01EC}"/>
              </a:ext>
            </a:extLst>
          </p:cNvPr>
          <p:cNvSpPr>
            <a:spLocks noGrp="1"/>
          </p:cNvSpPr>
          <p:nvPr>
            <p:ph type="sldNum" sz="quarter" idx="4"/>
          </p:nvPr>
        </p:nvSpPr>
        <p:spPr/>
        <p:txBody>
          <a:bodyPr/>
          <a:lstStyle/>
          <a:p>
            <a:fld id="{933A556B-7C63-244D-9B7C-B0EA8042B330}" type="slidenum">
              <a:rPr lang="en-US" smtClean="0"/>
              <a:pPr/>
              <a:t>2</a:t>
            </a:fld>
            <a:endParaRPr lang="en-US" dirty="0"/>
          </a:p>
        </p:txBody>
      </p:sp>
      <p:sp>
        <p:nvSpPr>
          <p:cNvPr id="3" name="Title 2">
            <a:extLst>
              <a:ext uri="{FF2B5EF4-FFF2-40B4-BE49-F238E27FC236}">
                <a16:creationId xmlns:a16="http://schemas.microsoft.com/office/drawing/2014/main" id="{BC121207-B5A5-B448-63CC-06468A50441D}"/>
              </a:ext>
            </a:extLst>
          </p:cNvPr>
          <p:cNvSpPr>
            <a:spLocks noGrp="1"/>
          </p:cNvSpPr>
          <p:nvPr>
            <p:ph type="title"/>
          </p:nvPr>
        </p:nvSpPr>
        <p:spPr/>
        <p:txBody>
          <a:bodyPr/>
          <a:lstStyle/>
          <a:p>
            <a:r>
              <a:rPr lang="en-US" dirty="0"/>
              <a:t>About us</a:t>
            </a:r>
          </a:p>
        </p:txBody>
      </p:sp>
      <p:pic>
        <p:nvPicPr>
          <p:cNvPr id="5" name="Picture 4" descr="A person with glasses and a grey jacket&#10;&#10;Description automatically generated">
            <a:extLst>
              <a:ext uri="{FF2B5EF4-FFF2-40B4-BE49-F238E27FC236}">
                <a16:creationId xmlns:a16="http://schemas.microsoft.com/office/drawing/2014/main" id="{9FDC2B7F-77C7-0FEC-861B-D5C9A7831654}"/>
              </a:ext>
            </a:extLst>
          </p:cNvPr>
          <p:cNvPicPr>
            <a:picLocks noChangeAspect="1"/>
          </p:cNvPicPr>
          <p:nvPr/>
        </p:nvPicPr>
        <p:blipFill>
          <a:blip r:embed="rId2"/>
          <a:stretch>
            <a:fillRect/>
          </a:stretch>
        </p:blipFill>
        <p:spPr>
          <a:xfrm>
            <a:off x="8199010" y="862536"/>
            <a:ext cx="2222500" cy="2527300"/>
          </a:xfrm>
          <a:prstGeom prst="rect">
            <a:avLst/>
          </a:prstGeom>
        </p:spPr>
      </p:pic>
      <p:pic>
        <p:nvPicPr>
          <p:cNvPr id="6" name="Picture 5">
            <a:extLst>
              <a:ext uri="{FF2B5EF4-FFF2-40B4-BE49-F238E27FC236}">
                <a16:creationId xmlns:a16="http://schemas.microsoft.com/office/drawing/2014/main" id="{E597D803-9AAD-529F-E172-A1127C186D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95860" y="3639619"/>
            <a:ext cx="1828800" cy="2355845"/>
          </a:xfrm>
          <a:prstGeom prst="rect">
            <a:avLst/>
          </a:prstGeom>
        </p:spPr>
      </p:pic>
      <p:sp>
        <p:nvSpPr>
          <p:cNvPr id="7" name="TextBox 6">
            <a:extLst>
              <a:ext uri="{FF2B5EF4-FFF2-40B4-BE49-F238E27FC236}">
                <a16:creationId xmlns:a16="http://schemas.microsoft.com/office/drawing/2014/main" id="{D5A80F6A-1E0F-865C-A0A0-DD4AD2EEBDB9}"/>
              </a:ext>
            </a:extLst>
          </p:cNvPr>
          <p:cNvSpPr txBox="1"/>
          <p:nvPr/>
        </p:nvSpPr>
        <p:spPr>
          <a:xfrm>
            <a:off x="1074336" y="1129936"/>
            <a:ext cx="6291744" cy="2141469"/>
          </a:xfrm>
          <a:prstGeom prst="rect">
            <a:avLst/>
          </a:prstGeom>
        </p:spPr>
        <p:txBody>
          <a:bodyPr wrap="none" rtlCol="0" anchor="ctr">
            <a:noAutofit/>
          </a:bodyPr>
          <a:lstStyle/>
          <a:p>
            <a:pPr marL="0" indent="0" algn="l">
              <a:buClr>
                <a:srgbClr val="0096FF"/>
              </a:buClr>
              <a:buFont typeface="Arial" panose="020B0604020202020204" pitchFamily="34" charset="0"/>
              <a:buNone/>
            </a:pPr>
            <a:r>
              <a:rPr lang="en-US" sz="2400" b="1" dirty="0">
                <a:latin typeface="Calibri" panose="020F0502020204030204" pitchFamily="34" charset="0"/>
                <a:cs typeface="Calibri" panose="020F0502020204030204" pitchFamily="34" charset="0"/>
              </a:rPr>
              <a:t>Frank Rathmann</a:t>
            </a:r>
          </a:p>
          <a:p>
            <a:pPr marL="285750" indent="-285750">
              <a:buClr>
                <a:schemeClr val="tx1"/>
              </a:buClr>
              <a:buFont typeface="Arial" panose="020B0604020202020204" pitchFamily="34" charset="0"/>
              <a:buChar char="•"/>
            </a:pPr>
            <a:r>
              <a:rPr lang="en-US" sz="2000" b="0" i="0" u="none" strike="noStrike" dirty="0">
                <a:solidFill>
                  <a:srgbClr val="000000"/>
                </a:solidFill>
                <a:effectLst/>
                <a:latin typeface="Calibri" panose="020F0502020204030204" pitchFamily="34" charset="0"/>
                <a:cs typeface="Calibri" panose="020F0502020204030204" pitchFamily="34" charset="0"/>
              </a:rPr>
              <a:t>L3 Manager </a:t>
            </a:r>
            <a:r>
              <a:rPr lang="en-US" sz="2000" dirty="0">
                <a:latin typeface="Calibri" panose="020F0502020204030204" pitchFamily="34" charset="0"/>
                <a:cs typeface="Calibri" panose="020F0502020204030204" pitchFamily="34" charset="0"/>
              </a:rPr>
              <a:t>Polarimetry: </a:t>
            </a:r>
            <a:r>
              <a:rPr lang="en-US" sz="2000" b="0" i="0" u="none" strike="noStrike" dirty="0">
                <a:solidFill>
                  <a:srgbClr val="000000"/>
                </a:solidFill>
                <a:effectLst/>
                <a:latin typeface="Calibri" panose="020F0502020204030204" pitchFamily="34" charset="0"/>
                <a:cs typeface="Calibri" panose="020F0502020204030204" pitchFamily="34" charset="0"/>
              </a:rPr>
              <a:t>WBS </a:t>
            </a:r>
            <a:r>
              <a:rPr lang="en-US" sz="2000" b="0" dirty="0">
                <a:latin typeface="Calibri" panose="020F0502020204030204" pitchFamily="34" charset="0"/>
                <a:cs typeface="Calibri" panose="020F0502020204030204" pitchFamily="34" charset="0"/>
              </a:rPr>
              <a:t>6.03.01.11</a:t>
            </a:r>
          </a:p>
          <a:p>
            <a:pPr marL="285750" indent="-285750">
              <a:buClr>
                <a:schemeClr val="tx1"/>
              </a:buClr>
              <a:buFont typeface="Arial" panose="020B0604020202020204" pitchFamily="34" charset="0"/>
              <a:buChar char="•"/>
            </a:pPr>
            <a:r>
              <a:rPr lang="en-US" sz="2000" dirty="0">
                <a:solidFill>
                  <a:srgbClr val="000000"/>
                </a:solidFill>
                <a:latin typeface="Calibri" panose="020F0502020204030204" pitchFamily="34" charset="0"/>
                <a:cs typeface="Calibri" panose="020F0502020204030204" pitchFamily="34" charset="0"/>
              </a:rPr>
              <a:t>Joined BNL in 2023</a:t>
            </a:r>
            <a:endParaRPr lang="en-US" sz="2000" b="0" i="0" u="none" strike="noStrike" dirty="0">
              <a:solidFill>
                <a:srgbClr val="000000"/>
              </a:solidFill>
              <a:effectLst/>
              <a:latin typeface="Calibri" panose="020F0502020204030204" pitchFamily="34" charset="0"/>
              <a:cs typeface="Calibri" panose="020F0502020204030204" pitchFamily="34" charset="0"/>
            </a:endParaRPr>
          </a:p>
          <a:p>
            <a:pPr marL="285750" indent="-285750">
              <a:buClr>
                <a:schemeClr val="tx1"/>
              </a:buClr>
              <a:buFont typeface="Arial" panose="020B0604020202020204" pitchFamily="34" charset="0"/>
              <a:buChar char="•"/>
            </a:pPr>
            <a:r>
              <a:rPr lang="en-US" sz="2000" b="0" i="0" u="none" strike="noStrike" dirty="0">
                <a:solidFill>
                  <a:srgbClr val="000000"/>
                </a:solidFill>
                <a:effectLst/>
                <a:latin typeface="Calibri" panose="020F0502020204030204" pitchFamily="34" charset="0"/>
                <a:cs typeface="Calibri" panose="020F0502020204030204" pitchFamily="34" charset="0"/>
              </a:rPr>
              <a:t>Expertise:</a:t>
            </a:r>
          </a:p>
          <a:p>
            <a:pPr marL="742950" lvl="1" indent="-285750">
              <a:buClr>
                <a:schemeClr val="tx1"/>
              </a:buClr>
              <a:buFont typeface="Arial" panose="020B0604020202020204" pitchFamily="34" charset="0"/>
              <a:buChar char="•"/>
            </a:pPr>
            <a:r>
              <a:rPr lang="en-US" sz="2000" dirty="0">
                <a:solidFill>
                  <a:srgbClr val="000000"/>
                </a:solidFill>
                <a:latin typeface="Calibri" panose="020F0502020204030204" pitchFamily="34" charset="0"/>
                <a:cs typeface="Calibri" panose="020F0502020204030204" pitchFamily="34" charset="0"/>
              </a:rPr>
              <a:t>P</a:t>
            </a:r>
            <a:r>
              <a:rPr lang="en-US" sz="2000" b="0" i="0" u="none" strike="noStrike" dirty="0">
                <a:solidFill>
                  <a:srgbClr val="000000"/>
                </a:solidFill>
                <a:effectLst/>
                <a:latin typeface="Calibri" panose="020F0502020204030204" pitchFamily="34" charset="0"/>
                <a:cs typeface="Calibri" panose="020F0502020204030204" pitchFamily="34" charset="0"/>
              </a:rPr>
              <a:t>olarized sources, beams, and polarimetry</a:t>
            </a:r>
          </a:p>
          <a:p>
            <a:pPr marL="742950" lvl="1" indent="-285750">
              <a:buClr>
                <a:schemeClr val="tx1"/>
              </a:buClr>
              <a:buFont typeface="Arial" panose="020B0604020202020204" pitchFamily="34" charset="0"/>
              <a:buChar char="•"/>
            </a:pPr>
            <a:r>
              <a:rPr lang="en-US" sz="2000" dirty="0">
                <a:solidFill>
                  <a:srgbClr val="000000"/>
                </a:solidFill>
                <a:latin typeface="Calibri" panose="020F0502020204030204" pitchFamily="34" charset="0"/>
                <a:cs typeface="Calibri" panose="020F0502020204030204" pitchFamily="34" charset="0"/>
              </a:rPr>
              <a:t>Symmetry violations</a:t>
            </a:r>
            <a:endParaRPr lang="en-US" sz="2000" b="0" i="0" u="none" strike="noStrike" dirty="0">
              <a:solidFill>
                <a:srgbClr val="000000"/>
              </a:solidFill>
              <a:effectLst/>
              <a:latin typeface="Calibri" panose="020F0502020204030204" pitchFamily="34" charset="0"/>
              <a:cs typeface="Calibri" panose="020F0502020204030204" pitchFamily="34" charset="0"/>
            </a:endParaRPr>
          </a:p>
          <a:p>
            <a:pPr marL="285750" indent="-285750">
              <a:buClr>
                <a:schemeClr val="tx1"/>
              </a:buClr>
              <a:buFont typeface="Arial" panose="020B0604020202020204" pitchFamily="34" charset="0"/>
              <a:buChar char="•"/>
            </a:pPr>
            <a:r>
              <a:rPr lang="en-US" sz="2000" b="0" i="0" u="none" strike="noStrike" dirty="0">
                <a:solidFill>
                  <a:srgbClr val="000000"/>
                </a:solidFill>
                <a:effectLst/>
                <a:latin typeface="Calibri" panose="020F0502020204030204" pitchFamily="34" charset="0"/>
                <a:cs typeface="Calibri" panose="020F0502020204030204" pitchFamily="34" charset="0"/>
              </a:rPr>
              <a:t>PhD 1994, </a:t>
            </a:r>
            <a:r>
              <a:rPr lang="en-US" sz="2000" dirty="0">
                <a:solidFill>
                  <a:srgbClr val="000000"/>
                </a:solidFill>
                <a:latin typeface="Calibri" panose="020F0502020204030204" pitchFamily="34" charset="0"/>
                <a:cs typeface="Calibri" panose="020F0502020204030204" pitchFamily="34" charset="0"/>
              </a:rPr>
              <a:t>Habilitation 2000</a:t>
            </a:r>
            <a:r>
              <a:rPr lang="en-US" sz="2000" b="0" i="0" dirty="0">
                <a:solidFill>
                  <a:srgbClr val="000000"/>
                </a:solidFill>
                <a:effectLst/>
                <a:latin typeface="Calibri" panose="020F0502020204030204" pitchFamily="34" charset="0"/>
                <a:cs typeface="Calibri" panose="020F0502020204030204" pitchFamily="34" charset="0"/>
              </a:rPr>
              <a:t>​</a:t>
            </a:r>
            <a:endParaRPr lang="en-US" sz="2400" b="0" i="0" dirty="0">
              <a:solidFill>
                <a:srgbClr val="000000"/>
              </a:solidFill>
              <a:effectLst/>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930C0553-AEE4-A9FC-287D-ABA7F432C98F}"/>
              </a:ext>
            </a:extLst>
          </p:cNvPr>
          <p:cNvSpPr txBox="1"/>
          <p:nvPr/>
        </p:nvSpPr>
        <p:spPr>
          <a:xfrm>
            <a:off x="1074336" y="3707620"/>
            <a:ext cx="6560009" cy="2219842"/>
          </a:xfrm>
          <a:prstGeom prst="rect">
            <a:avLst/>
          </a:prstGeom>
        </p:spPr>
        <p:txBody>
          <a:bodyPr wrap="none" rtlCol="0">
            <a:noAutofit/>
          </a:bodyPr>
          <a:lstStyle/>
          <a:p>
            <a:pPr marL="0" indent="0" algn="l">
              <a:buClr>
                <a:srgbClr val="0096FF"/>
              </a:buClr>
              <a:buFont typeface="Arial" panose="020B0604020202020204" pitchFamily="34" charset="0"/>
              <a:buNone/>
            </a:pPr>
            <a:r>
              <a:rPr lang="en-US" sz="2400" b="1" dirty="0">
                <a:latin typeface="Calibri" panose="020F0502020204030204" pitchFamily="34" charset="0"/>
                <a:cs typeface="Calibri" panose="020F0502020204030204" pitchFamily="34" charset="0"/>
              </a:rPr>
              <a:t>Dave Gaskell</a:t>
            </a:r>
          </a:p>
          <a:p>
            <a:pPr marL="285750" indent="-285750">
              <a:buClr>
                <a:schemeClr val="tx1"/>
              </a:buClr>
              <a:buFont typeface="Arial" panose="020B0604020202020204" pitchFamily="34" charset="0"/>
              <a:buChar char="•"/>
            </a:pPr>
            <a:r>
              <a:rPr lang="en-US" sz="2000" b="0" i="0" u="none" strike="noStrike" dirty="0">
                <a:solidFill>
                  <a:srgbClr val="000000"/>
                </a:solidFill>
                <a:effectLst/>
                <a:latin typeface="Calibri" panose="020F0502020204030204" pitchFamily="34" charset="0"/>
                <a:cs typeface="Calibri" panose="020F0502020204030204" pitchFamily="34" charset="0"/>
              </a:rPr>
              <a:t>L4 Manager Electron</a:t>
            </a:r>
            <a:r>
              <a:rPr lang="en-US" sz="2000" dirty="0">
                <a:latin typeface="Calibri" panose="020F0502020204030204" pitchFamily="34" charset="0"/>
                <a:cs typeface="Calibri" panose="020F0502020204030204" pitchFamily="34" charset="0"/>
              </a:rPr>
              <a:t> Polarimetry: </a:t>
            </a:r>
            <a:r>
              <a:rPr lang="en-US" sz="2000" b="0" i="0" u="none" strike="noStrike" dirty="0">
                <a:solidFill>
                  <a:srgbClr val="000000"/>
                </a:solidFill>
                <a:effectLst/>
                <a:latin typeface="Calibri" panose="020F0502020204030204" pitchFamily="34" charset="0"/>
                <a:cs typeface="Calibri" panose="020F0502020204030204" pitchFamily="34" charset="0"/>
              </a:rPr>
              <a:t>WBS </a:t>
            </a:r>
            <a:r>
              <a:rPr lang="en-US" sz="2000" dirty="0">
                <a:latin typeface="Calibri" panose="020F0502020204030204" pitchFamily="34" charset="0"/>
                <a:cs typeface="Calibri" panose="020F0502020204030204" pitchFamily="34" charset="0"/>
              </a:rPr>
              <a:t>6.03.01.11.01</a:t>
            </a:r>
            <a:endParaRPr lang="en-US" sz="2000" b="0" dirty="0">
              <a:latin typeface="Calibri" panose="020F0502020204030204" pitchFamily="34" charset="0"/>
              <a:cs typeface="Calibri" panose="020F0502020204030204" pitchFamily="34" charset="0"/>
            </a:endParaRPr>
          </a:p>
          <a:p>
            <a:pPr marL="285750" indent="-285750">
              <a:buClr>
                <a:schemeClr val="tx1"/>
              </a:buClr>
              <a:buFont typeface="Arial" panose="020B0604020202020204" pitchFamily="34" charset="0"/>
              <a:buChar char="•"/>
            </a:pPr>
            <a:r>
              <a:rPr lang="en-US" sz="2000" b="0" i="0" u="none" strike="noStrike" dirty="0">
                <a:solidFill>
                  <a:srgbClr val="000000"/>
                </a:solidFill>
                <a:effectLst/>
                <a:latin typeface="Calibri" panose="020F0502020204030204" pitchFamily="34" charset="0"/>
                <a:cs typeface="Calibri" panose="020F0502020204030204" pitchFamily="34" charset="0"/>
              </a:rPr>
              <a:t>Staff scientist at JLa</a:t>
            </a:r>
            <a:r>
              <a:rPr lang="en-US" sz="2000" dirty="0">
                <a:solidFill>
                  <a:srgbClr val="000000"/>
                </a:solidFill>
                <a:latin typeface="Calibri" panose="020F0502020204030204" pitchFamily="34" charset="0"/>
                <a:cs typeface="Calibri" panose="020F0502020204030204" pitchFamily="34" charset="0"/>
              </a:rPr>
              <a:t>b since 2002</a:t>
            </a:r>
            <a:endParaRPr lang="en-US" sz="2000" b="0" i="0" u="none" strike="noStrike" dirty="0">
              <a:solidFill>
                <a:srgbClr val="000000"/>
              </a:solidFill>
              <a:effectLst/>
              <a:latin typeface="Calibri" panose="020F0502020204030204" pitchFamily="34" charset="0"/>
              <a:cs typeface="Calibri" panose="020F0502020204030204" pitchFamily="34" charset="0"/>
            </a:endParaRPr>
          </a:p>
          <a:p>
            <a:pPr marL="285750" indent="-285750">
              <a:buClr>
                <a:schemeClr val="tx1"/>
              </a:buClr>
              <a:buFont typeface="Arial" panose="020B0604020202020204" pitchFamily="34" charset="0"/>
              <a:buChar char="•"/>
            </a:pPr>
            <a:r>
              <a:rPr lang="en-US" sz="2000" b="0" i="0" u="none" strike="noStrike" dirty="0">
                <a:solidFill>
                  <a:srgbClr val="000000"/>
                </a:solidFill>
                <a:effectLst/>
                <a:latin typeface="Calibri" panose="020F0502020204030204" pitchFamily="34" charset="0"/>
                <a:cs typeface="Calibri" panose="020F0502020204030204" pitchFamily="34" charset="0"/>
              </a:rPr>
              <a:t>Expertise:</a:t>
            </a:r>
          </a:p>
          <a:p>
            <a:pPr marL="742950" lvl="1" indent="-285750">
              <a:buClr>
                <a:schemeClr val="tx1"/>
              </a:buClr>
              <a:buFont typeface="Arial" panose="020B0604020202020204" pitchFamily="34" charset="0"/>
              <a:buChar char="•"/>
            </a:pPr>
            <a:r>
              <a:rPr lang="en-US" sz="2000" b="0" i="0" u="none" strike="noStrike" dirty="0">
                <a:solidFill>
                  <a:srgbClr val="000000"/>
                </a:solidFill>
                <a:effectLst/>
                <a:latin typeface="Calibri" panose="020F0502020204030204" pitchFamily="34" charset="0"/>
                <a:cs typeface="Calibri" panose="020F0502020204030204" pitchFamily="34" charset="0"/>
              </a:rPr>
              <a:t>Moller and Compton electron polarimetry</a:t>
            </a:r>
          </a:p>
          <a:p>
            <a:pPr marL="742950" lvl="1" indent="-285750">
              <a:buClr>
                <a:schemeClr val="tx1"/>
              </a:buClr>
              <a:buFont typeface="Arial" panose="020B0604020202020204" pitchFamily="34" charset="0"/>
              <a:buChar char="•"/>
            </a:pPr>
            <a:r>
              <a:rPr lang="en-US" sz="2000" b="0" i="0" u="none" strike="noStrike" dirty="0">
                <a:solidFill>
                  <a:srgbClr val="000000"/>
                </a:solidFill>
                <a:effectLst/>
                <a:latin typeface="Calibri" panose="020F0502020204030204" pitchFamily="34" charset="0"/>
                <a:cs typeface="Calibri" panose="020F0502020204030204" pitchFamily="34" charset="0"/>
              </a:rPr>
              <a:t>Hadronic physics</a:t>
            </a:r>
            <a:r>
              <a:rPr lang="en-US" sz="2000" dirty="0">
                <a:solidFill>
                  <a:srgbClr val="000000"/>
                </a:solidFill>
                <a:latin typeface="Calibri" panose="020F0502020204030204" pitchFamily="34" charset="0"/>
                <a:cs typeface="Calibri" panose="020F0502020204030204" pitchFamily="34" charset="0"/>
              </a:rPr>
              <a:t> (nuclear effects, SIDIS, exclusive reactions)</a:t>
            </a:r>
            <a:endParaRPr lang="en-US" sz="2000" b="0" i="0" u="none" strike="noStrike" dirty="0">
              <a:solidFill>
                <a:srgbClr val="000000"/>
              </a:solidFill>
              <a:effectLst/>
              <a:latin typeface="Calibri" panose="020F0502020204030204" pitchFamily="34" charset="0"/>
              <a:cs typeface="Calibri" panose="020F0502020204030204" pitchFamily="34" charset="0"/>
            </a:endParaRPr>
          </a:p>
          <a:p>
            <a:pPr marL="285750" indent="-285750">
              <a:buClr>
                <a:schemeClr val="tx1"/>
              </a:buClr>
              <a:buFont typeface="Arial" panose="020B0604020202020204" pitchFamily="34" charset="0"/>
              <a:buChar char="•"/>
            </a:pPr>
            <a:r>
              <a:rPr lang="en-US" sz="2000" b="0" i="0" u="none" strike="noStrike" dirty="0">
                <a:solidFill>
                  <a:srgbClr val="000000"/>
                </a:solidFill>
                <a:effectLst/>
                <a:latin typeface="Calibri" panose="020F0502020204030204" pitchFamily="34" charset="0"/>
                <a:cs typeface="Calibri" panose="020F0502020204030204" pitchFamily="34" charset="0"/>
              </a:rPr>
              <a:t>PhD 2001</a:t>
            </a:r>
            <a:endParaRPr lang="en-US" sz="2400" b="0" i="0" dirty="0">
              <a:solidFill>
                <a:srgbClr val="000000"/>
              </a:solidFill>
              <a:effectLst/>
              <a:latin typeface="Calibri" panose="020F0502020204030204" pitchFamily="34" charset="0"/>
              <a:cs typeface="Calibri" panose="020F0502020204030204" pitchFamily="34" charset="0"/>
            </a:endParaRPr>
          </a:p>
          <a:p>
            <a:pPr marL="0" indent="0" algn="l">
              <a:buClr>
                <a:srgbClr val="0096FF"/>
              </a:buClr>
              <a:buFont typeface="Arial" panose="020B0604020202020204" pitchFamily="34" charset="0"/>
              <a:buNone/>
            </a:pPr>
            <a:endParaRPr lang="en-US" sz="2400" b="1" dirty="0">
              <a:latin typeface="Calibri" panose="020F0502020204030204" pitchFamily="34" charset="0"/>
              <a:cs typeface="Calibri" panose="020F0502020204030204" pitchFamily="34" charset="0"/>
            </a:endParaRPr>
          </a:p>
          <a:p>
            <a:pPr marL="0" indent="0" algn="l">
              <a:buClr>
                <a:srgbClr val="0096FF"/>
              </a:buClr>
              <a:buFont typeface="Arial" panose="020B0604020202020204" pitchFamily="34" charset="0"/>
              <a:buNone/>
            </a:pP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80683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7F87F-4417-AE66-F0C1-881F752A1CE2}"/>
              </a:ext>
            </a:extLst>
          </p:cNvPr>
          <p:cNvSpPr>
            <a:spLocks noGrp="1"/>
          </p:cNvSpPr>
          <p:nvPr>
            <p:ph type="title"/>
          </p:nvPr>
        </p:nvSpPr>
        <p:spPr>
          <a:xfrm>
            <a:off x="461963" y="0"/>
            <a:ext cx="11499234" cy="814866"/>
          </a:xfrm>
        </p:spPr>
        <p:txBody>
          <a:bodyPr/>
          <a:lstStyle/>
          <a:p>
            <a:r>
              <a:rPr lang="en-US" dirty="0"/>
              <a:t>Outline</a:t>
            </a:r>
          </a:p>
        </p:txBody>
      </p:sp>
      <p:sp>
        <p:nvSpPr>
          <p:cNvPr id="3" name="Text Placeholder 2">
            <a:extLst>
              <a:ext uri="{FF2B5EF4-FFF2-40B4-BE49-F238E27FC236}">
                <a16:creationId xmlns:a16="http://schemas.microsoft.com/office/drawing/2014/main" id="{E636F969-3FD3-0ED4-3913-51867AB88D56}"/>
              </a:ext>
            </a:extLst>
          </p:cNvPr>
          <p:cNvSpPr>
            <a:spLocks noGrp="1"/>
          </p:cNvSpPr>
          <p:nvPr>
            <p:ph type="body" sz="quarter" idx="10"/>
          </p:nvPr>
        </p:nvSpPr>
        <p:spPr>
          <a:xfrm>
            <a:off x="461963" y="930274"/>
            <a:ext cx="11521440" cy="5212080"/>
          </a:xfrm>
        </p:spPr>
        <p:txBody>
          <a:bodyPr>
            <a:normAutofit fontScale="85000" lnSpcReduction="20000"/>
          </a:bodyPr>
          <a:lstStyle/>
          <a:p>
            <a:pPr indent="-171450" defTabSz="685800"/>
            <a:r>
              <a:rPr lang="en-US" dirty="0">
                <a:cs typeface="Arial"/>
              </a:rPr>
              <a:t>Requirements</a:t>
            </a:r>
            <a:endParaRPr lang="en-US" dirty="0"/>
          </a:p>
          <a:p>
            <a:pPr indent="-171450" defTabSz="685800"/>
            <a:r>
              <a:rPr lang="en-US" dirty="0"/>
              <a:t>Scope Summary and </a:t>
            </a:r>
            <a:r>
              <a:rPr lang="en-US" dirty="0">
                <a:cs typeface="Arial"/>
              </a:rPr>
              <a:t>Definition</a:t>
            </a:r>
          </a:p>
          <a:p>
            <a:pPr indent="-171450" defTabSz="685800"/>
            <a:r>
              <a:rPr lang="en-US" dirty="0">
                <a:cs typeface="Arial"/>
              </a:rPr>
              <a:t>Dependencies</a:t>
            </a:r>
          </a:p>
          <a:p>
            <a:pPr indent="-171450" defTabSz="685800"/>
            <a:r>
              <a:rPr lang="en-US" dirty="0">
                <a:cs typeface="Arial"/>
              </a:rPr>
              <a:t>Recommendations</a:t>
            </a:r>
          </a:p>
          <a:p>
            <a:pPr indent="-171450" defTabSz="685800"/>
            <a:r>
              <a:rPr lang="en-US" dirty="0">
                <a:cs typeface="Arial"/>
              </a:rPr>
              <a:t>Technical Progress</a:t>
            </a:r>
          </a:p>
          <a:p>
            <a:pPr indent="-171450" defTabSz="685800"/>
            <a:r>
              <a:rPr lang="en-US" dirty="0">
                <a:cs typeface="Arial"/>
              </a:rPr>
              <a:t>Major Interfaces</a:t>
            </a:r>
          </a:p>
          <a:p>
            <a:pPr indent="-171450" defTabSz="685800"/>
            <a:r>
              <a:rPr lang="en-US" dirty="0">
                <a:cs typeface="Arial"/>
              </a:rPr>
              <a:t>Quality Assurance</a:t>
            </a:r>
          </a:p>
          <a:p>
            <a:pPr indent="-171450" defTabSz="685800"/>
            <a:r>
              <a:rPr lang="en-US" dirty="0">
                <a:cs typeface="Arial"/>
              </a:rPr>
              <a:t>Major Acquisition Plan</a:t>
            </a:r>
          </a:p>
          <a:p>
            <a:pPr indent="-171450" defTabSz="685800"/>
            <a:r>
              <a:rPr lang="en-US" dirty="0">
                <a:cs typeface="Arial"/>
              </a:rPr>
              <a:t>Production Planning</a:t>
            </a:r>
          </a:p>
          <a:p>
            <a:pPr indent="-171450" defTabSz="685800"/>
            <a:r>
              <a:rPr lang="en-US" dirty="0">
                <a:cs typeface="Arial"/>
              </a:rPr>
              <a:t>Schedule</a:t>
            </a:r>
          </a:p>
          <a:p>
            <a:pPr indent="-171450" defTabSz="685800"/>
            <a:r>
              <a:rPr lang="en-US" dirty="0">
                <a:cs typeface="Arial"/>
              </a:rPr>
              <a:t>Costs</a:t>
            </a:r>
          </a:p>
          <a:p>
            <a:pPr indent="-171450" defTabSz="685800"/>
            <a:r>
              <a:rPr lang="en-US" dirty="0">
                <a:cs typeface="Arial"/>
              </a:rPr>
              <a:t>Staffing</a:t>
            </a:r>
          </a:p>
          <a:p>
            <a:pPr indent="-171450" defTabSz="685800"/>
            <a:r>
              <a:rPr lang="en-US" dirty="0">
                <a:cs typeface="Arial"/>
              </a:rPr>
              <a:t>Risks</a:t>
            </a:r>
          </a:p>
          <a:p>
            <a:pPr indent="-171450" defTabSz="685800"/>
            <a:r>
              <a:rPr lang="en-US" dirty="0">
                <a:cs typeface="Arial"/>
              </a:rPr>
              <a:t>Cost Trace Examples</a:t>
            </a:r>
          </a:p>
          <a:p>
            <a:pPr indent="-171450" defTabSz="685800"/>
            <a:r>
              <a:rPr lang="en-US" dirty="0">
                <a:cs typeface="Arial"/>
              </a:rPr>
              <a:t>Summary</a:t>
            </a:r>
          </a:p>
          <a:p>
            <a:endParaRPr lang="en-US" dirty="0"/>
          </a:p>
        </p:txBody>
      </p:sp>
      <p:sp>
        <p:nvSpPr>
          <p:cNvPr id="5" name="Slide Number Placeholder 1">
            <a:extLst>
              <a:ext uri="{FF2B5EF4-FFF2-40B4-BE49-F238E27FC236}">
                <a16:creationId xmlns:a16="http://schemas.microsoft.com/office/drawing/2014/main" id="{0724086D-4974-9B08-3931-7E7CEF89D457}"/>
              </a:ext>
            </a:extLst>
          </p:cNvPr>
          <p:cNvSpPr>
            <a:spLocks noGrp="1"/>
          </p:cNvSpPr>
          <p:nvPr>
            <p:ph type="sldNum" sz="quarter" idx="4"/>
          </p:nvPr>
        </p:nvSpPr>
        <p:spPr>
          <a:xfrm>
            <a:off x="11451649" y="6533724"/>
            <a:ext cx="432486" cy="294041"/>
          </a:xfrm>
        </p:spPr>
        <p:txBody>
          <a:bodyPr/>
          <a:lstStyle/>
          <a:p>
            <a:fld id="{933A556B-7C63-244D-9B7C-B0EA8042B330}" type="slidenum">
              <a:rPr lang="en-US" smtClean="0"/>
              <a:pPr/>
              <a:t>3</a:t>
            </a:fld>
            <a:endParaRPr lang="en-US" dirty="0"/>
          </a:p>
        </p:txBody>
      </p:sp>
    </p:spTree>
    <p:extLst>
      <p:ext uri="{BB962C8B-B14F-4D97-AF65-F5344CB8AC3E}">
        <p14:creationId xmlns:p14="http://schemas.microsoft.com/office/powerpoint/2010/main" val="3296281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59BB52-31EC-CA34-4C16-FF04E1B876E6}"/>
              </a:ext>
            </a:extLst>
          </p:cNvPr>
          <p:cNvSpPr>
            <a:spLocks noGrp="1"/>
          </p:cNvSpPr>
          <p:nvPr>
            <p:ph type="sldNum" sz="quarter" idx="4"/>
          </p:nvPr>
        </p:nvSpPr>
        <p:spPr/>
        <p:txBody>
          <a:bodyPr/>
          <a:lstStyle/>
          <a:p>
            <a:fld id="{933A556B-7C63-244D-9B7C-B0EA8042B330}" type="slidenum">
              <a:rPr lang="en-US" smtClean="0"/>
              <a:pPr/>
              <a:t>4</a:t>
            </a:fld>
            <a:endParaRPr lang="en-US"/>
          </a:p>
        </p:txBody>
      </p:sp>
      <p:sp>
        <p:nvSpPr>
          <p:cNvPr id="4" name="Title 3">
            <a:extLst>
              <a:ext uri="{FF2B5EF4-FFF2-40B4-BE49-F238E27FC236}">
                <a16:creationId xmlns:a16="http://schemas.microsoft.com/office/drawing/2014/main" id="{C816B308-6F82-0989-CB20-84F9735819ED}"/>
              </a:ext>
            </a:extLst>
          </p:cNvPr>
          <p:cNvSpPr>
            <a:spLocks noGrp="1"/>
          </p:cNvSpPr>
          <p:nvPr>
            <p:ph type="title"/>
          </p:nvPr>
        </p:nvSpPr>
        <p:spPr/>
        <p:txBody>
          <a:bodyPr/>
          <a:lstStyle/>
          <a:p>
            <a:r>
              <a:rPr lang="en-US" dirty="0"/>
              <a:t>Charge Questions</a:t>
            </a:r>
          </a:p>
        </p:txBody>
      </p:sp>
      <p:sp>
        <p:nvSpPr>
          <p:cNvPr id="6" name="TextBox 5">
            <a:extLst>
              <a:ext uri="{FF2B5EF4-FFF2-40B4-BE49-F238E27FC236}">
                <a16:creationId xmlns:a16="http://schemas.microsoft.com/office/drawing/2014/main" id="{D859EA58-1ED5-147F-A998-B2FF9C47098F}"/>
              </a:ext>
            </a:extLst>
          </p:cNvPr>
          <p:cNvSpPr txBox="1"/>
          <p:nvPr/>
        </p:nvSpPr>
        <p:spPr>
          <a:xfrm>
            <a:off x="837282" y="1068636"/>
            <a:ext cx="184731" cy="369332"/>
          </a:xfrm>
          <a:prstGeom prst="rect">
            <a:avLst/>
          </a:prstGeom>
          <a:noFill/>
        </p:spPr>
        <p:txBody>
          <a:bodyPr wrap="none" rtlCol="0">
            <a:spAutoFit/>
          </a:bodyPr>
          <a:lstStyle/>
          <a:p>
            <a:endParaRPr lang="en-US" dirty="0"/>
          </a:p>
        </p:txBody>
      </p:sp>
      <p:sp>
        <p:nvSpPr>
          <p:cNvPr id="8" name="Content Placeholder 5">
            <a:extLst>
              <a:ext uri="{FF2B5EF4-FFF2-40B4-BE49-F238E27FC236}">
                <a16:creationId xmlns:a16="http://schemas.microsoft.com/office/drawing/2014/main" id="{045E9D04-EACB-ED7C-76E4-8845777468DD}"/>
              </a:ext>
            </a:extLst>
          </p:cNvPr>
          <p:cNvSpPr>
            <a:spLocks noGrp="1"/>
          </p:cNvSpPr>
          <p:nvPr>
            <p:ph idx="1"/>
          </p:nvPr>
        </p:nvSpPr>
        <p:spPr>
          <a:xfrm>
            <a:off x="451768" y="946149"/>
            <a:ext cx="11587855" cy="5245101"/>
          </a:xfrm>
        </p:spPr>
        <p:txBody>
          <a:bodyPr vert="horz" lIns="91440" tIns="45720" rIns="91440" bIns="45720" rtlCol="0" anchor="t">
            <a:noAutofit/>
          </a:bodyPr>
          <a:lstStyle/>
          <a:p>
            <a:pPr marL="457200" lvl="0" indent="-457200">
              <a:lnSpc>
                <a:spcPct val="120000"/>
              </a:lnSpc>
              <a:buFont typeface="+mj-lt"/>
              <a:buAutoNum type="arabicPeriod"/>
            </a:pPr>
            <a:r>
              <a:rPr lang="en-US" sz="1700" dirty="0"/>
              <a:t>Is the design of the EIC Detector (</a:t>
            </a:r>
            <a:r>
              <a:rPr lang="en-US" sz="1700" dirty="0" err="1"/>
              <a:t>ePIC</a:t>
            </a:r>
            <a:r>
              <a:rPr lang="en-US" sz="1700" dirty="0"/>
              <a:t>) Subproject technically sound, sufficiently mature and on a trajectory to support a CD-2 baseline in FY2026? Will the DET subproject be ready for a DOE CD-2 review in the 4Q FY26? </a:t>
            </a:r>
          </a:p>
          <a:p>
            <a:pPr marL="457200" lvl="0" indent="-457200">
              <a:lnSpc>
                <a:spcPct val="120000"/>
              </a:lnSpc>
              <a:buFont typeface="+mj-lt"/>
              <a:buAutoNum type="arabicPeriod"/>
            </a:pPr>
            <a:r>
              <a:rPr lang="en-US" sz="1700" dirty="0"/>
              <a:t>Is the Detector scope well defined, with clear responsibilities? Does the baseline, including U.S. and international contributions, reflect full scope and requirements? Is the scope integrated into the EIC subproject structure such that future design evolution of complementary scope in other subprojects will not cause excessive rework or costly redesigns? Are interfaces clearly defined and controlled? </a:t>
            </a:r>
          </a:p>
          <a:p>
            <a:pPr marL="457200" lvl="0" indent="-457200">
              <a:lnSpc>
                <a:spcPct val="120000"/>
              </a:lnSpc>
              <a:buFont typeface="+mj-lt"/>
              <a:buAutoNum type="arabicPeriod"/>
            </a:pPr>
            <a:r>
              <a:rPr lang="en-US" sz="1700" dirty="0"/>
              <a:t>Are the DET cost and schedule estimates sufficiently complete and reliable and on a trajectory to establish baseline on the projected timeline? Do the estimates include adequate cost, schedule, and scope contingency to address the risks inherent in the remaining work and are the risks being properly managed?</a:t>
            </a:r>
            <a:endParaRPr lang="en-US" sz="1700" dirty="0">
              <a:cs typeface="Arial"/>
            </a:endParaRPr>
          </a:p>
          <a:p>
            <a:pPr marL="457200" lvl="0" indent="-457200">
              <a:lnSpc>
                <a:spcPct val="120000"/>
              </a:lnSpc>
              <a:buFont typeface="+mj-lt"/>
              <a:buAutoNum type="arabicPeriod"/>
            </a:pPr>
            <a:r>
              <a:rPr lang="en-US" sz="1700" dirty="0"/>
              <a:t>Is the DET subproject being properly managed (e.g., properly organized, adequately staffed) for its successful execution? Does the baseline include the full scope, with mechanisms to manage international contributions?</a:t>
            </a:r>
          </a:p>
          <a:p>
            <a:pPr marL="457200" indent="-457200">
              <a:lnSpc>
                <a:spcPct val="120000"/>
              </a:lnSpc>
              <a:buFont typeface="+mj-lt"/>
              <a:buAutoNum type="arabicPeriod"/>
            </a:pPr>
            <a:r>
              <a:rPr lang="en-US" sz="1700" dirty="0"/>
              <a:t>Are ES&amp;H, Procurement, and Quality being properly addressed? </a:t>
            </a:r>
            <a:r>
              <a:rPr lang="en-US" sz="1700" dirty="0">
                <a:solidFill>
                  <a:schemeClr val="bg1">
                    <a:lumMod val="65000"/>
                  </a:schemeClr>
                </a:solidFill>
              </a:rPr>
              <a:t>Is performance on CD-3A items related to DET scope satisfactory?</a:t>
            </a:r>
            <a:r>
              <a:rPr lang="en-US" sz="1700" dirty="0"/>
              <a:t> </a:t>
            </a:r>
            <a:r>
              <a:rPr lang="en-US" sz="1600" b="1" dirty="0">
                <a:solidFill>
                  <a:srgbClr val="FF0000"/>
                </a:solidFill>
              </a:rPr>
              <a:t>No CD-3a/b scope</a:t>
            </a:r>
            <a:endParaRPr lang="en-US" sz="1700" dirty="0">
              <a:cs typeface="Arial"/>
            </a:endParaRPr>
          </a:p>
          <a:p>
            <a:pPr marL="457200" lvl="0" indent="-457200">
              <a:lnSpc>
                <a:spcPct val="120000"/>
              </a:lnSpc>
              <a:buFont typeface="+mj-lt"/>
              <a:buAutoNum type="arabicPeriod"/>
            </a:pPr>
            <a:r>
              <a:rPr lang="en-US" sz="1700" dirty="0"/>
              <a:t>Has the project responded appropriately to recommendations from prior DOE/SC reviews?</a:t>
            </a:r>
          </a:p>
          <a:p>
            <a:pPr marL="457200" indent="-457200">
              <a:lnSpc>
                <a:spcPct val="120000"/>
              </a:lnSpc>
              <a:buFont typeface="+mj-lt"/>
              <a:buAutoNum type="arabicPeriod"/>
            </a:pPr>
            <a:endParaRPr lang="en-US" sz="1700" dirty="0"/>
          </a:p>
        </p:txBody>
      </p:sp>
    </p:spTree>
    <p:extLst>
      <p:ext uri="{BB962C8B-B14F-4D97-AF65-F5344CB8AC3E}">
        <p14:creationId xmlns:p14="http://schemas.microsoft.com/office/powerpoint/2010/main" val="1927343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9A160-69E4-344D-EA2B-8AB28239EC3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A5724B4-8642-4CB6-9F7F-2F2B95F5B4F8}"/>
              </a:ext>
            </a:extLst>
          </p:cNvPr>
          <p:cNvPicPr>
            <a:picLocks noChangeAspect="1"/>
          </p:cNvPicPr>
          <p:nvPr/>
        </p:nvPicPr>
        <p:blipFill>
          <a:blip r:embed="rId2"/>
          <a:srcRect l="7299" t="5493" r="507" b="26113"/>
          <a:stretch>
            <a:fillRect/>
          </a:stretch>
        </p:blipFill>
        <p:spPr>
          <a:xfrm>
            <a:off x="4016123" y="1018527"/>
            <a:ext cx="4574873" cy="3406237"/>
          </a:xfrm>
          <a:prstGeom prst="rect">
            <a:avLst/>
          </a:prstGeom>
        </p:spPr>
      </p:pic>
      <p:sp>
        <p:nvSpPr>
          <p:cNvPr id="2" name="Slide Number Placeholder 1">
            <a:extLst>
              <a:ext uri="{FF2B5EF4-FFF2-40B4-BE49-F238E27FC236}">
                <a16:creationId xmlns:a16="http://schemas.microsoft.com/office/drawing/2014/main" id="{A4F64D30-8B6D-2AF1-7243-B3D1CB52AFB3}"/>
              </a:ext>
            </a:extLst>
          </p:cNvPr>
          <p:cNvSpPr>
            <a:spLocks noGrp="1"/>
          </p:cNvSpPr>
          <p:nvPr>
            <p:ph type="sldNum" sz="quarter" idx="4"/>
          </p:nvPr>
        </p:nvSpPr>
        <p:spPr/>
        <p:txBody>
          <a:bodyPr/>
          <a:lstStyle/>
          <a:p>
            <a:fld id="{933A556B-7C63-244D-9B7C-B0EA8042B330}" type="slidenum">
              <a:rPr lang="en-US" smtClean="0"/>
              <a:pPr/>
              <a:t>5</a:t>
            </a:fld>
            <a:endParaRPr lang="en-US"/>
          </a:p>
        </p:txBody>
      </p:sp>
      <p:sp>
        <p:nvSpPr>
          <p:cNvPr id="5" name="Title 4">
            <a:extLst>
              <a:ext uri="{FF2B5EF4-FFF2-40B4-BE49-F238E27FC236}">
                <a16:creationId xmlns:a16="http://schemas.microsoft.com/office/drawing/2014/main" id="{006B68BA-02CF-E411-375F-93501805FEC5}"/>
              </a:ext>
            </a:extLst>
          </p:cNvPr>
          <p:cNvSpPr>
            <a:spLocks noGrp="1"/>
          </p:cNvSpPr>
          <p:nvPr>
            <p:ph type="title" idx="4294967295"/>
          </p:nvPr>
        </p:nvSpPr>
        <p:spPr>
          <a:xfrm>
            <a:off x="462579" y="0"/>
            <a:ext cx="11499925" cy="825178"/>
          </a:xfrm>
        </p:spPr>
        <p:txBody>
          <a:bodyPr/>
          <a:lstStyle/>
          <a:p>
            <a:r>
              <a:rPr lang="en-US" dirty="0"/>
              <a:t>Scope Introduction</a:t>
            </a:r>
          </a:p>
        </p:txBody>
      </p:sp>
      <p:sp>
        <p:nvSpPr>
          <p:cNvPr id="8" name="Oval 7">
            <a:extLst>
              <a:ext uri="{FF2B5EF4-FFF2-40B4-BE49-F238E27FC236}">
                <a16:creationId xmlns:a16="http://schemas.microsoft.com/office/drawing/2014/main" id="{F58B21CB-53DF-D5BC-EC36-390C6F2F0C86}"/>
              </a:ext>
            </a:extLst>
          </p:cNvPr>
          <p:cNvSpPr/>
          <p:nvPr/>
        </p:nvSpPr>
        <p:spPr>
          <a:xfrm>
            <a:off x="6412605" y="2861599"/>
            <a:ext cx="596167" cy="598205"/>
          </a:xfrm>
          <a:prstGeom prst="ellipse">
            <a:avLst/>
          </a:prstGeom>
          <a:noFill/>
          <a:ln w="38100">
            <a:solidFill>
              <a:srgbClr val="FF0000"/>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4362277-D299-904A-1191-17814DC945CB}"/>
              </a:ext>
            </a:extLst>
          </p:cNvPr>
          <p:cNvSpPr/>
          <p:nvPr/>
        </p:nvSpPr>
        <p:spPr>
          <a:xfrm>
            <a:off x="5230204" y="3435872"/>
            <a:ext cx="725152" cy="725152"/>
          </a:xfrm>
          <a:prstGeom prst="ellipse">
            <a:avLst/>
          </a:prstGeom>
          <a:noFill/>
          <a:ln w="38100">
            <a:solidFill>
              <a:srgbClr val="00B050"/>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FBB4C583-52C2-7ADC-6959-FCD41DDD33B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8215464" y="4480479"/>
            <a:ext cx="3752119" cy="1547277"/>
          </a:xfrm>
          <a:prstGeom prst="rect">
            <a:avLst/>
          </a:prstGeom>
          <a:ln>
            <a:solidFill>
              <a:schemeClr val="tx1">
                <a:lumMod val="50000"/>
                <a:lumOff val="50000"/>
              </a:schemeClr>
            </a:solidFill>
          </a:ln>
        </p:spPr>
      </p:pic>
      <p:grpSp>
        <p:nvGrpSpPr>
          <p:cNvPr id="11" name="Group 10">
            <a:extLst>
              <a:ext uri="{FF2B5EF4-FFF2-40B4-BE49-F238E27FC236}">
                <a16:creationId xmlns:a16="http://schemas.microsoft.com/office/drawing/2014/main" id="{480FE08D-138C-C31C-002F-9C3DC0A8A862}"/>
              </a:ext>
            </a:extLst>
          </p:cNvPr>
          <p:cNvGrpSpPr/>
          <p:nvPr/>
        </p:nvGrpSpPr>
        <p:grpSpPr>
          <a:xfrm>
            <a:off x="1930843" y="4389750"/>
            <a:ext cx="5991845" cy="813730"/>
            <a:chOff x="3168865" y="4346455"/>
            <a:chExt cx="5991845" cy="813730"/>
          </a:xfrm>
        </p:grpSpPr>
        <p:sp>
          <p:nvSpPr>
            <p:cNvPr id="12" name="Oval 11">
              <a:extLst>
                <a:ext uri="{FF2B5EF4-FFF2-40B4-BE49-F238E27FC236}">
                  <a16:creationId xmlns:a16="http://schemas.microsoft.com/office/drawing/2014/main" id="{CA39BBCB-4237-3E0A-3192-452CB0FDC836}"/>
                </a:ext>
              </a:extLst>
            </p:cNvPr>
            <p:cNvSpPr/>
            <p:nvPr/>
          </p:nvSpPr>
          <p:spPr>
            <a:xfrm>
              <a:off x="3168865" y="4885865"/>
              <a:ext cx="457200" cy="13716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35D1F9C6-AECE-9EA3-32FD-37C311BCBA39}"/>
                </a:ext>
              </a:extLst>
            </p:cNvPr>
            <p:cNvSpPr/>
            <p:nvPr/>
          </p:nvSpPr>
          <p:spPr>
            <a:xfrm>
              <a:off x="3786386" y="4885865"/>
              <a:ext cx="457200" cy="13716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9994F33-734C-5B67-FA80-77BE2D90EC2F}"/>
                </a:ext>
              </a:extLst>
            </p:cNvPr>
            <p:cNvSpPr/>
            <p:nvPr/>
          </p:nvSpPr>
          <p:spPr>
            <a:xfrm>
              <a:off x="4403907" y="4885865"/>
              <a:ext cx="457200" cy="13716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182542F-ABE2-9265-82D3-15CFB4566D71}"/>
                </a:ext>
              </a:extLst>
            </p:cNvPr>
            <p:cNvSpPr/>
            <p:nvPr/>
          </p:nvSpPr>
          <p:spPr>
            <a:xfrm>
              <a:off x="5021428" y="4885865"/>
              <a:ext cx="457200" cy="13716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8294D34-610F-F936-7DF5-BBADEFC735EC}"/>
                </a:ext>
              </a:extLst>
            </p:cNvPr>
            <p:cNvSpPr/>
            <p:nvPr/>
          </p:nvSpPr>
          <p:spPr>
            <a:xfrm>
              <a:off x="5638949" y="4885865"/>
              <a:ext cx="457200" cy="13716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77474A9-A01A-5DD2-BAB8-583E0E31B0AB}"/>
                </a:ext>
              </a:extLst>
            </p:cNvPr>
            <p:cNvSpPr/>
            <p:nvPr/>
          </p:nvSpPr>
          <p:spPr>
            <a:xfrm>
              <a:off x="6256470" y="4885865"/>
              <a:ext cx="457200" cy="13716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4530E10-F14D-CF70-A407-434C193B6FEB}"/>
                </a:ext>
              </a:extLst>
            </p:cNvPr>
            <p:cNvSpPr/>
            <p:nvPr/>
          </p:nvSpPr>
          <p:spPr>
            <a:xfrm>
              <a:off x="6873991" y="4885865"/>
              <a:ext cx="457200" cy="13716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18DDD60-2C8A-D143-4EBE-2FE3DE7342B9}"/>
                </a:ext>
              </a:extLst>
            </p:cNvPr>
            <p:cNvSpPr/>
            <p:nvPr/>
          </p:nvSpPr>
          <p:spPr>
            <a:xfrm>
              <a:off x="7491511" y="4885865"/>
              <a:ext cx="457200" cy="13716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DDE381C0-1245-BD3B-178D-3FB6E862DB5E}"/>
                </a:ext>
              </a:extLst>
            </p:cNvPr>
            <p:cNvSpPr/>
            <p:nvPr/>
          </p:nvSpPr>
          <p:spPr>
            <a:xfrm>
              <a:off x="8182302" y="4762893"/>
              <a:ext cx="978408" cy="365760"/>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1" name="Arrow: Up 20">
              <a:extLst>
                <a:ext uri="{FF2B5EF4-FFF2-40B4-BE49-F238E27FC236}">
                  <a16:creationId xmlns:a16="http://schemas.microsoft.com/office/drawing/2014/main" id="{6EA50C72-9037-2F6D-274A-1CF08C3C22AC}"/>
                </a:ext>
              </a:extLst>
            </p:cNvPr>
            <p:cNvSpPr/>
            <p:nvPr/>
          </p:nvSpPr>
          <p:spPr>
            <a:xfrm>
              <a:off x="4541067" y="4762893"/>
              <a:ext cx="182880" cy="365760"/>
            </a:xfrm>
            <a:prstGeom prst="up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2" name="Arrow: Up 21">
              <a:extLst>
                <a:ext uri="{FF2B5EF4-FFF2-40B4-BE49-F238E27FC236}">
                  <a16:creationId xmlns:a16="http://schemas.microsoft.com/office/drawing/2014/main" id="{CE39C2A6-3320-42F2-1DAE-181A02D99228}"/>
                </a:ext>
              </a:extLst>
            </p:cNvPr>
            <p:cNvSpPr/>
            <p:nvPr/>
          </p:nvSpPr>
          <p:spPr>
            <a:xfrm>
              <a:off x="5158588" y="4762893"/>
              <a:ext cx="182880" cy="365760"/>
            </a:xfrm>
            <a:prstGeom prst="up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3" name="Arrow: Up 22">
              <a:extLst>
                <a:ext uri="{FF2B5EF4-FFF2-40B4-BE49-F238E27FC236}">
                  <a16:creationId xmlns:a16="http://schemas.microsoft.com/office/drawing/2014/main" id="{928EE426-B3C9-941B-4528-EDA49BAABA66}"/>
                </a:ext>
              </a:extLst>
            </p:cNvPr>
            <p:cNvSpPr/>
            <p:nvPr/>
          </p:nvSpPr>
          <p:spPr>
            <a:xfrm>
              <a:off x="7011151" y="4762893"/>
              <a:ext cx="182880" cy="365760"/>
            </a:xfrm>
            <a:prstGeom prst="up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 name="Arrow: Up 23">
              <a:extLst>
                <a:ext uri="{FF2B5EF4-FFF2-40B4-BE49-F238E27FC236}">
                  <a16:creationId xmlns:a16="http://schemas.microsoft.com/office/drawing/2014/main" id="{CB35D5F5-F77F-3AA6-3EF8-9ACF0DFA53B9}"/>
                </a:ext>
              </a:extLst>
            </p:cNvPr>
            <p:cNvSpPr/>
            <p:nvPr/>
          </p:nvSpPr>
          <p:spPr>
            <a:xfrm>
              <a:off x="7628671" y="4762893"/>
              <a:ext cx="182880" cy="365760"/>
            </a:xfrm>
            <a:prstGeom prst="up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5" name="Arrow: Up 24">
              <a:extLst>
                <a:ext uri="{FF2B5EF4-FFF2-40B4-BE49-F238E27FC236}">
                  <a16:creationId xmlns:a16="http://schemas.microsoft.com/office/drawing/2014/main" id="{43152C1A-0712-AF7B-7E9B-59B8E0B9C64F}"/>
                </a:ext>
              </a:extLst>
            </p:cNvPr>
            <p:cNvSpPr/>
            <p:nvPr/>
          </p:nvSpPr>
          <p:spPr>
            <a:xfrm flipV="1">
              <a:off x="3306025" y="4794425"/>
              <a:ext cx="182880" cy="365760"/>
            </a:xfrm>
            <a:prstGeom prst="up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6" name="Arrow: Up 25">
              <a:extLst>
                <a:ext uri="{FF2B5EF4-FFF2-40B4-BE49-F238E27FC236}">
                  <a16:creationId xmlns:a16="http://schemas.microsoft.com/office/drawing/2014/main" id="{444873F4-91AF-D609-36E4-B7084A934376}"/>
                </a:ext>
              </a:extLst>
            </p:cNvPr>
            <p:cNvSpPr/>
            <p:nvPr/>
          </p:nvSpPr>
          <p:spPr>
            <a:xfrm flipV="1">
              <a:off x="3923546" y="4794425"/>
              <a:ext cx="182880" cy="365760"/>
            </a:xfrm>
            <a:prstGeom prst="up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7" name="Arrow: Up 26">
              <a:extLst>
                <a:ext uri="{FF2B5EF4-FFF2-40B4-BE49-F238E27FC236}">
                  <a16:creationId xmlns:a16="http://schemas.microsoft.com/office/drawing/2014/main" id="{8135DB11-A37E-BFA5-7B26-83D01EB622B0}"/>
                </a:ext>
              </a:extLst>
            </p:cNvPr>
            <p:cNvSpPr/>
            <p:nvPr/>
          </p:nvSpPr>
          <p:spPr>
            <a:xfrm flipV="1">
              <a:off x="5776109" y="4794425"/>
              <a:ext cx="182880" cy="365760"/>
            </a:xfrm>
            <a:prstGeom prst="up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8" name="Arrow: Up 27">
              <a:extLst>
                <a:ext uri="{FF2B5EF4-FFF2-40B4-BE49-F238E27FC236}">
                  <a16:creationId xmlns:a16="http://schemas.microsoft.com/office/drawing/2014/main" id="{FB173972-A155-B38E-6069-E8C856C6C471}"/>
                </a:ext>
              </a:extLst>
            </p:cNvPr>
            <p:cNvSpPr/>
            <p:nvPr/>
          </p:nvSpPr>
          <p:spPr>
            <a:xfrm flipV="1">
              <a:off x="6393630" y="4794425"/>
              <a:ext cx="182880" cy="365760"/>
            </a:xfrm>
            <a:prstGeom prst="up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9" name="Right Brace 28">
              <a:extLst>
                <a:ext uri="{FF2B5EF4-FFF2-40B4-BE49-F238E27FC236}">
                  <a16:creationId xmlns:a16="http://schemas.microsoft.com/office/drawing/2014/main" id="{61B08CCD-7DA8-1DEF-A5CB-4D21EC8F5844}"/>
                </a:ext>
              </a:extLst>
            </p:cNvPr>
            <p:cNvSpPr/>
            <p:nvPr/>
          </p:nvSpPr>
          <p:spPr>
            <a:xfrm rot="16200000" flipV="1">
              <a:off x="3643574" y="4338707"/>
              <a:ext cx="128016" cy="615121"/>
            </a:xfrm>
            <a:prstGeom prst="rightBrace">
              <a:avLst/>
            </a:prstGeom>
            <a:ln w="127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761156E-2353-1049-2B46-D8F2DD201672}"/>
                    </a:ext>
                  </a:extLst>
                </p:cNvPr>
                <p:cNvSpPr txBox="1"/>
                <p:nvPr/>
              </p:nvSpPr>
              <p:spPr>
                <a:xfrm>
                  <a:off x="3451034" y="4346455"/>
                  <a:ext cx="52097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rgbClr val="0070C0"/>
                            </a:solidFill>
                            <a:latin typeface="Cambria Math" panose="02040503050406030204" pitchFamily="18" charset="0"/>
                          </a:rPr>
                          <m:t>10 </m:t>
                        </m:r>
                        <m:r>
                          <m:rPr>
                            <m:nor/>
                          </m:rPr>
                          <a:rPr lang="en-US" sz="1600" b="0" i="0" smtClean="0">
                            <a:solidFill>
                              <a:srgbClr val="0070C0"/>
                            </a:solidFill>
                            <a:latin typeface="Cambria Math" panose="02040503050406030204" pitchFamily="18" charset="0"/>
                          </a:rPr>
                          <m:t>ns</m:t>
                        </m:r>
                      </m:oMath>
                    </m:oMathPara>
                  </a14:m>
                  <a:endParaRPr lang="en-US" sz="1600">
                    <a:solidFill>
                      <a:srgbClr val="0070C0"/>
                    </a:solidFill>
                  </a:endParaRPr>
                </a:p>
              </p:txBody>
            </p:sp>
          </mc:Choice>
          <mc:Fallback xmlns="">
            <p:sp>
              <p:nvSpPr>
                <p:cNvPr id="30" name="TextBox 29">
                  <a:extLst>
                    <a:ext uri="{FF2B5EF4-FFF2-40B4-BE49-F238E27FC236}">
                      <a16:creationId xmlns:a16="http://schemas.microsoft.com/office/drawing/2014/main" id="{2761156E-2353-1049-2B46-D8F2DD201672}"/>
                    </a:ext>
                  </a:extLst>
                </p:cNvPr>
                <p:cNvSpPr txBox="1">
                  <a:spLocks noRot="1" noChangeAspect="1" noMove="1" noResize="1" noEditPoints="1" noAdjustHandles="1" noChangeArrowheads="1" noChangeShapeType="1" noTextEdit="1"/>
                </p:cNvSpPr>
                <p:nvPr/>
              </p:nvSpPr>
              <p:spPr>
                <a:xfrm>
                  <a:off x="3451034" y="4346455"/>
                  <a:ext cx="520976" cy="246221"/>
                </a:xfrm>
                <a:prstGeom prst="rect">
                  <a:avLst/>
                </a:prstGeom>
                <a:blipFill>
                  <a:blip r:embed="rId4"/>
                  <a:stretch>
                    <a:fillRect l="-8235" r="-4706" b="-10000"/>
                  </a:stretch>
                </a:blipFill>
              </p:spPr>
              <p:txBody>
                <a:bodyPr/>
                <a:lstStyle/>
                <a:p>
                  <a:r>
                    <a:rPr lang="en-US">
                      <a:noFill/>
                    </a:rPr>
                    <a:t> </a:t>
                  </a:r>
                </a:p>
              </p:txBody>
            </p:sp>
          </mc:Fallback>
        </mc:AlternateContent>
      </p:grpSp>
      <p:sp>
        <p:nvSpPr>
          <p:cNvPr id="31" name="TextBox 30">
            <a:extLst>
              <a:ext uri="{FF2B5EF4-FFF2-40B4-BE49-F238E27FC236}">
                <a16:creationId xmlns:a16="http://schemas.microsoft.com/office/drawing/2014/main" id="{FE882EC5-B26D-6066-1FE3-67CB30AC86BC}"/>
              </a:ext>
            </a:extLst>
          </p:cNvPr>
          <p:cNvSpPr txBox="1"/>
          <p:nvPr/>
        </p:nvSpPr>
        <p:spPr>
          <a:xfrm>
            <a:off x="757103" y="5705920"/>
            <a:ext cx="11092914" cy="784830"/>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US" sz="2000"/>
              <a:t>Electron and hadron bunches stored for several hours.</a:t>
            </a:r>
          </a:p>
          <a:p>
            <a:pPr marL="285750" indent="-285750">
              <a:spcAft>
                <a:spcPts val="600"/>
              </a:spcAft>
              <a:buFont typeface="Arial" panose="020B0604020202020204" pitchFamily="34" charset="0"/>
              <a:buChar char="•"/>
            </a:pPr>
            <a:endParaRPr lang="en-US" sz="2000"/>
          </a:p>
        </p:txBody>
      </p:sp>
      <p:grpSp>
        <p:nvGrpSpPr>
          <p:cNvPr id="32" name="Group 31">
            <a:extLst>
              <a:ext uri="{FF2B5EF4-FFF2-40B4-BE49-F238E27FC236}">
                <a16:creationId xmlns:a16="http://schemas.microsoft.com/office/drawing/2014/main" id="{62FA4CD3-81A9-D07E-B06D-FD752B87E75D}"/>
              </a:ext>
            </a:extLst>
          </p:cNvPr>
          <p:cNvGrpSpPr/>
          <p:nvPr/>
        </p:nvGrpSpPr>
        <p:grpSpPr>
          <a:xfrm>
            <a:off x="1980914" y="5323410"/>
            <a:ext cx="5946125" cy="365760"/>
            <a:chOff x="3150148" y="6095413"/>
            <a:chExt cx="5946125" cy="365760"/>
          </a:xfrm>
        </p:grpSpPr>
        <p:sp>
          <p:nvSpPr>
            <p:cNvPr id="33" name="Arrow: Right 46">
              <a:extLst>
                <a:ext uri="{FF2B5EF4-FFF2-40B4-BE49-F238E27FC236}">
                  <a16:creationId xmlns:a16="http://schemas.microsoft.com/office/drawing/2014/main" id="{C87AB092-DD99-CE18-9544-0F44F05AB932}"/>
                </a:ext>
              </a:extLst>
            </p:cNvPr>
            <p:cNvSpPr/>
            <p:nvPr/>
          </p:nvSpPr>
          <p:spPr>
            <a:xfrm>
              <a:off x="8117865" y="6095413"/>
              <a:ext cx="978408" cy="365760"/>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4" name="Arrow: Up 47">
              <a:extLst>
                <a:ext uri="{FF2B5EF4-FFF2-40B4-BE49-F238E27FC236}">
                  <a16:creationId xmlns:a16="http://schemas.microsoft.com/office/drawing/2014/main" id="{67B6AA14-9DD5-1EA5-C737-FB9B12EE11E8}"/>
                </a:ext>
              </a:extLst>
            </p:cNvPr>
            <p:cNvSpPr/>
            <p:nvPr/>
          </p:nvSpPr>
          <p:spPr>
            <a:xfrm rot="5400000">
              <a:off x="4476630" y="6095413"/>
              <a:ext cx="182880" cy="365760"/>
            </a:xfrm>
            <a:prstGeom prst="up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5" name="Arrow: Up 48">
              <a:extLst>
                <a:ext uri="{FF2B5EF4-FFF2-40B4-BE49-F238E27FC236}">
                  <a16:creationId xmlns:a16="http://schemas.microsoft.com/office/drawing/2014/main" id="{74AE347D-827F-D2B0-6923-658DD738DAB4}"/>
                </a:ext>
              </a:extLst>
            </p:cNvPr>
            <p:cNvSpPr/>
            <p:nvPr/>
          </p:nvSpPr>
          <p:spPr>
            <a:xfrm rot="5400000">
              <a:off x="5094151" y="6095413"/>
              <a:ext cx="182880" cy="365760"/>
            </a:xfrm>
            <a:prstGeom prst="up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6" name="Arrow: Up 49">
              <a:extLst>
                <a:ext uri="{FF2B5EF4-FFF2-40B4-BE49-F238E27FC236}">
                  <a16:creationId xmlns:a16="http://schemas.microsoft.com/office/drawing/2014/main" id="{9CBADE9B-7457-0B16-9E19-A5314785EECA}"/>
                </a:ext>
              </a:extLst>
            </p:cNvPr>
            <p:cNvSpPr/>
            <p:nvPr/>
          </p:nvSpPr>
          <p:spPr>
            <a:xfrm rot="5400000">
              <a:off x="6946714" y="6095413"/>
              <a:ext cx="182880" cy="365760"/>
            </a:xfrm>
            <a:prstGeom prst="up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7" name="Arrow: Up 50">
              <a:extLst>
                <a:ext uri="{FF2B5EF4-FFF2-40B4-BE49-F238E27FC236}">
                  <a16:creationId xmlns:a16="http://schemas.microsoft.com/office/drawing/2014/main" id="{79601704-BCD8-6055-33D6-B5FDD067DDB3}"/>
                </a:ext>
              </a:extLst>
            </p:cNvPr>
            <p:cNvSpPr/>
            <p:nvPr/>
          </p:nvSpPr>
          <p:spPr>
            <a:xfrm rot="5400000">
              <a:off x="7564234" y="6095413"/>
              <a:ext cx="182880" cy="365760"/>
            </a:xfrm>
            <a:prstGeom prst="up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8" name="Arrow: Up 51">
              <a:extLst>
                <a:ext uri="{FF2B5EF4-FFF2-40B4-BE49-F238E27FC236}">
                  <a16:creationId xmlns:a16="http://schemas.microsoft.com/office/drawing/2014/main" id="{8420FF1F-E424-7C29-6F86-2DE8B87B0A83}"/>
                </a:ext>
              </a:extLst>
            </p:cNvPr>
            <p:cNvSpPr/>
            <p:nvPr/>
          </p:nvSpPr>
          <p:spPr>
            <a:xfrm rot="5400000" flipV="1">
              <a:off x="3241588" y="6095413"/>
              <a:ext cx="182880" cy="365760"/>
            </a:xfrm>
            <a:prstGeom prst="up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9" name="Arrow: Up 52">
              <a:extLst>
                <a:ext uri="{FF2B5EF4-FFF2-40B4-BE49-F238E27FC236}">
                  <a16:creationId xmlns:a16="http://schemas.microsoft.com/office/drawing/2014/main" id="{0A70F17E-5221-91F3-8E8F-F889F31FF1DB}"/>
                </a:ext>
              </a:extLst>
            </p:cNvPr>
            <p:cNvSpPr/>
            <p:nvPr/>
          </p:nvSpPr>
          <p:spPr>
            <a:xfrm rot="5400000" flipV="1">
              <a:off x="3859109" y="6095413"/>
              <a:ext cx="182880" cy="365760"/>
            </a:xfrm>
            <a:prstGeom prst="up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0" name="Arrow: Up 53">
              <a:extLst>
                <a:ext uri="{FF2B5EF4-FFF2-40B4-BE49-F238E27FC236}">
                  <a16:creationId xmlns:a16="http://schemas.microsoft.com/office/drawing/2014/main" id="{38DC9E15-8955-7464-E7D7-4D5BBC44A99B}"/>
                </a:ext>
              </a:extLst>
            </p:cNvPr>
            <p:cNvSpPr/>
            <p:nvPr/>
          </p:nvSpPr>
          <p:spPr>
            <a:xfrm rot="5400000" flipV="1">
              <a:off x="5711672" y="6095413"/>
              <a:ext cx="182880" cy="365760"/>
            </a:xfrm>
            <a:prstGeom prst="up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1" name="Arrow: Up 54">
              <a:extLst>
                <a:ext uri="{FF2B5EF4-FFF2-40B4-BE49-F238E27FC236}">
                  <a16:creationId xmlns:a16="http://schemas.microsoft.com/office/drawing/2014/main" id="{B1F98842-9479-DFB6-0FCF-08DC6883CD96}"/>
                </a:ext>
              </a:extLst>
            </p:cNvPr>
            <p:cNvSpPr/>
            <p:nvPr/>
          </p:nvSpPr>
          <p:spPr>
            <a:xfrm rot="5400000" flipV="1">
              <a:off x="6329193" y="6095413"/>
              <a:ext cx="182880" cy="365760"/>
            </a:xfrm>
            <a:prstGeom prst="up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grpSp>
      <p:sp>
        <p:nvSpPr>
          <p:cNvPr id="42" name="TextBox 41">
            <a:extLst>
              <a:ext uri="{FF2B5EF4-FFF2-40B4-BE49-F238E27FC236}">
                <a16:creationId xmlns:a16="http://schemas.microsoft.com/office/drawing/2014/main" id="{D79003FE-74E0-4E5F-9400-8DDCED47C1AF}"/>
              </a:ext>
            </a:extLst>
          </p:cNvPr>
          <p:cNvSpPr txBox="1"/>
          <p:nvPr/>
        </p:nvSpPr>
        <p:spPr>
          <a:xfrm>
            <a:off x="388993" y="4813683"/>
            <a:ext cx="1154483" cy="369332"/>
          </a:xfrm>
          <a:prstGeom prst="rect">
            <a:avLst/>
          </a:prstGeom>
          <a:noFill/>
        </p:spPr>
        <p:txBody>
          <a:bodyPr wrap="none" rtlCol="0">
            <a:spAutoFit/>
          </a:bodyPr>
          <a:lstStyle/>
          <a:p>
            <a:r>
              <a:rPr lang="en-US"/>
              <a:t>transverse</a:t>
            </a:r>
          </a:p>
        </p:txBody>
      </p:sp>
      <p:sp>
        <p:nvSpPr>
          <p:cNvPr id="43" name="TextBox 42">
            <a:extLst>
              <a:ext uri="{FF2B5EF4-FFF2-40B4-BE49-F238E27FC236}">
                <a16:creationId xmlns:a16="http://schemas.microsoft.com/office/drawing/2014/main" id="{6517253F-3B89-55A2-CE88-E7440067559D}"/>
              </a:ext>
            </a:extLst>
          </p:cNvPr>
          <p:cNvSpPr txBox="1"/>
          <p:nvPr/>
        </p:nvSpPr>
        <p:spPr>
          <a:xfrm>
            <a:off x="388993" y="5280873"/>
            <a:ext cx="1301959" cy="369332"/>
          </a:xfrm>
          <a:prstGeom prst="rect">
            <a:avLst/>
          </a:prstGeom>
          <a:noFill/>
        </p:spPr>
        <p:txBody>
          <a:bodyPr wrap="none" rtlCol="0">
            <a:spAutoFit/>
          </a:bodyPr>
          <a:lstStyle/>
          <a:p>
            <a:r>
              <a:rPr lang="en-US"/>
              <a:t>longitudinal</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FD4DAD0-A12A-E7CC-145E-77665C6BE985}"/>
                  </a:ext>
                </a:extLst>
              </p:cNvPr>
              <p:cNvSpPr txBox="1"/>
              <p:nvPr/>
            </p:nvSpPr>
            <p:spPr>
              <a:xfrm>
                <a:off x="8665529" y="1902141"/>
                <a:ext cx="3428940" cy="1879041"/>
              </a:xfrm>
              <a:prstGeom prst="rect">
                <a:avLst/>
              </a:prstGeom>
              <a:solidFill>
                <a:schemeClr val="bg1"/>
              </a:solidFill>
              <a:ln w="12700">
                <a:solidFill>
                  <a:srgbClr val="FF0000"/>
                </a:solidFill>
              </a:ln>
              <a:effectLst>
                <a:outerShdw blurRad="50800" dist="38100" dir="2700000" algn="tl" rotWithShape="0">
                  <a:prstClr val="black">
                    <a:alpha val="40000"/>
                  </a:prstClr>
                </a:outerShdw>
              </a:effectLst>
            </p:spPr>
            <p:txBody>
              <a:bodyPr wrap="square" rtlCol="0">
                <a:spAutoFit/>
              </a:bodyPr>
              <a:lstStyle/>
              <a:p>
                <a:pPr algn="ctr">
                  <a:spcAft>
                    <a:spcPts val="600"/>
                  </a:spcAft>
                </a:pPr>
                <a:r>
                  <a:rPr lang="en-US" sz="1600" b="1" dirty="0">
                    <a:solidFill>
                      <a:srgbClr val="FF0000"/>
                    </a:solidFill>
                    <a:latin typeface="Arial" panose="020B0604020202020204" pitchFamily="34" charset="0"/>
                    <a:cs typeface="Arial" panose="020B0604020202020204" pitchFamily="34" charset="0"/>
                  </a:rPr>
                  <a:t>IR-4 (ASR subproject)</a:t>
                </a:r>
              </a:p>
              <a:p>
                <a:pPr>
                  <a:spcAft>
                    <a:spcPts val="600"/>
                  </a:spcAft>
                </a:pPr>
                <a:r>
                  <a:rPr lang="en-US" sz="1600" dirty="0">
                    <a:solidFill>
                      <a:srgbClr val="FF0000"/>
                    </a:solidFill>
                    <a:latin typeface="Arial" panose="020B0604020202020204" pitchFamily="34" charset="0"/>
                    <a:cs typeface="Arial" panose="020B0604020202020204" pitchFamily="34" charset="0"/>
                  </a:rPr>
                  <a:t>Hadron polarimetry </a:t>
                </a:r>
              </a:p>
              <a:p>
                <a:pPr>
                  <a:spcAft>
                    <a:spcPts val="600"/>
                  </a:spcAft>
                </a:pPr>
                <a:r>
                  <a:rPr lang="en-US" sz="1400" dirty="0">
                    <a:solidFill>
                      <a:srgbClr val="FF0000"/>
                    </a:solidFill>
                    <a:latin typeface="Arial" panose="020B0604020202020204" pitchFamily="34" charset="0"/>
                    <a:cs typeface="Arial" panose="020B0604020202020204" pitchFamily="34" charset="0"/>
                  </a:rPr>
                  <a:t>HJET </a:t>
                </a:r>
                <a14:m>
                  <m:oMath xmlns:m="http://schemas.openxmlformats.org/officeDocument/2006/math">
                    <m:r>
                      <a:rPr lang="en-US" sz="1400" i="1" dirty="0"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oMath>
                </a14:m>
                <a:r>
                  <a:rPr lang="en-US" sz="1400" dirty="0">
                    <a:solidFill>
                      <a:srgbClr val="FF0000"/>
                    </a:solidFill>
                    <a:latin typeface="Arial" panose="020B0604020202020204" pitchFamily="34" charset="0"/>
                    <a:cs typeface="Arial" panose="020B0604020202020204" pitchFamily="34" charset="0"/>
                  </a:rPr>
                  <a:t> absolute polarization</a:t>
                </a:r>
              </a:p>
              <a:p>
                <a:pPr>
                  <a:spcAft>
                    <a:spcPts val="600"/>
                  </a:spcAft>
                </a:pPr>
                <a:r>
                  <a:rPr lang="en-US" sz="1400" dirty="0">
                    <a:solidFill>
                      <a:srgbClr val="FF0000"/>
                    </a:solidFill>
                    <a:latin typeface="Arial" panose="020B0604020202020204" pitchFamily="34" charset="0"/>
                    <a:cs typeface="Arial" panose="020B0604020202020204" pitchFamily="34" charset="0"/>
                  </a:rPr>
                  <a:t>C target </a:t>
                </a:r>
                <a14:m>
                  <m:oMath xmlns:m="http://schemas.openxmlformats.org/officeDocument/2006/math">
                    <m:r>
                      <a:rPr lang="en-US" sz="1400" i="1" dirty="0" smtClean="0">
                        <a:solidFill>
                          <a:srgbClr val="FF0000"/>
                        </a:solidFill>
                        <a:latin typeface="Cambria Math" panose="02040503050406030204" pitchFamily="18" charset="0"/>
                        <a:ea typeface="Cambria Math" panose="02040503050406030204" pitchFamily="18" charset="0"/>
                        <a:cs typeface="Arial" panose="020B0604020202020204" pitchFamily="34" charset="0"/>
                      </a:rPr>
                      <m:t>→</m:t>
                    </m:r>
                  </m:oMath>
                </a14:m>
                <a:r>
                  <a:rPr lang="en-US" sz="1400" dirty="0">
                    <a:solidFill>
                      <a:srgbClr val="FF0000"/>
                    </a:solidFill>
                    <a:latin typeface="Arial" panose="020B0604020202020204" pitchFamily="34" charset="0"/>
                    <a:cs typeface="Arial" panose="020B0604020202020204" pitchFamily="34" charset="0"/>
                  </a:rPr>
                  <a:t> polarization lifetime &amp; profile</a:t>
                </a:r>
              </a:p>
              <a:p>
                <a:pPr algn="ctr">
                  <a:spcAft>
                    <a:spcPts val="600"/>
                  </a:spcAft>
                </a:pPr>
                <a:r>
                  <a:rPr lang="en-US" sz="1600" b="1" dirty="0">
                    <a:solidFill>
                      <a:srgbClr val="FF0000"/>
                    </a:solidFill>
                    <a:latin typeface="Arial" panose="020B0604020202020204" pitchFamily="34" charset="0"/>
                    <a:cs typeface="Arial" panose="020B0604020202020204" pitchFamily="34" charset="0"/>
                  </a:rPr>
                  <a:t>IR-6 (IR subproject)</a:t>
                </a:r>
              </a:p>
              <a:p>
                <a:pPr>
                  <a:spcAft>
                    <a:spcPts val="600"/>
                  </a:spcAft>
                </a:pPr>
                <a:r>
                  <a:rPr lang="en-US" sz="1400" dirty="0">
                    <a:solidFill>
                      <a:srgbClr val="FF0000"/>
                    </a:solidFill>
                    <a:latin typeface="Arial" panose="020B0604020202020204" pitchFamily="34" charset="0"/>
                    <a:cs typeface="Arial" panose="020B0604020202020204" pitchFamily="34" charset="0"/>
                  </a:rPr>
                  <a:t>C target to ensure </a:t>
                </a:r>
                <a14:m>
                  <m:oMath xmlns:m="http://schemas.openxmlformats.org/officeDocument/2006/math">
                    <m:sSub>
                      <m:sSubPr>
                        <m:ctrlPr>
                          <a:rPr lang="en-US" sz="1400" i="1">
                            <a:solidFill>
                              <a:srgbClr val="FF0000"/>
                            </a:solidFill>
                            <a:latin typeface="Cambria Math" panose="02040503050406030204" pitchFamily="18" charset="0"/>
                            <a:cs typeface="Arial" panose="020B0604020202020204" pitchFamily="34" charset="0"/>
                          </a:rPr>
                        </m:ctrlPr>
                      </m:sSubPr>
                      <m:e>
                        <m:r>
                          <a:rPr lang="en-US" sz="1400" i="1">
                            <a:solidFill>
                              <a:srgbClr val="FF0000"/>
                            </a:solidFill>
                            <a:latin typeface="Cambria Math" panose="02040503050406030204" pitchFamily="18" charset="0"/>
                            <a:cs typeface="Arial" panose="020B0604020202020204" pitchFamily="34" charset="0"/>
                          </a:rPr>
                          <m:t>𝑃</m:t>
                        </m:r>
                      </m:e>
                      <m:sub>
                        <m:r>
                          <a:rPr lang="en-US" sz="1400" i="1">
                            <a:solidFill>
                              <a:srgbClr val="FF0000"/>
                            </a:solidFill>
                            <a:latin typeface="Cambria Math" panose="02040503050406030204" pitchFamily="18" charset="0"/>
                            <a:cs typeface="Arial" panose="020B0604020202020204" pitchFamily="34" charset="0"/>
                          </a:rPr>
                          <m:t>𝑥</m:t>
                        </m:r>
                        <m:r>
                          <a:rPr lang="en-US" sz="1400" i="1">
                            <a:solidFill>
                              <a:srgbClr val="FF0000"/>
                            </a:solidFill>
                            <a:latin typeface="Cambria Math" panose="02040503050406030204" pitchFamily="18" charset="0"/>
                            <a:cs typeface="Arial" panose="020B0604020202020204" pitchFamily="34" charset="0"/>
                          </a:rPr>
                          <m:t>,</m:t>
                        </m:r>
                        <m:r>
                          <a:rPr lang="en-US" sz="1400" i="1">
                            <a:solidFill>
                              <a:srgbClr val="FF0000"/>
                            </a:solidFill>
                            <a:latin typeface="Cambria Math" panose="02040503050406030204" pitchFamily="18" charset="0"/>
                            <a:cs typeface="Arial" panose="020B0604020202020204" pitchFamily="34" charset="0"/>
                          </a:rPr>
                          <m:t>𝑦</m:t>
                        </m:r>
                      </m:sub>
                    </m:sSub>
                    <m:r>
                      <a:rPr lang="en-US" sz="1400" i="1">
                        <a:solidFill>
                          <a:srgbClr val="FF0000"/>
                        </a:solidFill>
                        <a:latin typeface="Cambria Math" panose="02040503050406030204" pitchFamily="18" charset="0"/>
                        <a:cs typeface="Arial" panose="020B0604020202020204" pitchFamily="34" charset="0"/>
                      </a:rPr>
                      <m:t>=</m:t>
                    </m:r>
                    <m:r>
                      <a:rPr lang="en-US" sz="1400" i="1">
                        <a:solidFill>
                          <a:srgbClr val="FF0000"/>
                        </a:solidFill>
                        <a:latin typeface="Cambria Math" panose="02040503050406030204" pitchFamily="18" charset="0"/>
                        <a:ea typeface="Cambria Math" panose="02040503050406030204" pitchFamily="18" charset="0"/>
                        <a:cs typeface="Arial" panose="020B0604020202020204" pitchFamily="34" charset="0"/>
                      </a:rPr>
                      <m:t>0</m:t>
                    </m:r>
                  </m:oMath>
                </a14:m>
                <a:endParaRPr lang="en-US" sz="1400" b="1" dirty="0">
                  <a:solidFill>
                    <a:srgbClr val="FF0000"/>
                  </a:solidFill>
                  <a:latin typeface="Arial" panose="020B0604020202020204" pitchFamily="34" charset="0"/>
                  <a:cs typeface="Arial" panose="020B0604020202020204" pitchFamily="34" charset="0"/>
                </a:endParaRPr>
              </a:p>
            </p:txBody>
          </p:sp>
        </mc:Choice>
        <mc:Fallback xmlns="">
          <p:sp>
            <p:nvSpPr>
              <p:cNvPr id="44" name="TextBox 43">
                <a:extLst>
                  <a:ext uri="{FF2B5EF4-FFF2-40B4-BE49-F238E27FC236}">
                    <a16:creationId xmlns:a16="http://schemas.microsoft.com/office/drawing/2014/main" id="{5FD4DAD0-A12A-E7CC-145E-77665C6BE985}"/>
                  </a:ext>
                </a:extLst>
              </p:cNvPr>
              <p:cNvSpPr txBox="1">
                <a:spLocks noRot="1" noChangeAspect="1" noMove="1" noResize="1" noEditPoints="1" noAdjustHandles="1" noChangeArrowheads="1" noChangeShapeType="1" noTextEdit="1"/>
              </p:cNvSpPr>
              <p:nvPr/>
            </p:nvSpPr>
            <p:spPr>
              <a:xfrm>
                <a:off x="8665529" y="1902141"/>
                <a:ext cx="3428940" cy="1879041"/>
              </a:xfrm>
              <a:prstGeom prst="rect">
                <a:avLst/>
              </a:prstGeom>
              <a:blipFill>
                <a:blip r:embed="rId5"/>
                <a:stretch>
                  <a:fillRect/>
                </a:stretch>
              </a:blipFill>
              <a:ln w="12700">
                <a:solidFill>
                  <a:srgbClr val="FF0000"/>
                </a:solidFill>
              </a:ln>
              <a:effectLst>
                <a:outerShdw blurRad="50800" dist="38100" dir="2700000" algn="tl" rotWithShape="0">
                  <a:prstClr val="black">
                    <a:alpha val="40000"/>
                  </a:prstClr>
                </a:outerShdw>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4B2AE50-9678-634F-22DD-90C85A23DC39}"/>
                  </a:ext>
                </a:extLst>
              </p:cNvPr>
              <p:cNvSpPr txBox="1"/>
              <p:nvPr/>
            </p:nvSpPr>
            <p:spPr>
              <a:xfrm>
                <a:off x="388992" y="994601"/>
                <a:ext cx="3552597" cy="1969770"/>
              </a:xfrm>
              <a:prstGeom prst="rect">
                <a:avLst/>
              </a:prstGeom>
              <a:solidFill>
                <a:schemeClr val="bg1"/>
              </a:solidFill>
              <a:ln w="12700">
                <a:solidFill>
                  <a:srgbClr val="00B050"/>
                </a:solidFill>
              </a:ln>
              <a:effectLst>
                <a:outerShdw blurRad="50800" dist="38100" dir="2700000" algn="tl" rotWithShape="0">
                  <a:prstClr val="black">
                    <a:alpha val="40000"/>
                  </a:prstClr>
                </a:outerShdw>
              </a:effectLst>
            </p:spPr>
            <p:txBody>
              <a:bodyPr wrap="square" rtlCol="0">
                <a:spAutoFit/>
              </a:bodyPr>
              <a:lstStyle/>
              <a:p>
                <a:pPr algn="ctr">
                  <a:spcAft>
                    <a:spcPts val="600"/>
                  </a:spcAft>
                </a:pPr>
                <a:r>
                  <a:rPr lang="en-US" sz="1600" b="1" dirty="0">
                    <a:solidFill>
                      <a:srgbClr val="00B050"/>
                    </a:solidFill>
                    <a:latin typeface="Arial" panose="020B0604020202020204" pitchFamily="34" charset="0"/>
                    <a:cs typeface="Arial" panose="020B0604020202020204" pitchFamily="34" charset="0"/>
                  </a:rPr>
                  <a:t>IR-6 (IR subproject)</a:t>
                </a:r>
              </a:p>
              <a:p>
                <a:pPr>
                  <a:spcAft>
                    <a:spcPts val="600"/>
                  </a:spcAft>
                </a:pPr>
                <a:r>
                  <a:rPr lang="en-US" sz="1600" dirty="0">
                    <a:solidFill>
                      <a:srgbClr val="00B050"/>
                    </a:solidFill>
                    <a:latin typeface="Arial" panose="020B0604020202020204" pitchFamily="34" charset="0"/>
                    <a:cs typeface="Arial" panose="020B0604020202020204" pitchFamily="34" charset="0"/>
                  </a:rPr>
                  <a:t>Local polarimetry</a:t>
                </a:r>
              </a:p>
              <a:p>
                <a:pPr marL="285750" indent="-285750">
                  <a:spcAft>
                    <a:spcPts val="600"/>
                  </a:spcAft>
                  <a:buFont typeface="Arial" panose="020B0604020202020204" pitchFamily="34" charset="0"/>
                  <a:buChar char="•"/>
                </a:pPr>
                <a:r>
                  <a:rPr lang="en-US" sz="1400" dirty="0">
                    <a:solidFill>
                      <a:srgbClr val="00B050"/>
                    </a:solidFill>
                    <a:latin typeface="Arial" panose="020B0604020202020204" pitchFamily="34" charset="0"/>
                    <a:cs typeface="Arial" panose="020B0604020202020204" pitchFamily="34" charset="0"/>
                  </a:rPr>
                  <a:t>Inside spin rotators</a:t>
                </a:r>
              </a:p>
              <a:p>
                <a:pPr marL="285750" indent="-285750">
                  <a:spcAft>
                    <a:spcPts val="600"/>
                  </a:spcAft>
                  <a:buFont typeface="Arial" panose="020B0604020202020204" pitchFamily="34" charset="0"/>
                  <a:buChar char="•"/>
                </a:pPr>
                <a:r>
                  <a:rPr lang="en-US" sz="1400" dirty="0">
                    <a:solidFill>
                      <a:srgbClr val="00B050"/>
                    </a:solidFill>
                    <a:latin typeface="Arial" panose="020B0604020202020204" pitchFamily="34" charset="0"/>
                    <a:cs typeface="Arial" panose="020B0604020202020204" pitchFamily="34" charset="0"/>
                  </a:rPr>
                  <a:t>C target </a:t>
                </a:r>
                <a14:m>
                  <m:oMath xmlns:m="http://schemas.openxmlformats.org/officeDocument/2006/math">
                    <m:r>
                      <a:rPr lang="en-US" sz="1400" i="1" dirty="0"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m:t>
                    </m:r>
                  </m:oMath>
                </a14:m>
                <a:r>
                  <a:rPr lang="en-US" sz="1400" dirty="0">
                    <a:solidFill>
                      <a:srgbClr val="00B050"/>
                    </a:solidFill>
                    <a:latin typeface="Arial" panose="020B0604020202020204" pitchFamily="34" charset="0"/>
                    <a:cs typeface="Arial" panose="020B0604020202020204" pitchFamily="34" charset="0"/>
                  </a:rPr>
                  <a:t> hadron polarization orientation</a:t>
                </a:r>
              </a:p>
              <a:p>
                <a:pPr marL="285750" indent="-285750">
                  <a:spcAft>
                    <a:spcPts val="600"/>
                  </a:spcAft>
                  <a:buFont typeface="Arial" panose="020B0604020202020204" pitchFamily="34" charset="0"/>
                  <a:buChar char="•"/>
                </a:pPr>
                <a:r>
                  <a:rPr lang="en-US" sz="1400" dirty="0">
                    <a:solidFill>
                      <a:srgbClr val="00B050"/>
                    </a:solidFill>
                    <a:latin typeface="Arial" panose="020B0604020202020204" pitchFamily="34" charset="0"/>
                    <a:cs typeface="Arial" panose="020B0604020202020204" pitchFamily="34" charset="0"/>
                  </a:rPr>
                  <a:t>Compton backscattering </a:t>
                </a:r>
                <a14:m>
                  <m:oMath xmlns:m="http://schemas.openxmlformats.org/officeDocument/2006/math">
                    <m:r>
                      <a:rPr lang="en-US" sz="1400" i="1" dirty="0">
                        <a:solidFill>
                          <a:srgbClr val="00B050"/>
                        </a:solidFill>
                        <a:latin typeface="Cambria Math" panose="02040503050406030204" pitchFamily="18" charset="0"/>
                        <a:ea typeface="Cambria Math" panose="02040503050406030204" pitchFamily="18" charset="0"/>
                        <a:cs typeface="Arial" panose="020B0604020202020204" pitchFamily="34" charset="0"/>
                      </a:rPr>
                      <m:t>→</m:t>
                    </m:r>
                  </m:oMath>
                </a14:m>
                <a:r>
                  <a:rPr lang="en-US" sz="1400" dirty="0">
                    <a:solidFill>
                      <a:srgbClr val="00B050"/>
                    </a:solidFill>
                    <a:latin typeface="Arial" panose="020B0604020202020204" pitchFamily="34" charset="0"/>
                    <a:cs typeface="Arial" panose="020B0604020202020204" pitchFamily="34" charset="0"/>
                  </a:rPr>
                  <a:t> electron polarization (ESR)</a:t>
                </a:r>
              </a:p>
            </p:txBody>
          </p:sp>
        </mc:Choice>
        <mc:Fallback xmlns="">
          <p:sp>
            <p:nvSpPr>
              <p:cNvPr id="45" name="TextBox 44">
                <a:extLst>
                  <a:ext uri="{FF2B5EF4-FFF2-40B4-BE49-F238E27FC236}">
                    <a16:creationId xmlns:a16="http://schemas.microsoft.com/office/drawing/2014/main" id="{D4B2AE50-9678-634F-22DD-90C85A23DC39}"/>
                  </a:ext>
                </a:extLst>
              </p:cNvPr>
              <p:cNvSpPr txBox="1">
                <a:spLocks noRot="1" noChangeAspect="1" noMove="1" noResize="1" noEditPoints="1" noAdjustHandles="1" noChangeArrowheads="1" noChangeShapeType="1" noTextEdit="1"/>
              </p:cNvSpPr>
              <p:nvPr/>
            </p:nvSpPr>
            <p:spPr>
              <a:xfrm>
                <a:off x="388992" y="994601"/>
                <a:ext cx="3552597" cy="1969770"/>
              </a:xfrm>
              <a:prstGeom prst="rect">
                <a:avLst/>
              </a:prstGeom>
              <a:blipFill>
                <a:blip r:embed="rId6"/>
                <a:stretch>
                  <a:fillRect/>
                </a:stretch>
              </a:blipFill>
              <a:ln w="12700">
                <a:solidFill>
                  <a:srgbClr val="00B050"/>
                </a:solidFill>
              </a:ln>
              <a:effectLst>
                <a:outerShdw blurRad="50800" dist="38100" dir="2700000" algn="tl" rotWithShape="0">
                  <a:prstClr val="black">
                    <a:alpha val="40000"/>
                  </a:prstClr>
                </a:outerShdw>
              </a:effectLst>
            </p:spPr>
            <p:txBody>
              <a:bodyPr/>
              <a:lstStyle/>
              <a:p>
                <a:r>
                  <a:rPr lang="en-US">
                    <a:noFill/>
                  </a:rPr>
                  <a:t> </a:t>
                </a:r>
              </a:p>
            </p:txBody>
          </p:sp>
        </mc:Fallback>
      </mc:AlternateContent>
      <p:cxnSp>
        <p:nvCxnSpPr>
          <p:cNvPr id="46" name="Connector: Elbow 31">
            <a:extLst>
              <a:ext uri="{FF2B5EF4-FFF2-40B4-BE49-F238E27FC236}">
                <a16:creationId xmlns:a16="http://schemas.microsoft.com/office/drawing/2014/main" id="{BE13B328-950B-C7B2-406A-B8979EF13770}"/>
              </a:ext>
            </a:extLst>
          </p:cNvPr>
          <p:cNvCxnSpPr>
            <a:cxnSpLocks/>
            <a:stCxn id="44" idx="2"/>
            <a:endCxn id="8" idx="5"/>
          </p:cNvCxnSpPr>
          <p:nvPr/>
        </p:nvCxnSpPr>
        <p:spPr>
          <a:xfrm rot="5400000" flipH="1">
            <a:off x="8446240" y="1847424"/>
            <a:ext cx="408983" cy="3458534"/>
          </a:xfrm>
          <a:prstGeom prst="bentConnector3">
            <a:avLst>
              <a:gd name="adj1" fmla="val -55895"/>
            </a:avLst>
          </a:prstGeom>
          <a:ln w="38100">
            <a:solidFill>
              <a:srgbClr val="FF0000"/>
            </a:solidFill>
            <a:headEnd type="diamond"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7" name="Connector: Elbow 32">
            <a:extLst>
              <a:ext uri="{FF2B5EF4-FFF2-40B4-BE49-F238E27FC236}">
                <a16:creationId xmlns:a16="http://schemas.microsoft.com/office/drawing/2014/main" id="{96B57D10-26E7-F546-36F3-765EEFC03F7E}"/>
              </a:ext>
            </a:extLst>
          </p:cNvPr>
          <p:cNvCxnSpPr>
            <a:cxnSpLocks/>
            <a:stCxn id="45" idx="2"/>
            <a:endCxn id="9" idx="2"/>
          </p:cNvCxnSpPr>
          <p:nvPr/>
        </p:nvCxnSpPr>
        <p:spPr>
          <a:xfrm rot="16200000" flipH="1">
            <a:off x="3280709" y="1848952"/>
            <a:ext cx="834077" cy="3064913"/>
          </a:xfrm>
          <a:prstGeom prst="bentConnector2">
            <a:avLst/>
          </a:prstGeom>
          <a:ln w="38100">
            <a:solidFill>
              <a:srgbClr val="00B050"/>
            </a:solidFill>
            <a:headEnd type="diamond"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46683E91-8146-0C30-0B99-33ED6DF047F8}"/>
              </a:ext>
            </a:extLst>
          </p:cNvPr>
          <p:cNvSpPr>
            <a:spLocks noChangeAspect="1"/>
          </p:cNvSpPr>
          <p:nvPr/>
        </p:nvSpPr>
        <p:spPr>
          <a:xfrm>
            <a:off x="7828597" y="2534749"/>
            <a:ext cx="429621" cy="429621"/>
          </a:xfrm>
          <a:prstGeom prst="ellipse">
            <a:avLst/>
          </a:prstGeom>
          <a:noFill/>
          <a:ln w="38100">
            <a:solidFill>
              <a:srgbClr val="7030A0"/>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10B9076-F7B6-8931-1DB6-283954DDAADC}"/>
              </a:ext>
            </a:extLst>
          </p:cNvPr>
          <p:cNvSpPr txBox="1"/>
          <p:nvPr/>
        </p:nvSpPr>
        <p:spPr>
          <a:xfrm>
            <a:off x="8665529" y="985367"/>
            <a:ext cx="3428940" cy="846386"/>
          </a:xfrm>
          <a:prstGeom prst="rect">
            <a:avLst/>
          </a:prstGeom>
          <a:solidFill>
            <a:schemeClr val="bg1"/>
          </a:solidFill>
          <a:ln w="12700">
            <a:solidFill>
              <a:srgbClr val="7030A0"/>
            </a:solidFill>
          </a:ln>
          <a:effectLst>
            <a:outerShdw blurRad="50800" dist="38100" dir="2700000" algn="tl" rotWithShape="0">
              <a:prstClr val="black">
                <a:alpha val="40000"/>
              </a:prstClr>
            </a:outerShdw>
          </a:effectLst>
        </p:spPr>
        <p:txBody>
          <a:bodyPr wrap="square" rtlCol="0">
            <a:spAutoFit/>
          </a:bodyPr>
          <a:lstStyle/>
          <a:p>
            <a:pPr algn="ctr">
              <a:spcAft>
                <a:spcPts val="600"/>
              </a:spcAft>
            </a:pPr>
            <a:r>
              <a:rPr lang="en-US" sz="1600" b="1" dirty="0">
                <a:solidFill>
                  <a:srgbClr val="7030A0"/>
                </a:solidFill>
                <a:latin typeface="Arial" panose="020B0604020202020204" pitchFamily="34" charset="0"/>
                <a:cs typeface="Arial" panose="020B0604020202020204" pitchFamily="34" charset="0"/>
              </a:rPr>
              <a:t>RCS (EIN subproject)</a:t>
            </a:r>
          </a:p>
          <a:p>
            <a:pPr marL="285750" indent="-285750">
              <a:spcAft>
                <a:spcPts val="600"/>
              </a:spcAft>
              <a:buFont typeface="Arial" panose="020B0604020202020204" pitchFamily="34" charset="0"/>
              <a:buChar char="•"/>
            </a:pPr>
            <a:r>
              <a:rPr lang="en-US" sz="1400" dirty="0">
                <a:solidFill>
                  <a:srgbClr val="7030A0"/>
                </a:solidFill>
                <a:latin typeface="Arial" panose="020B0604020202020204" pitchFamily="34" charset="0"/>
                <a:cs typeface="Arial" panose="020B0604020202020204" pitchFamily="34" charset="0"/>
              </a:rPr>
              <a:t>Compton backscattering for electron polarization</a:t>
            </a:r>
          </a:p>
        </p:txBody>
      </p:sp>
      <p:cxnSp>
        <p:nvCxnSpPr>
          <p:cNvPr id="51" name="Connector: Elbow 31">
            <a:extLst>
              <a:ext uri="{FF2B5EF4-FFF2-40B4-BE49-F238E27FC236}">
                <a16:creationId xmlns:a16="http://schemas.microsoft.com/office/drawing/2014/main" id="{25327D71-A287-9AB8-DCA9-CE7B2DF061ED}"/>
              </a:ext>
            </a:extLst>
          </p:cNvPr>
          <p:cNvCxnSpPr>
            <a:cxnSpLocks/>
            <a:stCxn id="4" idx="1"/>
            <a:endCxn id="3" idx="7"/>
          </p:cNvCxnSpPr>
          <p:nvPr/>
        </p:nvCxnSpPr>
        <p:spPr>
          <a:xfrm rot="10800000" flipV="1">
            <a:off x="8195301" y="1408560"/>
            <a:ext cx="470228" cy="1189106"/>
          </a:xfrm>
          <a:prstGeom prst="bentConnector2">
            <a:avLst/>
          </a:prstGeom>
          <a:ln w="38100">
            <a:solidFill>
              <a:srgbClr val="7030A0"/>
            </a:solidFill>
            <a:headEnd type="diamond"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1201BA54-B812-282B-4947-1F6868B36C19}"/>
              </a:ext>
            </a:extLst>
          </p:cNvPr>
          <p:cNvSpPr/>
          <p:nvPr/>
        </p:nvSpPr>
        <p:spPr>
          <a:xfrm rot="1100837">
            <a:off x="5251370" y="3441437"/>
            <a:ext cx="725152" cy="725152"/>
          </a:xfrm>
          <a:prstGeom prst="ellipse">
            <a:avLst/>
          </a:prstGeom>
          <a:noFill/>
          <a:ln w="38100">
            <a:solidFill>
              <a:srgbClr val="FF0000"/>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Connector: Elbow 31">
            <a:extLst>
              <a:ext uri="{FF2B5EF4-FFF2-40B4-BE49-F238E27FC236}">
                <a16:creationId xmlns:a16="http://schemas.microsoft.com/office/drawing/2014/main" id="{3E99B483-A139-F2C2-FE38-FD0A9220BE80}"/>
              </a:ext>
            </a:extLst>
          </p:cNvPr>
          <p:cNvCxnSpPr>
            <a:cxnSpLocks/>
            <a:endCxn id="53" idx="5"/>
          </p:cNvCxnSpPr>
          <p:nvPr/>
        </p:nvCxnSpPr>
        <p:spPr>
          <a:xfrm rot="10800000">
            <a:off x="5776591" y="4128063"/>
            <a:ext cx="1144874" cy="67047"/>
          </a:xfrm>
          <a:prstGeom prst="bentConnector2">
            <a:avLst/>
          </a:prstGeom>
          <a:ln w="38100">
            <a:solidFill>
              <a:srgbClr val="FF0000"/>
            </a:solidFill>
            <a:headEnd type="diamond"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0" name="object 11">
            <a:extLst>
              <a:ext uri="{FF2B5EF4-FFF2-40B4-BE49-F238E27FC236}">
                <a16:creationId xmlns:a16="http://schemas.microsoft.com/office/drawing/2014/main" id="{3C0A61B0-5DA7-3691-DB98-E93892D575C2}"/>
              </a:ext>
            </a:extLst>
          </p:cNvPr>
          <p:cNvSpPr txBox="1"/>
          <p:nvPr/>
        </p:nvSpPr>
        <p:spPr>
          <a:xfrm>
            <a:off x="10071100" y="404229"/>
            <a:ext cx="1873245"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#1, #5</a:t>
            </a:r>
            <a:endParaRPr sz="2001" dirty="0">
              <a:solidFill>
                <a:srgbClr val="FF0000"/>
              </a:solidFill>
              <a:latin typeface="Arial Narrow"/>
              <a:cs typeface="Arial Narrow"/>
            </a:endParaRPr>
          </a:p>
        </p:txBody>
      </p:sp>
    </p:spTree>
    <p:extLst>
      <p:ext uri="{BB962C8B-B14F-4D97-AF65-F5344CB8AC3E}">
        <p14:creationId xmlns:p14="http://schemas.microsoft.com/office/powerpoint/2010/main" val="1012760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26067C-D767-2DA8-D261-7F3901C799A2}"/>
              </a:ext>
            </a:extLst>
          </p:cNvPr>
          <p:cNvSpPr>
            <a:spLocks noGrp="1"/>
          </p:cNvSpPr>
          <p:nvPr>
            <p:ph type="sldNum" sz="quarter" idx="4"/>
          </p:nvPr>
        </p:nvSpPr>
        <p:spPr/>
        <p:txBody>
          <a:bodyPr/>
          <a:lstStyle/>
          <a:p>
            <a:fld id="{933A556B-7C63-244D-9B7C-B0EA8042B330}" type="slidenum">
              <a:rPr lang="en-US" smtClean="0"/>
              <a:pPr/>
              <a:t>6</a:t>
            </a:fld>
            <a:endParaRPr lang="en-US"/>
          </a:p>
        </p:txBody>
      </p:sp>
      <p:graphicFrame>
        <p:nvGraphicFramePr>
          <p:cNvPr id="7" name="Table 6">
            <a:extLst>
              <a:ext uri="{FF2B5EF4-FFF2-40B4-BE49-F238E27FC236}">
                <a16:creationId xmlns:a16="http://schemas.microsoft.com/office/drawing/2014/main" id="{33DD15CA-A569-B1C4-5B6D-2FF0193113EA}"/>
              </a:ext>
            </a:extLst>
          </p:cNvPr>
          <p:cNvGraphicFramePr>
            <a:graphicFrameLocks noGrp="1"/>
          </p:cNvGraphicFramePr>
          <p:nvPr>
            <p:extLst>
              <p:ext uri="{D42A27DB-BD31-4B8C-83A1-F6EECF244321}">
                <p14:modId xmlns:p14="http://schemas.microsoft.com/office/powerpoint/2010/main" val="2367938816"/>
              </p:ext>
            </p:extLst>
          </p:nvPr>
        </p:nvGraphicFramePr>
        <p:xfrm>
          <a:off x="5200074" y="937115"/>
          <a:ext cx="6917634" cy="1851617"/>
        </p:xfrm>
        <a:graphic>
          <a:graphicData uri="http://schemas.openxmlformats.org/drawingml/2006/table">
            <a:tbl>
              <a:tblPr firstRow="1" bandRow="1">
                <a:tableStyleId>{5C22544A-7EE6-4342-B048-85BDC9FD1C3A}</a:tableStyleId>
              </a:tblPr>
              <a:tblGrid>
                <a:gridCol w="2305877">
                  <a:extLst>
                    <a:ext uri="{9D8B030D-6E8A-4147-A177-3AD203B41FA5}">
                      <a16:colId xmlns:a16="http://schemas.microsoft.com/office/drawing/2014/main" val="283333901"/>
                    </a:ext>
                  </a:extLst>
                </a:gridCol>
                <a:gridCol w="2541830">
                  <a:extLst>
                    <a:ext uri="{9D8B030D-6E8A-4147-A177-3AD203B41FA5}">
                      <a16:colId xmlns:a16="http://schemas.microsoft.com/office/drawing/2014/main" val="3643755490"/>
                    </a:ext>
                  </a:extLst>
                </a:gridCol>
                <a:gridCol w="2069927">
                  <a:extLst>
                    <a:ext uri="{9D8B030D-6E8A-4147-A177-3AD203B41FA5}">
                      <a16:colId xmlns:a16="http://schemas.microsoft.com/office/drawing/2014/main" val="3754674428"/>
                    </a:ext>
                  </a:extLst>
                </a:gridCol>
              </a:tblGrid>
              <a:tr h="662897">
                <a:tc>
                  <a:txBody>
                    <a:bodyPr/>
                    <a:lstStyle/>
                    <a:p>
                      <a:r>
                        <a:rPr lang="en-US" dirty="0">
                          <a:solidFill>
                            <a:schemeClr val="tx1"/>
                          </a:solidFill>
                        </a:rPr>
                        <a:t>6.03.01.11</a:t>
                      </a:r>
                    </a:p>
                  </a:txBody>
                  <a:tcPr>
                    <a:solidFill>
                      <a:schemeClr val="bg1">
                        <a:lumMod val="75000"/>
                      </a:schemeClr>
                    </a:solidFill>
                  </a:tcPr>
                </a:tc>
                <a:tc>
                  <a:txBody>
                    <a:bodyPr/>
                    <a:lstStyle/>
                    <a:p>
                      <a:r>
                        <a:rPr lang="en-US" dirty="0">
                          <a:solidFill>
                            <a:schemeClr val="tx1"/>
                          </a:solidFill>
                        </a:rPr>
                        <a:t>DET - DS - Polarimetry</a:t>
                      </a:r>
                    </a:p>
                  </a:txBody>
                  <a:tcPr>
                    <a:solidFill>
                      <a:schemeClr val="bg1">
                        <a:lumMod val="75000"/>
                      </a:schemeClr>
                    </a:solidFill>
                  </a:tcPr>
                </a:tc>
                <a:tc>
                  <a:txBody>
                    <a:bodyPr/>
                    <a:lstStyle/>
                    <a:p>
                      <a:r>
                        <a:rPr lang="en-US" dirty="0">
                          <a:solidFill>
                            <a:schemeClr val="tx1"/>
                          </a:solidFill>
                        </a:rPr>
                        <a:t>F. Rathmann (BNL) </a:t>
                      </a:r>
                    </a:p>
                  </a:txBody>
                  <a:tcPr>
                    <a:solidFill>
                      <a:schemeClr val="bg1">
                        <a:lumMod val="75000"/>
                      </a:schemeClr>
                    </a:solidFill>
                  </a:tcPr>
                </a:tc>
                <a:extLst>
                  <a:ext uri="{0D108BD9-81ED-4DB2-BD59-A6C34878D82A}">
                    <a16:rowId xmlns:a16="http://schemas.microsoft.com/office/drawing/2014/main" val="2757565654"/>
                  </a:ext>
                </a:extLst>
              </a:tr>
              <a:tr h="662897">
                <a:tc gridSpan="3">
                  <a:txBody>
                    <a:bodyPr/>
                    <a:lstStyle/>
                    <a:p>
                      <a:r>
                        <a:rPr lang="en-US" b="1" dirty="0"/>
                        <a:t>Scope Description: </a:t>
                      </a:r>
                    </a:p>
                    <a:p>
                      <a:r>
                        <a:rPr lang="en-US" dirty="0"/>
                        <a:t>Includes all design and construction activities needed for hadron and electron beam polarimetry in the hadron SR and the lepton RCS and ESR.</a:t>
                      </a:r>
                    </a:p>
                  </a:txBody>
                  <a:tcPr>
                    <a:solidFill>
                      <a:schemeClr val="bg1">
                        <a:lumMod val="9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70468560"/>
                  </a:ext>
                </a:extLst>
              </a:tr>
            </a:tbl>
          </a:graphicData>
        </a:graphic>
      </p:graphicFrame>
      <p:pic>
        <p:nvPicPr>
          <p:cNvPr id="8" name="Picture 7">
            <a:extLst>
              <a:ext uri="{FF2B5EF4-FFF2-40B4-BE49-F238E27FC236}">
                <a16:creationId xmlns:a16="http://schemas.microsoft.com/office/drawing/2014/main" id="{B6FFB6E5-5DD4-6619-E83A-9DA910F0E623}"/>
              </a:ext>
            </a:extLst>
          </p:cNvPr>
          <p:cNvPicPr>
            <a:picLocks noChangeAspect="1"/>
          </p:cNvPicPr>
          <p:nvPr/>
        </p:nvPicPr>
        <p:blipFill>
          <a:blip r:embed="rId2"/>
          <a:stretch>
            <a:fillRect/>
          </a:stretch>
        </p:blipFill>
        <p:spPr>
          <a:xfrm>
            <a:off x="279986" y="825178"/>
            <a:ext cx="4571413" cy="5264498"/>
          </a:xfrm>
          <a:prstGeom prst="rect">
            <a:avLst/>
          </a:prstGeom>
        </p:spPr>
      </p:pic>
      <p:sp>
        <p:nvSpPr>
          <p:cNvPr id="9" name="object 11">
            <a:extLst>
              <a:ext uri="{FF2B5EF4-FFF2-40B4-BE49-F238E27FC236}">
                <a16:creationId xmlns:a16="http://schemas.microsoft.com/office/drawing/2014/main" id="{54A9CA9D-3F7A-22FD-5771-6391AC494BA5}"/>
              </a:ext>
            </a:extLst>
          </p:cNvPr>
          <p:cNvSpPr txBox="1"/>
          <p:nvPr/>
        </p:nvSpPr>
        <p:spPr>
          <a:xfrm>
            <a:off x="10416794" y="404229"/>
            <a:ext cx="1527551"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#1</a:t>
            </a:r>
            <a:endParaRPr sz="2001" dirty="0">
              <a:solidFill>
                <a:srgbClr val="FF0000"/>
              </a:solidFill>
              <a:latin typeface="Arial Narrow"/>
              <a:cs typeface="Arial Narrow"/>
            </a:endParaRPr>
          </a:p>
        </p:txBody>
      </p:sp>
      <p:sp>
        <p:nvSpPr>
          <p:cNvPr id="10" name="Title 4">
            <a:extLst>
              <a:ext uri="{FF2B5EF4-FFF2-40B4-BE49-F238E27FC236}">
                <a16:creationId xmlns:a16="http://schemas.microsoft.com/office/drawing/2014/main" id="{2AC5757D-2F8D-9B07-5B7C-96DC471A9DD4}"/>
              </a:ext>
            </a:extLst>
          </p:cNvPr>
          <p:cNvSpPr txBox="1">
            <a:spLocks/>
          </p:cNvSpPr>
          <p:nvPr/>
        </p:nvSpPr>
        <p:spPr>
          <a:xfrm>
            <a:off x="462579" y="0"/>
            <a:ext cx="11499925" cy="82517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u="none" kern="1200">
                <a:solidFill>
                  <a:schemeClr val="tx1"/>
                </a:solidFill>
                <a:latin typeface="+mn-lt"/>
                <a:ea typeface="+mj-ea"/>
                <a:cs typeface="+mj-cs"/>
              </a:defRPr>
            </a:lvl1pPr>
          </a:lstStyle>
          <a:p>
            <a:r>
              <a:rPr lang="en-US"/>
              <a:t>Scope Summary</a:t>
            </a:r>
            <a:endParaRPr lang="en-US" dirty="0"/>
          </a:p>
        </p:txBody>
      </p:sp>
    </p:spTree>
    <p:extLst>
      <p:ext uri="{BB962C8B-B14F-4D97-AF65-F5344CB8AC3E}">
        <p14:creationId xmlns:p14="http://schemas.microsoft.com/office/powerpoint/2010/main" val="3421769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030DA-620B-A2DC-7873-B80840E5444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028417-798E-E039-7434-44C3B0590A17}"/>
              </a:ext>
            </a:extLst>
          </p:cNvPr>
          <p:cNvSpPr>
            <a:spLocks noGrp="1"/>
          </p:cNvSpPr>
          <p:nvPr>
            <p:ph type="sldNum" sz="quarter" idx="4"/>
          </p:nvPr>
        </p:nvSpPr>
        <p:spPr/>
        <p:txBody>
          <a:bodyPr/>
          <a:lstStyle/>
          <a:p>
            <a:fld id="{933A556B-7C63-244D-9B7C-B0EA8042B330}" type="slidenum">
              <a:rPr lang="en-US" smtClean="0"/>
              <a:pPr/>
              <a:t>7</a:t>
            </a:fld>
            <a:endParaRPr lang="en-US"/>
          </a:p>
        </p:txBody>
      </p:sp>
      <p:sp>
        <p:nvSpPr>
          <p:cNvPr id="3" name="Title 2">
            <a:extLst>
              <a:ext uri="{FF2B5EF4-FFF2-40B4-BE49-F238E27FC236}">
                <a16:creationId xmlns:a16="http://schemas.microsoft.com/office/drawing/2014/main" id="{7AD8E741-9744-FE68-E937-41D4188B02DC}"/>
              </a:ext>
            </a:extLst>
          </p:cNvPr>
          <p:cNvSpPr>
            <a:spLocks noGrp="1"/>
          </p:cNvSpPr>
          <p:nvPr>
            <p:ph type="title"/>
          </p:nvPr>
        </p:nvSpPr>
        <p:spPr/>
        <p:txBody>
          <a:bodyPr>
            <a:normAutofit/>
          </a:bodyPr>
          <a:lstStyle/>
          <a:p>
            <a:r>
              <a:rPr lang="en-US" dirty="0"/>
              <a:t>Scope Definition </a:t>
            </a:r>
            <a:r>
              <a:rPr lang="en-US" sz="2800" dirty="0"/>
              <a:t>(from WBS, abbreviated)</a:t>
            </a:r>
          </a:p>
        </p:txBody>
      </p:sp>
      <p:sp>
        <p:nvSpPr>
          <p:cNvPr id="4" name="Content Placeholder 3">
            <a:extLst>
              <a:ext uri="{FF2B5EF4-FFF2-40B4-BE49-F238E27FC236}">
                <a16:creationId xmlns:a16="http://schemas.microsoft.com/office/drawing/2014/main" id="{4B461D96-5D70-4D91-4621-4EA7962B3EAE}"/>
              </a:ext>
            </a:extLst>
          </p:cNvPr>
          <p:cNvSpPr>
            <a:spLocks noGrp="1"/>
          </p:cNvSpPr>
          <p:nvPr>
            <p:ph idx="1"/>
          </p:nvPr>
        </p:nvSpPr>
        <p:spPr>
          <a:xfrm>
            <a:off x="462579" y="845947"/>
            <a:ext cx="11499925" cy="5411418"/>
          </a:xfrm>
        </p:spPr>
        <p:txBody>
          <a:bodyPr anchor="ctr">
            <a:normAutofit fontScale="85000" lnSpcReduction="20000"/>
          </a:bodyPr>
          <a:lstStyle/>
          <a:p>
            <a:r>
              <a:rPr lang="en-US" b="1" dirty="0"/>
              <a:t>h-Polarimetry: </a:t>
            </a:r>
          </a:p>
          <a:p>
            <a:pPr lvl="1"/>
            <a:r>
              <a:rPr lang="en-US" sz="1900" dirty="0">
                <a:solidFill>
                  <a:srgbClr val="0070C0"/>
                </a:solidFill>
              </a:rPr>
              <a:t>Upgrade hadron polarimeters to the needs for EIC physics and machine requirements. </a:t>
            </a:r>
          </a:p>
          <a:p>
            <a:pPr lvl="1"/>
            <a:r>
              <a:rPr lang="en-US" sz="1900" dirty="0">
                <a:solidFill>
                  <a:srgbClr val="0070C0"/>
                </a:solidFill>
              </a:rPr>
              <a:t>Needs absolute polarization measurement and measurements</a:t>
            </a:r>
          </a:p>
          <a:p>
            <a:pPr lvl="2"/>
            <a:r>
              <a:rPr lang="en-US" sz="1900" dirty="0">
                <a:solidFill>
                  <a:srgbClr val="0070C0"/>
                </a:solidFill>
              </a:rPr>
              <a:t>Provide polarization lifetime and polarization over transverse size of hadron bunch</a:t>
            </a:r>
          </a:p>
          <a:p>
            <a:pPr lvl="1"/>
            <a:r>
              <a:rPr lang="en-US" sz="1900" dirty="0">
                <a:solidFill>
                  <a:srgbClr val="0070C0"/>
                </a:solidFill>
              </a:rPr>
              <a:t>Design and constructing of hadron polarimeter in IR to measure degree of spin orientation</a:t>
            </a:r>
          </a:p>
          <a:p>
            <a:pPr lvl="2"/>
            <a:r>
              <a:rPr lang="en-US" sz="1900" dirty="0">
                <a:solidFill>
                  <a:srgbClr val="0070C0"/>
                </a:solidFill>
              </a:rPr>
              <a:t>Particularly critical if direction of hadron beam polarization is longitudinal</a:t>
            </a:r>
          </a:p>
          <a:p>
            <a:endParaRPr lang="en-US" sz="600" dirty="0">
              <a:solidFill>
                <a:srgbClr val="0070C0"/>
              </a:solidFill>
            </a:endParaRPr>
          </a:p>
          <a:p>
            <a:pPr marL="457200" lvl="1" indent="0">
              <a:buNone/>
            </a:pPr>
            <a:r>
              <a:rPr lang="en-US" b="1" dirty="0"/>
              <a:t>Hadron Polarimetry HJET: </a:t>
            </a:r>
          </a:p>
          <a:p>
            <a:pPr lvl="2"/>
            <a:r>
              <a:rPr lang="en-US" sz="1900" dirty="0">
                <a:solidFill>
                  <a:srgbClr val="0070C0"/>
                </a:solidFill>
              </a:rPr>
              <a:t>Update current RHIC polarimeters to reach </a:t>
            </a:r>
          </a:p>
          <a:p>
            <a:pPr lvl="3"/>
            <a:r>
              <a:rPr lang="en-US" sz="1900" dirty="0">
                <a:solidFill>
                  <a:srgbClr val="0070C0"/>
                </a:solidFill>
              </a:rPr>
              <a:t>Required systematic uncertainties ~1%, and work under more demanding EIC machine parameters</a:t>
            </a:r>
          </a:p>
          <a:p>
            <a:pPr lvl="2"/>
            <a:r>
              <a:rPr lang="en-US" sz="1900" dirty="0">
                <a:solidFill>
                  <a:srgbClr val="0070C0"/>
                </a:solidFill>
              </a:rPr>
              <a:t>Avoid beam induced depolarization of target atoms</a:t>
            </a:r>
          </a:p>
          <a:p>
            <a:pPr lvl="3"/>
            <a:r>
              <a:rPr lang="en-US" sz="1900" dirty="0">
                <a:solidFill>
                  <a:srgbClr val="0070C0"/>
                </a:solidFill>
              </a:rPr>
              <a:t>Stronger magnetic guide field needed to operate the HJET</a:t>
            </a:r>
          </a:p>
          <a:p>
            <a:pPr lvl="3"/>
            <a:r>
              <a:rPr lang="en-US" sz="1900" dirty="0">
                <a:solidFill>
                  <a:srgbClr val="0070C0"/>
                </a:solidFill>
              </a:rPr>
              <a:t>Background determination for unpolarized H2 molecules by implementation of quadrupole mass spectrometer</a:t>
            </a:r>
          </a:p>
          <a:p>
            <a:pPr lvl="3"/>
            <a:r>
              <a:rPr lang="en-US" sz="1900" dirty="0">
                <a:solidFill>
                  <a:srgbClr val="0070C0"/>
                </a:solidFill>
              </a:rPr>
              <a:t>New DAQ-systems, new silicon detectors for both the HJET (IR-4) and </a:t>
            </a:r>
            <a:r>
              <a:rPr lang="en-US" sz="1900" dirty="0" err="1">
                <a:solidFill>
                  <a:srgbClr val="0070C0"/>
                </a:solidFill>
              </a:rPr>
              <a:t>pC</a:t>
            </a:r>
            <a:r>
              <a:rPr lang="en-US" sz="1900" dirty="0">
                <a:solidFill>
                  <a:srgbClr val="0070C0"/>
                </a:solidFill>
              </a:rPr>
              <a:t> polarimeters (IR-4) and a new target station for the </a:t>
            </a:r>
            <a:r>
              <a:rPr lang="en-US" sz="1900" dirty="0" err="1">
                <a:solidFill>
                  <a:srgbClr val="0070C0"/>
                </a:solidFill>
              </a:rPr>
              <a:t>pC</a:t>
            </a:r>
            <a:r>
              <a:rPr lang="en-US" sz="1900" dirty="0">
                <a:solidFill>
                  <a:srgbClr val="0070C0"/>
                </a:solidFill>
              </a:rPr>
              <a:t> polarimeters (in IR-6).</a:t>
            </a:r>
          </a:p>
          <a:p>
            <a:pPr lvl="1"/>
            <a:endParaRPr lang="en-US" sz="500" i="1" dirty="0">
              <a:solidFill>
                <a:srgbClr val="0070C0"/>
              </a:solidFill>
            </a:endParaRPr>
          </a:p>
          <a:p>
            <a:pPr marL="457200" lvl="1" indent="0">
              <a:buNone/>
            </a:pPr>
            <a:r>
              <a:rPr lang="en-US" b="1" dirty="0"/>
              <a:t>Hadron Polarimetry Fiber Targets:</a:t>
            </a:r>
            <a:r>
              <a:rPr lang="en-US" b="1" i="1" dirty="0">
                <a:solidFill>
                  <a:srgbClr val="0070C0"/>
                </a:solidFill>
              </a:rPr>
              <a:t> </a:t>
            </a:r>
          </a:p>
          <a:p>
            <a:pPr lvl="2"/>
            <a:r>
              <a:rPr lang="en-US" sz="1900" dirty="0" err="1">
                <a:solidFill>
                  <a:srgbClr val="0070C0"/>
                </a:solidFill>
              </a:rPr>
              <a:t>pC</a:t>
            </a:r>
            <a:r>
              <a:rPr lang="en-US" sz="1900" dirty="0">
                <a:solidFill>
                  <a:srgbClr val="0070C0"/>
                </a:solidFill>
              </a:rPr>
              <a:t> polarimeter located as close as possible to IP between spin rotators </a:t>
            </a:r>
          </a:p>
          <a:p>
            <a:pPr lvl="2"/>
            <a:r>
              <a:rPr lang="en-US" sz="1900" dirty="0">
                <a:solidFill>
                  <a:srgbClr val="0070C0"/>
                </a:solidFill>
              </a:rPr>
              <a:t>proper location identified for second double-target </a:t>
            </a:r>
            <a:r>
              <a:rPr lang="en-US" sz="1900" dirty="0" err="1">
                <a:solidFill>
                  <a:srgbClr val="0070C0"/>
                </a:solidFill>
              </a:rPr>
              <a:t>pC</a:t>
            </a:r>
            <a:r>
              <a:rPr lang="en-US" sz="1900" dirty="0">
                <a:solidFill>
                  <a:srgbClr val="0070C0"/>
                </a:solidFill>
              </a:rPr>
              <a:t> polarimeter near IR-6</a:t>
            </a:r>
          </a:p>
          <a:p>
            <a:pPr lvl="2"/>
            <a:r>
              <a:rPr lang="en-US" sz="1900" dirty="0">
                <a:solidFill>
                  <a:srgbClr val="0070C0"/>
                </a:solidFill>
              </a:rPr>
              <a:t>New setup with silicon detectors and data acquisition system needed </a:t>
            </a:r>
          </a:p>
          <a:p>
            <a:pPr lvl="2"/>
            <a:r>
              <a:rPr lang="en-US" sz="1900" dirty="0">
                <a:solidFill>
                  <a:srgbClr val="0070C0"/>
                </a:solidFill>
              </a:rPr>
              <a:t>Both systems at IR-4 and IR-6 capable to handle much higher EIC bunch repetition frequency compared to RHIC </a:t>
            </a:r>
          </a:p>
          <a:p>
            <a:pPr lvl="2"/>
            <a:r>
              <a:rPr lang="en-US" sz="1900" dirty="0" err="1">
                <a:solidFill>
                  <a:srgbClr val="0070C0"/>
                </a:solidFill>
              </a:rPr>
              <a:t>pC</a:t>
            </a:r>
            <a:r>
              <a:rPr lang="en-US" sz="1900" dirty="0">
                <a:solidFill>
                  <a:srgbClr val="0070C0"/>
                </a:solidFill>
              </a:rPr>
              <a:t> target systems need to avoid wake field excitation due to metallic target holders. </a:t>
            </a:r>
          </a:p>
        </p:txBody>
      </p:sp>
      <p:sp>
        <p:nvSpPr>
          <p:cNvPr id="5" name="object 11">
            <a:extLst>
              <a:ext uri="{FF2B5EF4-FFF2-40B4-BE49-F238E27FC236}">
                <a16:creationId xmlns:a16="http://schemas.microsoft.com/office/drawing/2014/main" id="{C9AEDD96-6106-AC0C-E11E-65FF47A20756}"/>
              </a:ext>
            </a:extLst>
          </p:cNvPr>
          <p:cNvSpPr txBox="1"/>
          <p:nvPr/>
        </p:nvSpPr>
        <p:spPr>
          <a:xfrm>
            <a:off x="10416794" y="404229"/>
            <a:ext cx="1527551"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#1</a:t>
            </a:r>
            <a:endParaRPr sz="2001" dirty="0">
              <a:solidFill>
                <a:srgbClr val="FF0000"/>
              </a:solidFill>
              <a:latin typeface="Arial Narrow"/>
              <a:cs typeface="Arial Narrow"/>
            </a:endParaRPr>
          </a:p>
        </p:txBody>
      </p:sp>
      <p:sp>
        <p:nvSpPr>
          <p:cNvPr id="6" name="TextBox 5">
            <a:extLst>
              <a:ext uri="{FF2B5EF4-FFF2-40B4-BE49-F238E27FC236}">
                <a16:creationId xmlns:a16="http://schemas.microsoft.com/office/drawing/2014/main" id="{3FE7AC74-CACD-56CE-6087-AE1DC823D38A}"/>
              </a:ext>
            </a:extLst>
          </p:cNvPr>
          <p:cNvSpPr txBox="1"/>
          <p:nvPr/>
        </p:nvSpPr>
        <p:spPr>
          <a:xfrm>
            <a:off x="462579" y="845947"/>
            <a:ext cx="184731" cy="369332"/>
          </a:xfrm>
          <a:prstGeom prst="rect">
            <a:avLst/>
          </a:prstGeom>
          <a:noFill/>
        </p:spPr>
        <p:txBody>
          <a:bodyPr wrap="none" rtlCol="0">
            <a:spAutoFit/>
          </a:bodyPr>
          <a:lstStyle/>
          <a:p>
            <a:endParaRPr lang="en-US" i="1" dirty="0"/>
          </a:p>
        </p:txBody>
      </p:sp>
    </p:spTree>
    <p:extLst>
      <p:ext uri="{BB962C8B-B14F-4D97-AF65-F5344CB8AC3E}">
        <p14:creationId xmlns:p14="http://schemas.microsoft.com/office/powerpoint/2010/main" val="742187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3439D-1681-B460-48D8-A8B50A690B7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E18A89-1B6E-6A3B-E306-7E1FDB166637}"/>
              </a:ext>
            </a:extLst>
          </p:cNvPr>
          <p:cNvSpPr>
            <a:spLocks noGrp="1"/>
          </p:cNvSpPr>
          <p:nvPr>
            <p:ph type="sldNum" sz="quarter" idx="4"/>
          </p:nvPr>
        </p:nvSpPr>
        <p:spPr/>
        <p:txBody>
          <a:bodyPr/>
          <a:lstStyle/>
          <a:p>
            <a:fld id="{933A556B-7C63-244D-9B7C-B0EA8042B330}" type="slidenum">
              <a:rPr lang="en-US" smtClean="0"/>
              <a:pPr/>
              <a:t>8</a:t>
            </a:fld>
            <a:endParaRPr lang="en-US"/>
          </a:p>
        </p:txBody>
      </p:sp>
      <p:sp>
        <p:nvSpPr>
          <p:cNvPr id="3" name="Title 2">
            <a:extLst>
              <a:ext uri="{FF2B5EF4-FFF2-40B4-BE49-F238E27FC236}">
                <a16:creationId xmlns:a16="http://schemas.microsoft.com/office/drawing/2014/main" id="{DA17C16E-6813-D985-FBDA-69613073C229}"/>
              </a:ext>
            </a:extLst>
          </p:cNvPr>
          <p:cNvSpPr>
            <a:spLocks noGrp="1"/>
          </p:cNvSpPr>
          <p:nvPr>
            <p:ph type="title"/>
          </p:nvPr>
        </p:nvSpPr>
        <p:spPr/>
        <p:txBody>
          <a:bodyPr/>
          <a:lstStyle/>
          <a:p>
            <a:r>
              <a:rPr lang="en-US" dirty="0"/>
              <a:t>Scope Definition </a:t>
            </a:r>
            <a:r>
              <a:rPr lang="en-US" sz="2800" dirty="0"/>
              <a:t>(from WBS, abbreviated)</a:t>
            </a:r>
            <a:endParaRPr lang="en-US" dirty="0"/>
          </a:p>
        </p:txBody>
      </p:sp>
      <p:sp>
        <p:nvSpPr>
          <p:cNvPr id="4" name="Content Placeholder 3">
            <a:extLst>
              <a:ext uri="{FF2B5EF4-FFF2-40B4-BE49-F238E27FC236}">
                <a16:creationId xmlns:a16="http://schemas.microsoft.com/office/drawing/2014/main" id="{D9A54ACE-4A73-F69F-9C71-C88F2FAD9716}"/>
              </a:ext>
            </a:extLst>
          </p:cNvPr>
          <p:cNvSpPr>
            <a:spLocks noGrp="1"/>
          </p:cNvSpPr>
          <p:nvPr>
            <p:ph idx="1"/>
          </p:nvPr>
        </p:nvSpPr>
        <p:spPr>
          <a:xfrm>
            <a:off x="462579" y="996070"/>
            <a:ext cx="11499925" cy="5176129"/>
          </a:xfrm>
        </p:spPr>
        <p:txBody>
          <a:bodyPr anchor="ctr">
            <a:normAutofit fontScale="92500"/>
          </a:bodyPr>
          <a:lstStyle/>
          <a:p>
            <a:r>
              <a:rPr lang="en-US" b="1" dirty="0"/>
              <a:t>e-Polarimetry: </a:t>
            </a:r>
          </a:p>
          <a:p>
            <a:pPr lvl="1"/>
            <a:r>
              <a:rPr lang="en-US" sz="1900" dirty="0">
                <a:solidFill>
                  <a:srgbClr val="0070C0"/>
                </a:solidFill>
              </a:rPr>
              <a:t>Includes activities to design and construct the electron polarimeters for RCS and ESR</a:t>
            </a:r>
          </a:p>
          <a:p>
            <a:pPr lvl="1"/>
            <a:endParaRPr lang="en-US" b="1" dirty="0"/>
          </a:p>
          <a:p>
            <a:pPr marL="457200" lvl="1" indent="0">
              <a:buNone/>
            </a:pPr>
            <a:r>
              <a:rPr lang="en-US" b="1" dirty="0"/>
              <a:t>Lepton Polarimetry in the Storage Ring: </a:t>
            </a:r>
          </a:p>
          <a:p>
            <a:pPr lvl="1"/>
            <a:r>
              <a:rPr lang="en-US" sz="1900" dirty="0">
                <a:solidFill>
                  <a:srgbClr val="0070C0"/>
                </a:solidFill>
              </a:rPr>
              <a:t>Design and construct a Compton polarimeter with a systematic uncertainty of order 1% and high statistical precision to measure polarization bunch-by-bunch. </a:t>
            </a:r>
          </a:p>
          <a:p>
            <a:pPr lvl="1"/>
            <a:r>
              <a:rPr lang="en-US" sz="1900" dirty="0">
                <a:solidFill>
                  <a:srgbClr val="0070C0"/>
                </a:solidFill>
              </a:rPr>
              <a:t>Measure both Compton scattered lepton and backscattered Compton photon. </a:t>
            </a:r>
          </a:p>
          <a:p>
            <a:pPr lvl="1"/>
            <a:r>
              <a:rPr lang="en-US" sz="1900" dirty="0">
                <a:solidFill>
                  <a:srgbClr val="0070C0"/>
                </a:solidFill>
              </a:rPr>
              <a:t>Compton polarimeter consists of a laser system, 1 electro magnetic calorimeter, 2 position sensitive detectors, their readout electronics and DAQ system and lepton and laser beam position control systems.</a:t>
            </a:r>
          </a:p>
          <a:p>
            <a:pPr lvl="1"/>
            <a:endParaRPr lang="en-US" i="1" dirty="0"/>
          </a:p>
          <a:p>
            <a:pPr marL="457200" lvl="1" indent="0">
              <a:buNone/>
            </a:pPr>
            <a:r>
              <a:rPr lang="en-US" b="1" dirty="0"/>
              <a:t>Lepton Polarimetry in the RCS: </a:t>
            </a:r>
          </a:p>
          <a:p>
            <a:pPr lvl="1"/>
            <a:r>
              <a:rPr lang="en-US" dirty="0">
                <a:solidFill>
                  <a:srgbClr val="0070C0"/>
                </a:solidFill>
              </a:rPr>
              <a:t>Design and construct </a:t>
            </a:r>
            <a:r>
              <a:rPr lang="en-US" sz="1900" dirty="0">
                <a:solidFill>
                  <a:srgbClr val="0070C0"/>
                </a:solidFill>
              </a:rPr>
              <a:t>Compton polarimeter for RCS. </a:t>
            </a:r>
          </a:p>
          <a:p>
            <a:pPr lvl="1"/>
            <a:r>
              <a:rPr lang="en-US" sz="1900" dirty="0">
                <a:solidFill>
                  <a:srgbClr val="0070C0"/>
                </a:solidFill>
              </a:rPr>
              <a:t>Development critical as RCS parameters of 100 </a:t>
            </a:r>
            <a:r>
              <a:rPr lang="en-US" sz="1900" dirty="0" err="1">
                <a:solidFill>
                  <a:srgbClr val="0070C0"/>
                </a:solidFill>
              </a:rPr>
              <a:t>ms</a:t>
            </a:r>
            <a:r>
              <a:rPr lang="en-US" sz="1900" dirty="0">
                <a:solidFill>
                  <a:srgbClr val="0070C0"/>
                </a:solidFill>
              </a:rPr>
              <a:t> ramp from 400 MeV to 18 GeV with 1Hz ramp repetition rate and 10 </a:t>
            </a:r>
            <a:r>
              <a:rPr lang="en-US" sz="1900" dirty="0" err="1">
                <a:solidFill>
                  <a:srgbClr val="0070C0"/>
                </a:solidFill>
              </a:rPr>
              <a:t>nC</a:t>
            </a:r>
            <a:r>
              <a:rPr lang="en-US" sz="1900" dirty="0">
                <a:solidFill>
                  <a:srgbClr val="0070C0"/>
                </a:solidFill>
              </a:rPr>
              <a:t> in bunch are demanding to measure polarization. </a:t>
            </a:r>
          </a:p>
          <a:p>
            <a:pPr lvl="1"/>
            <a:r>
              <a:rPr lang="en-US" sz="1900" dirty="0">
                <a:solidFill>
                  <a:srgbClr val="0070C0"/>
                </a:solidFill>
              </a:rPr>
              <a:t>Measure only backscattered Compton photon. </a:t>
            </a:r>
          </a:p>
          <a:p>
            <a:pPr lvl="1"/>
            <a:r>
              <a:rPr lang="en-US" sz="1900" dirty="0">
                <a:solidFill>
                  <a:srgbClr val="0070C0"/>
                </a:solidFill>
              </a:rPr>
              <a:t>Compton polarimeter consists of laser system, 1 electro magnetic calorimeter, 1 position sensitive detector, their readout electronics and DAQ system and lepton and laser beam position control systems.</a:t>
            </a:r>
          </a:p>
        </p:txBody>
      </p:sp>
      <p:sp>
        <p:nvSpPr>
          <p:cNvPr id="5" name="object 11">
            <a:extLst>
              <a:ext uri="{FF2B5EF4-FFF2-40B4-BE49-F238E27FC236}">
                <a16:creationId xmlns:a16="http://schemas.microsoft.com/office/drawing/2014/main" id="{383CBB19-0EDE-46BE-0CA3-E55371A64AC7}"/>
              </a:ext>
            </a:extLst>
          </p:cNvPr>
          <p:cNvSpPr txBox="1"/>
          <p:nvPr/>
        </p:nvSpPr>
        <p:spPr>
          <a:xfrm>
            <a:off x="10416794" y="404229"/>
            <a:ext cx="1527551"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#1</a:t>
            </a:r>
            <a:endParaRPr sz="2001" dirty="0">
              <a:solidFill>
                <a:srgbClr val="FF0000"/>
              </a:solidFill>
              <a:latin typeface="Arial Narrow"/>
              <a:cs typeface="Arial Narrow"/>
            </a:endParaRPr>
          </a:p>
        </p:txBody>
      </p:sp>
    </p:spTree>
    <p:extLst>
      <p:ext uri="{BB962C8B-B14F-4D97-AF65-F5344CB8AC3E}">
        <p14:creationId xmlns:p14="http://schemas.microsoft.com/office/powerpoint/2010/main" val="4108125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F872F-C863-103D-ED2B-5F4E1995BD2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1E2330-98C0-A294-87E6-7409B488821C}"/>
              </a:ext>
            </a:extLst>
          </p:cNvPr>
          <p:cNvSpPr>
            <a:spLocks noGrp="1"/>
          </p:cNvSpPr>
          <p:nvPr>
            <p:ph type="sldNum" sz="quarter" idx="4"/>
          </p:nvPr>
        </p:nvSpPr>
        <p:spPr/>
        <p:txBody>
          <a:bodyPr/>
          <a:lstStyle/>
          <a:p>
            <a:fld id="{933A556B-7C63-244D-9B7C-B0EA8042B330}" type="slidenum">
              <a:rPr lang="en-US" smtClean="0"/>
              <a:pPr/>
              <a:t>9</a:t>
            </a:fld>
            <a:endParaRPr lang="en-US"/>
          </a:p>
        </p:txBody>
      </p:sp>
      <p:sp>
        <p:nvSpPr>
          <p:cNvPr id="9" name="object 11">
            <a:extLst>
              <a:ext uri="{FF2B5EF4-FFF2-40B4-BE49-F238E27FC236}">
                <a16:creationId xmlns:a16="http://schemas.microsoft.com/office/drawing/2014/main" id="{D7E9FF40-E87B-DB17-9B22-7A6E43DDFD1E}"/>
              </a:ext>
            </a:extLst>
          </p:cNvPr>
          <p:cNvSpPr txBox="1"/>
          <p:nvPr/>
        </p:nvSpPr>
        <p:spPr>
          <a:xfrm>
            <a:off x="10458052" y="404229"/>
            <a:ext cx="1486293"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#2</a:t>
            </a:r>
            <a:endParaRPr sz="2001" dirty="0">
              <a:solidFill>
                <a:srgbClr val="FF0000"/>
              </a:solidFill>
              <a:latin typeface="Arial Narrow"/>
              <a:cs typeface="Arial Narrow"/>
            </a:endParaRPr>
          </a:p>
        </p:txBody>
      </p:sp>
      <p:sp>
        <p:nvSpPr>
          <p:cNvPr id="10" name="Title 4">
            <a:extLst>
              <a:ext uri="{FF2B5EF4-FFF2-40B4-BE49-F238E27FC236}">
                <a16:creationId xmlns:a16="http://schemas.microsoft.com/office/drawing/2014/main" id="{7B32FA32-EDD6-B568-B67C-74AAB63C327C}"/>
              </a:ext>
            </a:extLst>
          </p:cNvPr>
          <p:cNvSpPr txBox="1">
            <a:spLocks/>
          </p:cNvSpPr>
          <p:nvPr/>
        </p:nvSpPr>
        <p:spPr>
          <a:xfrm>
            <a:off x="462579" y="0"/>
            <a:ext cx="11499925" cy="82517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u="none" kern="1200">
                <a:solidFill>
                  <a:schemeClr val="tx1"/>
                </a:solidFill>
                <a:latin typeface="+mn-lt"/>
                <a:ea typeface="+mj-ea"/>
                <a:cs typeface="+mj-cs"/>
              </a:defRPr>
            </a:lvl1pPr>
          </a:lstStyle>
          <a:p>
            <a:r>
              <a:rPr lang="en-US" dirty="0"/>
              <a:t>High Level Requirements</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BCE19477-3087-4AD7-1F2B-C48084DB836F}"/>
                  </a:ext>
                </a:extLst>
              </p:cNvPr>
              <p:cNvGraphicFramePr>
                <a:graphicFrameLocks noGrp="1"/>
              </p:cNvGraphicFramePr>
              <p:nvPr>
                <p:extLst>
                  <p:ext uri="{D42A27DB-BD31-4B8C-83A1-F6EECF244321}">
                    <p14:modId xmlns:p14="http://schemas.microsoft.com/office/powerpoint/2010/main" val="261136373"/>
                  </p:ext>
                </p:extLst>
              </p:nvPr>
            </p:nvGraphicFramePr>
            <p:xfrm>
              <a:off x="1129546" y="940595"/>
              <a:ext cx="9950824" cy="4101740"/>
            </p:xfrm>
            <a:graphic>
              <a:graphicData uri="http://schemas.openxmlformats.org/drawingml/2006/table">
                <a:tbl>
                  <a:tblPr firstRow="1" bandRow="1">
                    <a:tableStyleId>{7DF18680-E054-41AD-8BC1-D1AEF772440D}</a:tableStyleId>
                  </a:tblPr>
                  <a:tblGrid>
                    <a:gridCol w="4975412">
                      <a:extLst>
                        <a:ext uri="{9D8B030D-6E8A-4147-A177-3AD203B41FA5}">
                          <a16:colId xmlns:a16="http://schemas.microsoft.com/office/drawing/2014/main" val="508340409"/>
                        </a:ext>
                      </a:extLst>
                    </a:gridCol>
                    <a:gridCol w="4975412">
                      <a:extLst>
                        <a:ext uri="{9D8B030D-6E8A-4147-A177-3AD203B41FA5}">
                          <a16:colId xmlns:a16="http://schemas.microsoft.com/office/drawing/2014/main" val="1498764769"/>
                        </a:ext>
                      </a:extLst>
                    </a:gridCol>
                  </a:tblGrid>
                  <a:tr h="416232">
                    <a:tc>
                      <a:txBody>
                        <a:bodyPr/>
                        <a:lstStyle/>
                        <a:p>
                          <a:pPr algn="ctr"/>
                          <a:r>
                            <a:rPr lang="en-US" sz="1600"/>
                            <a:t>Polarized Electron Beams</a:t>
                          </a:r>
                        </a:p>
                      </a:txBody>
                      <a:tcPr/>
                    </a:tc>
                    <a:tc>
                      <a:txBody>
                        <a:bodyPr/>
                        <a:lstStyle/>
                        <a:p>
                          <a:pPr algn="ctr"/>
                          <a:r>
                            <a:rPr lang="en-US" sz="1600"/>
                            <a:t>Polarized Hadron Beams</a:t>
                          </a:r>
                        </a:p>
                      </a:txBody>
                      <a:tcPr/>
                    </a:tc>
                    <a:extLst>
                      <a:ext uri="{0D108BD9-81ED-4DB2-BD59-A6C34878D82A}">
                        <a16:rowId xmlns:a16="http://schemas.microsoft.com/office/drawing/2014/main" val="344432297"/>
                      </a:ext>
                    </a:extLst>
                  </a:tr>
                  <a:tr h="416232">
                    <a:tc gridSpan="2">
                      <a:txBody>
                        <a:bodyPr/>
                        <a:lstStyle/>
                        <a:p>
                          <a:pPr algn="ctr"/>
                          <a:r>
                            <a:rPr lang="en-US" sz="1400" dirty="0"/>
                            <a:t>Highly polarized beams, </a:t>
                          </a:r>
                          <a14:m>
                            <m:oMath xmlns:m="http://schemas.openxmlformats.org/officeDocument/2006/math">
                              <m:r>
                                <a:rPr lang="en-US" sz="1400" i="1" dirty="0" smtClean="0">
                                  <a:latin typeface="Cambria Math" panose="02040503050406030204" pitchFamily="18" charset="0"/>
                                </a:rPr>
                                <m:t>𝑃</m:t>
                              </m:r>
                              <m:r>
                                <a:rPr lang="en-US" sz="1400" i="1" dirty="0" smtClean="0">
                                  <a:latin typeface="Cambria Math" panose="02040503050406030204" pitchFamily="18" charset="0"/>
                                </a:rPr>
                                <m:t>≈70%</m:t>
                              </m:r>
                            </m:oMath>
                          </a14:m>
                          <a:endParaRPr lang="en-US" sz="1400" dirty="0"/>
                        </a:p>
                      </a:txBody>
                      <a:tcPr/>
                    </a:tc>
                    <a:tc hMerge="1">
                      <a:txBody>
                        <a:bodyPr/>
                        <a:lstStyle/>
                        <a:p>
                          <a:pPr algn="ctr"/>
                          <a:endParaRPr lang="en-US" sz="2000"/>
                        </a:p>
                      </a:txBody>
                      <a:tcPr/>
                    </a:tc>
                    <a:extLst>
                      <a:ext uri="{0D108BD9-81ED-4DB2-BD59-A6C34878D82A}">
                        <a16:rowId xmlns:a16="http://schemas.microsoft.com/office/drawing/2014/main" val="1908533230"/>
                      </a:ext>
                    </a:extLst>
                  </a:tr>
                  <a:tr h="416232">
                    <a:tc gridSpan="2">
                      <a:txBody>
                        <a:bodyPr/>
                        <a:lstStyle/>
                        <a:p>
                          <a:pPr algn="ctr"/>
                          <a:r>
                            <a:rPr lang="en-US" sz="1400" dirty="0"/>
                            <a:t>Fast feedback for machine setup</a:t>
                          </a:r>
                        </a:p>
                      </a:txBody>
                      <a:tcPr/>
                    </a:tc>
                    <a:tc hMerge="1">
                      <a:txBody>
                        <a:bodyPr/>
                        <a:lstStyle/>
                        <a:p>
                          <a:endParaRPr lang="en-US"/>
                        </a:p>
                      </a:txBody>
                      <a:tcPr/>
                    </a:tc>
                    <a:extLst>
                      <a:ext uri="{0D108BD9-81ED-4DB2-BD59-A6C34878D82A}">
                        <a16:rowId xmlns:a16="http://schemas.microsoft.com/office/drawing/2014/main" val="2395819216"/>
                      </a:ext>
                    </a:extLst>
                  </a:tr>
                  <a:tr h="416232">
                    <a:tc gridSpan="2">
                      <a:txBody>
                        <a:bodyPr/>
                        <a:lstStyle/>
                        <a:p>
                          <a:pPr algn="ctr"/>
                          <a:r>
                            <a:rPr lang="en-US" sz="1400"/>
                            <a:t>Excellent measurement of absolute polarization, </a:t>
                          </a:r>
                          <a14:m>
                            <m:oMath xmlns:m="http://schemas.openxmlformats.org/officeDocument/2006/math">
                              <m:r>
                                <m:rPr>
                                  <m:sty m:val="p"/>
                                </m:rPr>
                                <a:rPr lang="el-GR" sz="1400" i="0" dirty="0" smtClean="0">
                                  <a:latin typeface="Cambria Math" panose="02040503050406030204" pitchFamily="18" charset="0"/>
                                </a:rPr>
                                <m:t>Δ</m:t>
                              </m:r>
                              <m:r>
                                <a:rPr lang="en-US" sz="1400" i="1" dirty="0">
                                  <a:latin typeface="Cambria Math" panose="02040503050406030204" pitchFamily="18" charset="0"/>
                                </a:rPr>
                                <m:t>𝑃</m:t>
                              </m:r>
                              <m:r>
                                <a:rPr lang="en-US" sz="1400" i="1" dirty="0">
                                  <a:latin typeface="Cambria Math" panose="02040503050406030204" pitchFamily="18" charset="0"/>
                                </a:rPr>
                                <m:t>/</m:t>
                              </m:r>
                              <m:r>
                                <a:rPr lang="en-US" sz="1400" i="1" dirty="0">
                                  <a:latin typeface="Cambria Math" panose="02040503050406030204" pitchFamily="18" charset="0"/>
                                </a:rPr>
                                <m:t>𝑃</m:t>
                              </m:r>
                              <m:r>
                                <a:rPr lang="el-GR" sz="1400" i="1" dirty="0">
                                  <a:latin typeface="Cambria Math" panose="02040503050406030204" pitchFamily="18" charset="0"/>
                                </a:rPr>
                                <m:t>≈</m:t>
                              </m:r>
                              <m:r>
                                <a:rPr lang="en-US" sz="1400" i="1" dirty="0">
                                  <a:latin typeface="Cambria Math" panose="02040503050406030204" pitchFamily="18" charset="0"/>
                                </a:rPr>
                                <m:t>1%</m:t>
                              </m:r>
                            </m:oMath>
                          </a14:m>
                          <a:endParaRPr lang="en-US" sz="1400"/>
                        </a:p>
                      </a:txBody>
                      <a:tcPr/>
                    </a:tc>
                    <a:tc hMerge="1">
                      <a:txBody>
                        <a:bodyPr/>
                        <a:lstStyle/>
                        <a:p>
                          <a:pPr algn="ctr"/>
                          <a:endParaRPr lang="en-US" sz="2000"/>
                        </a:p>
                      </a:txBody>
                      <a:tcPr/>
                    </a:tc>
                    <a:extLst>
                      <a:ext uri="{0D108BD9-81ED-4DB2-BD59-A6C34878D82A}">
                        <a16:rowId xmlns:a16="http://schemas.microsoft.com/office/drawing/2014/main" val="325285906"/>
                      </a:ext>
                    </a:extLst>
                  </a:tr>
                  <a:tr h="41623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Non-destructive polarimetry</a:t>
                          </a:r>
                        </a:p>
                      </a:txBody>
                      <a:tcPr/>
                    </a:tc>
                    <a:tc hMerge="1">
                      <a:txBody>
                        <a:bodyPr/>
                        <a:lstStyle/>
                        <a:p>
                          <a:pPr algn="ctr"/>
                          <a:endParaRPr lang="en-US" sz="2000"/>
                        </a:p>
                      </a:txBody>
                      <a:tcPr/>
                    </a:tc>
                    <a:extLst>
                      <a:ext uri="{0D108BD9-81ED-4DB2-BD59-A6C34878D82A}">
                        <a16:rowId xmlns:a16="http://schemas.microsoft.com/office/drawing/2014/main" val="203491023"/>
                      </a:ext>
                    </a:extLst>
                  </a:tr>
                  <a:tr h="594058">
                    <a:tc gridSpan="2">
                      <a:txBody>
                        <a:bodyPr/>
                        <a:lstStyle/>
                        <a:p>
                          <a:pPr marL="0" marR="0" lvl="0" indent="0" algn="ctr" rtl="0" eaLnBrk="1" fontAlgn="auto" latinLnBrk="0" hangingPunct="1">
                            <a:lnSpc>
                              <a:spcPct val="100000"/>
                            </a:lnSpc>
                            <a:spcBef>
                              <a:spcPts val="0"/>
                            </a:spcBef>
                            <a:spcAft>
                              <a:spcPts val="0"/>
                            </a:spcAft>
                            <a:buClrTx/>
                            <a:buSzTx/>
                            <a:buFontTx/>
                            <a:buNone/>
                          </a:pPr>
                          <a:r>
                            <a:rPr lang="en-US" sz="1400"/>
                            <a:t>Bunch-by-bunch polarization measurement</a:t>
                          </a:r>
                          <a:br>
                            <a:rPr lang="en-US" sz="1400"/>
                          </a:br>
                          <a:r>
                            <a:rPr lang="en-US" sz="1400"/>
                            <a:t>(fill pattern: </a:t>
                          </a:r>
                          <a14:m>
                            <m:oMath xmlns:m="http://schemas.openxmlformats.org/officeDocument/2006/math">
                              <m:sSup>
                                <m:sSupPr>
                                  <m:ctrlPr>
                                    <a:rPr lang="en-US" sz="1400" i="1" smtClean="0">
                                      <a:latin typeface="Cambria Math" panose="02040503050406030204" pitchFamily="18" charset="0"/>
                                    </a:rPr>
                                  </m:ctrlPr>
                                </m:sSupPr>
                                <m:e>
                                  <m:r>
                                    <a:rPr lang="en-US" sz="1400" b="0" i="1" smtClean="0">
                                      <a:latin typeface="Cambria Math" panose="02040503050406030204" pitchFamily="18" charset="0"/>
                                    </a:rPr>
                                    <m:t>𝑃</m:t>
                                  </m:r>
                                </m:e>
                                <m:sup>
                                  <m:r>
                                    <a:rPr lang="en-US" sz="1400" i="1" smtClean="0">
                                      <a:latin typeface="Cambria Math" panose="02040503050406030204" pitchFamily="18" charset="0"/>
                                      <a:ea typeface="Cambria Math" panose="02040503050406030204" pitchFamily="18" charset="0"/>
                                    </a:rPr>
                                    <m:t>↑</m:t>
                                  </m:r>
                                </m:sup>
                              </m:sSup>
                            </m:oMath>
                          </a14:m>
                          <a:r>
                            <a:rPr lang="en-US" sz="1400" b="0" i="0" u="none" strike="noStrike" noProof="0">
                              <a:solidFill>
                                <a:srgbClr val="000000"/>
                              </a:solidFill>
                              <a:latin typeface="Arial"/>
                            </a:rPr>
                            <a:t>,</a:t>
                          </a:r>
                          <a14:m>
                            <m:oMath xmlns:m="http://schemas.openxmlformats.org/officeDocument/2006/math">
                              <m:sSup>
                                <m:sSupPr>
                                  <m:ctrlPr>
                                    <a:rPr lang="en-US" sz="1400" b="0" i="1" u="none" strike="noStrike" noProof="0" smtClean="0">
                                      <a:solidFill>
                                        <a:srgbClr val="000000"/>
                                      </a:solidFill>
                                      <a:latin typeface="Cambria Math" panose="02040503050406030204" pitchFamily="18" charset="0"/>
                                    </a:rPr>
                                  </m:ctrlPr>
                                </m:sSupPr>
                                <m:e>
                                  <m:r>
                                    <a:rPr lang="en-US" sz="1400" b="0" i="1" u="none" strike="noStrike" noProof="0" smtClean="0">
                                      <a:solidFill>
                                        <a:srgbClr val="000000"/>
                                      </a:solidFill>
                                      <a:latin typeface="Cambria Math" panose="02040503050406030204" pitchFamily="18" charset="0"/>
                                    </a:rPr>
                                    <m:t>𝑃</m:t>
                                  </m:r>
                                </m:e>
                                <m:sup>
                                  <m:r>
                                    <a:rPr lang="en-US" sz="1400" b="0" i="1" u="none" strike="noStrike" noProof="0" smtClean="0">
                                      <a:solidFill>
                                        <a:srgbClr val="000000"/>
                                      </a:solidFill>
                                      <a:latin typeface="Cambria Math" panose="02040503050406030204" pitchFamily="18" charset="0"/>
                                      <a:ea typeface="Cambria Math" panose="02040503050406030204" pitchFamily="18" charset="0"/>
                                    </a:rPr>
                                    <m:t>↓</m:t>
                                  </m:r>
                                </m:sup>
                              </m:sSup>
                            </m:oMath>
                          </a14:m>
                          <a:r>
                            <a:rPr lang="en-US" sz="1400" b="0" i="0" u="none" strike="noStrike" noProof="0">
                              <a:solidFill>
                                <a:srgbClr val="000000"/>
                              </a:solidFill>
                              <a:latin typeface="Arial"/>
                            </a:rPr>
                            <a:t>,</a:t>
                          </a:r>
                          <a:r>
                            <a:rPr lang="en-US" sz="1400"/>
                            <a:t> </a:t>
                          </a:r>
                          <a14:m>
                            <m:oMath xmlns:m="http://schemas.openxmlformats.org/officeDocument/2006/math">
                              <m:r>
                                <m:rPr>
                                  <m:sty m:val="p"/>
                                </m:rPr>
                                <a:rPr lang="el-GR" sz="1400" i="0" dirty="0" smtClean="0">
                                  <a:latin typeface="Cambria Math" panose="02040503050406030204" pitchFamily="18" charset="0"/>
                                </a:rPr>
                                <m:t>Δ</m:t>
                              </m:r>
                              <m:r>
                                <a:rPr lang="en-US" sz="1400" i="1" dirty="0">
                                  <a:latin typeface="Cambria Math" panose="02040503050406030204" pitchFamily="18" charset="0"/>
                                </a:rPr>
                                <m:t>𝑡</m:t>
                              </m:r>
                              <m:r>
                                <a:rPr lang="en-US" sz="1400" i="1" dirty="0">
                                  <a:latin typeface="Cambria Math" panose="02040503050406030204" pitchFamily="18" charset="0"/>
                                </a:rPr>
                                <m:t>≈10 </m:t>
                              </m:r>
                              <m:r>
                                <m:rPr>
                                  <m:sty m:val="p"/>
                                </m:rPr>
                                <a:rPr lang="en-US" sz="1400" i="0" dirty="0">
                                  <a:latin typeface="Cambria Math" panose="02040503050406030204" pitchFamily="18" charset="0"/>
                                </a:rPr>
                                <m:t>ns</m:t>
                              </m:r>
                            </m:oMath>
                          </a14:m>
                          <a:r>
                            <a:rPr lang="en-US" sz="1400"/>
                            <a:t>)</a:t>
                          </a:r>
                        </a:p>
                      </a:txBody>
                      <a:tcPr/>
                    </a:tc>
                    <a:tc hMerge="1">
                      <a:txBody>
                        <a:bodyPr/>
                        <a:lstStyle/>
                        <a:p>
                          <a:pPr algn="ctr"/>
                          <a:endParaRPr lang="en-US" sz="2000"/>
                        </a:p>
                      </a:txBody>
                      <a:tcPr/>
                    </a:tc>
                    <a:extLst>
                      <a:ext uri="{0D108BD9-81ED-4DB2-BD59-A6C34878D82A}">
                        <a16:rowId xmlns:a16="http://schemas.microsoft.com/office/drawing/2014/main" val="2455010160"/>
                      </a:ext>
                    </a:extLst>
                  </a:tr>
                  <a:tr h="594058">
                    <a:tc>
                      <a:txBody>
                        <a:bodyPr/>
                        <a:lstStyle/>
                        <a:p>
                          <a:pPr algn="ctr"/>
                          <a:r>
                            <a:rPr lang="en-US" sz="1400"/>
                            <a:t>Bunch replacement every few minutes (Sokolov-Ternov, </a:t>
                          </a:r>
                          <a14:m>
                            <m:oMath xmlns:m="http://schemas.openxmlformats.org/officeDocument/2006/math">
                              <m:r>
                                <a:rPr lang="en-US" sz="1400" i="1" smtClean="0">
                                  <a:latin typeface="Cambria Math" panose="02040503050406030204" pitchFamily="18" charset="0"/>
                                  <a:ea typeface="Cambria Math" panose="02040503050406030204" pitchFamily="18" charset="0"/>
                                </a:rPr>
                                <m:t>∆</m:t>
                              </m:r>
                              <m:sSup>
                                <m:sSupPr>
                                  <m:ctrlPr>
                                    <a:rPr lang="en-US" sz="140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𝑃</m:t>
                                  </m:r>
                                </m:e>
                                <m:sup>
                                  <m:r>
                                    <a:rPr lang="en-US" sz="1400" i="1" smtClean="0">
                                      <a:latin typeface="Cambria Math" panose="02040503050406030204" pitchFamily="18" charset="0"/>
                                      <a:ea typeface="Cambria Math" panose="02040503050406030204" pitchFamily="18" charset="0"/>
                                    </a:rPr>
                                    <m:t>↑</m:t>
                                  </m:r>
                                </m:sup>
                              </m:sSup>
                              <m:r>
                                <a:rPr lang="en-US" sz="1400" i="1" smtClean="0">
                                  <a:latin typeface="Cambria Math" panose="02040503050406030204" pitchFamily="18" charset="0"/>
                                  <a:ea typeface="Cambria Math" panose="02040503050406030204" pitchFamily="18" charset="0"/>
                                </a:rPr>
                                <m:t>≠∆</m:t>
                              </m:r>
                              <m:sSup>
                                <m:sSupPr>
                                  <m:ctrlPr>
                                    <a:rPr lang="en-US" sz="140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𝑃</m:t>
                                  </m:r>
                                </m:e>
                                <m:sup>
                                  <m:r>
                                    <a:rPr lang="en-US" sz="1400" i="1" smtClean="0">
                                      <a:latin typeface="Cambria Math" panose="02040503050406030204" pitchFamily="18" charset="0"/>
                                      <a:ea typeface="Cambria Math" panose="02040503050406030204" pitchFamily="18" charset="0"/>
                                    </a:rPr>
                                    <m:t>↓</m:t>
                                  </m:r>
                                </m:sup>
                              </m:sSup>
                            </m:oMath>
                          </a14:m>
                          <a:r>
                            <a:rPr lang="en-US" sz="1400"/>
                            <a:t>)  </a:t>
                          </a:r>
                        </a:p>
                      </a:txBody>
                      <a:tcPr/>
                    </a:tc>
                    <a:tc>
                      <a:txBody>
                        <a:bodyPr/>
                        <a:lstStyle/>
                        <a:p>
                          <a:pPr algn="ctr"/>
                          <a:r>
                            <a:rPr lang="en-US" sz="1400"/>
                            <a:t>Polarization decay</a:t>
                          </a:r>
                        </a:p>
                        <a:p>
                          <a:pPr algn="ctr"/>
                          <a:r>
                            <a:rPr lang="en-US" sz="1400"/>
                            <a:t>(</a:t>
                          </a:r>
                          <a14:m>
                            <m:oMath xmlns:m="http://schemas.openxmlformats.org/officeDocument/2006/math">
                              <m:r>
                                <a:rPr lang="en-US" sz="1400" b="0" i="1" dirty="0" smtClean="0">
                                  <a:latin typeface="Cambria Math" panose="02040503050406030204" pitchFamily="18" charset="0"/>
                                  <a:ea typeface="Cambria Math" panose="02040503050406030204" pitchFamily="18" charset="0"/>
                                </a:rPr>
                                <m:t>∆</m:t>
                              </m:r>
                              <m:r>
                                <a:rPr lang="en-US" sz="1400" b="0" i="1" dirty="0" smtClean="0">
                                  <a:latin typeface="Cambria Math" panose="02040503050406030204" pitchFamily="18" charset="0"/>
                                  <a:ea typeface="Cambria Math" panose="02040503050406030204" pitchFamily="18" charset="0"/>
                                </a:rPr>
                                <m:t>𝑃</m:t>
                              </m:r>
                              <m:r>
                                <a:rPr lang="en-US" sz="1400" i="1" dirty="0">
                                  <a:latin typeface="Cambria Math" panose="02040503050406030204" pitchFamily="18" charset="0"/>
                                </a:rPr>
                                <m:t>≈1−2%/</m:t>
                              </m:r>
                              <m:r>
                                <m:rPr>
                                  <m:sty m:val="p"/>
                                </m:rPr>
                                <a:rPr lang="en-US" sz="1400" i="0" dirty="0">
                                  <a:latin typeface="Cambria Math" panose="02040503050406030204" pitchFamily="18" charset="0"/>
                                </a:rPr>
                                <m:t>h</m:t>
                              </m:r>
                            </m:oMath>
                          </a14:m>
                          <a:r>
                            <a:rPr lang="en-US" sz="1400"/>
                            <a:t>)</a:t>
                          </a:r>
                        </a:p>
                      </a:txBody>
                      <a:tcPr/>
                    </a:tc>
                    <a:extLst>
                      <a:ext uri="{0D108BD9-81ED-4DB2-BD59-A6C34878D82A}">
                        <a16:rowId xmlns:a16="http://schemas.microsoft.com/office/drawing/2014/main" val="1027542659"/>
                      </a:ext>
                    </a:extLst>
                  </a:tr>
                  <a:tr h="416232">
                    <a:tc>
                      <a:txBody>
                        <a:bodyPr/>
                        <a:lstStyle/>
                        <a:p>
                          <a:pPr algn="ctr"/>
                          <a:endParaRPr lang="en-US" sz="1400" dirty="0"/>
                        </a:p>
                      </a:txBody>
                      <a:tcPr/>
                    </a:tc>
                    <a:tc>
                      <a:txBody>
                        <a:bodyPr/>
                        <a:lstStyle/>
                        <a:p>
                          <a:pPr algn="ctr"/>
                          <a:r>
                            <a:rPr lang="en-US" sz="1400" dirty="0"/>
                            <a:t>Transverse bunch polarization profile</a:t>
                          </a:r>
                        </a:p>
                      </a:txBody>
                      <a:tcPr/>
                    </a:tc>
                    <a:extLst>
                      <a:ext uri="{0D108BD9-81ED-4DB2-BD59-A6C34878D82A}">
                        <a16:rowId xmlns:a16="http://schemas.microsoft.com/office/drawing/2014/main" val="255344349"/>
                      </a:ext>
                    </a:extLst>
                  </a:tr>
                  <a:tr h="416232">
                    <a:tc gridSpan="2">
                      <a:txBody>
                        <a:bodyPr/>
                        <a:lstStyle/>
                        <a:p>
                          <a:pPr algn="ctr"/>
                          <a:r>
                            <a:rPr lang="en-US" sz="1400" dirty="0"/>
                            <a:t>Polarization vector at experiment (transverse, longitudinal)</a:t>
                          </a:r>
                        </a:p>
                      </a:txBody>
                      <a:tcPr/>
                    </a:tc>
                    <a:tc hMerge="1">
                      <a:txBody>
                        <a:bodyPr/>
                        <a:lstStyle/>
                        <a:p>
                          <a:pPr algn="ctr"/>
                          <a:endParaRPr lang="en-US" sz="2000"/>
                        </a:p>
                      </a:txBody>
                      <a:tcPr/>
                    </a:tc>
                    <a:extLst>
                      <a:ext uri="{0D108BD9-81ED-4DB2-BD59-A6C34878D82A}">
                        <a16:rowId xmlns:a16="http://schemas.microsoft.com/office/drawing/2014/main" val="3863859347"/>
                      </a:ext>
                    </a:extLst>
                  </a:tr>
                </a:tbl>
              </a:graphicData>
            </a:graphic>
          </p:graphicFrame>
        </mc:Choice>
        <mc:Fallback xmlns="">
          <p:graphicFrame>
            <p:nvGraphicFramePr>
              <p:cNvPr id="3" name="Table 2">
                <a:extLst>
                  <a:ext uri="{FF2B5EF4-FFF2-40B4-BE49-F238E27FC236}">
                    <a16:creationId xmlns:a16="http://schemas.microsoft.com/office/drawing/2014/main" id="{BCE19477-3087-4AD7-1F2B-C48084DB836F}"/>
                  </a:ext>
                </a:extLst>
              </p:cNvPr>
              <p:cNvGraphicFramePr>
                <a:graphicFrameLocks noGrp="1"/>
              </p:cNvGraphicFramePr>
              <p:nvPr>
                <p:extLst>
                  <p:ext uri="{D42A27DB-BD31-4B8C-83A1-F6EECF244321}">
                    <p14:modId xmlns:p14="http://schemas.microsoft.com/office/powerpoint/2010/main" val="261136373"/>
                  </p:ext>
                </p:extLst>
              </p:nvPr>
            </p:nvGraphicFramePr>
            <p:xfrm>
              <a:off x="1129546" y="940595"/>
              <a:ext cx="9950824" cy="4101740"/>
            </p:xfrm>
            <a:graphic>
              <a:graphicData uri="http://schemas.openxmlformats.org/drawingml/2006/table">
                <a:tbl>
                  <a:tblPr firstRow="1" bandRow="1">
                    <a:tableStyleId>{7DF18680-E054-41AD-8BC1-D1AEF772440D}</a:tableStyleId>
                  </a:tblPr>
                  <a:tblGrid>
                    <a:gridCol w="4975412">
                      <a:extLst>
                        <a:ext uri="{9D8B030D-6E8A-4147-A177-3AD203B41FA5}">
                          <a16:colId xmlns:a16="http://schemas.microsoft.com/office/drawing/2014/main" val="508340409"/>
                        </a:ext>
                      </a:extLst>
                    </a:gridCol>
                    <a:gridCol w="4975412">
                      <a:extLst>
                        <a:ext uri="{9D8B030D-6E8A-4147-A177-3AD203B41FA5}">
                          <a16:colId xmlns:a16="http://schemas.microsoft.com/office/drawing/2014/main" val="1498764769"/>
                        </a:ext>
                      </a:extLst>
                    </a:gridCol>
                  </a:tblGrid>
                  <a:tr h="416232">
                    <a:tc>
                      <a:txBody>
                        <a:bodyPr/>
                        <a:lstStyle/>
                        <a:p>
                          <a:pPr algn="ctr"/>
                          <a:r>
                            <a:rPr lang="en-US" sz="1600"/>
                            <a:t>Polarized Electron Beams</a:t>
                          </a:r>
                        </a:p>
                      </a:txBody>
                      <a:tcPr/>
                    </a:tc>
                    <a:tc>
                      <a:txBody>
                        <a:bodyPr/>
                        <a:lstStyle/>
                        <a:p>
                          <a:pPr algn="ctr"/>
                          <a:r>
                            <a:rPr lang="en-US" sz="1600"/>
                            <a:t>Polarized Hadron Beams</a:t>
                          </a:r>
                        </a:p>
                      </a:txBody>
                      <a:tcPr/>
                    </a:tc>
                    <a:extLst>
                      <a:ext uri="{0D108BD9-81ED-4DB2-BD59-A6C34878D82A}">
                        <a16:rowId xmlns:a16="http://schemas.microsoft.com/office/drawing/2014/main" val="344432297"/>
                      </a:ext>
                    </a:extLst>
                  </a:tr>
                  <a:tr h="416232">
                    <a:tc gridSpan="2">
                      <a:txBody>
                        <a:bodyPr/>
                        <a:lstStyle/>
                        <a:p>
                          <a:endParaRPr lang="en-US"/>
                        </a:p>
                      </a:txBody>
                      <a:tcPr>
                        <a:blipFill>
                          <a:blip r:embed="rId2"/>
                          <a:stretch>
                            <a:fillRect t="-106061" r="-255" b="-784848"/>
                          </a:stretch>
                        </a:blipFill>
                      </a:tcPr>
                    </a:tc>
                    <a:tc hMerge="1">
                      <a:txBody>
                        <a:bodyPr/>
                        <a:lstStyle/>
                        <a:p>
                          <a:pPr algn="ctr"/>
                          <a:endParaRPr lang="en-US" sz="2000"/>
                        </a:p>
                      </a:txBody>
                      <a:tcPr/>
                    </a:tc>
                    <a:extLst>
                      <a:ext uri="{0D108BD9-81ED-4DB2-BD59-A6C34878D82A}">
                        <a16:rowId xmlns:a16="http://schemas.microsoft.com/office/drawing/2014/main" val="1908533230"/>
                      </a:ext>
                    </a:extLst>
                  </a:tr>
                  <a:tr h="416232">
                    <a:tc gridSpan="2">
                      <a:txBody>
                        <a:bodyPr/>
                        <a:lstStyle/>
                        <a:p>
                          <a:pPr algn="ctr"/>
                          <a:r>
                            <a:rPr lang="en-US" sz="1400" dirty="0"/>
                            <a:t>Fast feedback for machine setup</a:t>
                          </a:r>
                        </a:p>
                      </a:txBody>
                      <a:tcPr/>
                    </a:tc>
                    <a:tc hMerge="1">
                      <a:txBody>
                        <a:bodyPr/>
                        <a:lstStyle/>
                        <a:p>
                          <a:endParaRPr lang="en-US"/>
                        </a:p>
                      </a:txBody>
                      <a:tcPr/>
                    </a:tc>
                    <a:extLst>
                      <a:ext uri="{0D108BD9-81ED-4DB2-BD59-A6C34878D82A}">
                        <a16:rowId xmlns:a16="http://schemas.microsoft.com/office/drawing/2014/main" val="2395819216"/>
                      </a:ext>
                    </a:extLst>
                  </a:tr>
                  <a:tr h="416232">
                    <a:tc gridSpan="2">
                      <a:txBody>
                        <a:bodyPr/>
                        <a:lstStyle/>
                        <a:p>
                          <a:endParaRPr lang="en-US"/>
                        </a:p>
                      </a:txBody>
                      <a:tcPr>
                        <a:blipFill>
                          <a:blip r:embed="rId2"/>
                          <a:stretch>
                            <a:fillRect t="-306061" r="-255" b="-584848"/>
                          </a:stretch>
                        </a:blipFill>
                      </a:tcPr>
                    </a:tc>
                    <a:tc hMerge="1">
                      <a:txBody>
                        <a:bodyPr/>
                        <a:lstStyle/>
                        <a:p>
                          <a:pPr algn="ctr"/>
                          <a:endParaRPr lang="en-US" sz="2000"/>
                        </a:p>
                      </a:txBody>
                      <a:tcPr/>
                    </a:tc>
                    <a:extLst>
                      <a:ext uri="{0D108BD9-81ED-4DB2-BD59-A6C34878D82A}">
                        <a16:rowId xmlns:a16="http://schemas.microsoft.com/office/drawing/2014/main" val="325285906"/>
                      </a:ext>
                    </a:extLst>
                  </a:tr>
                  <a:tr h="416232">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Non-destructive polarimetry</a:t>
                          </a:r>
                        </a:p>
                      </a:txBody>
                      <a:tcPr/>
                    </a:tc>
                    <a:tc hMerge="1">
                      <a:txBody>
                        <a:bodyPr/>
                        <a:lstStyle/>
                        <a:p>
                          <a:pPr algn="ctr"/>
                          <a:endParaRPr lang="en-US" sz="2000"/>
                        </a:p>
                      </a:txBody>
                      <a:tcPr/>
                    </a:tc>
                    <a:extLst>
                      <a:ext uri="{0D108BD9-81ED-4DB2-BD59-A6C34878D82A}">
                        <a16:rowId xmlns:a16="http://schemas.microsoft.com/office/drawing/2014/main" val="203491023"/>
                      </a:ext>
                    </a:extLst>
                  </a:tr>
                  <a:tr h="594058">
                    <a:tc gridSpan="2">
                      <a:txBody>
                        <a:bodyPr/>
                        <a:lstStyle/>
                        <a:p>
                          <a:endParaRPr lang="en-US"/>
                        </a:p>
                      </a:txBody>
                      <a:tcPr>
                        <a:blipFill>
                          <a:blip r:embed="rId2"/>
                          <a:stretch>
                            <a:fillRect t="-353191" r="-255" b="-242553"/>
                          </a:stretch>
                        </a:blipFill>
                      </a:tcPr>
                    </a:tc>
                    <a:tc hMerge="1">
                      <a:txBody>
                        <a:bodyPr/>
                        <a:lstStyle/>
                        <a:p>
                          <a:pPr algn="ctr"/>
                          <a:endParaRPr lang="en-US" sz="2000"/>
                        </a:p>
                      </a:txBody>
                      <a:tcPr/>
                    </a:tc>
                    <a:extLst>
                      <a:ext uri="{0D108BD9-81ED-4DB2-BD59-A6C34878D82A}">
                        <a16:rowId xmlns:a16="http://schemas.microsoft.com/office/drawing/2014/main" val="2455010160"/>
                      </a:ext>
                    </a:extLst>
                  </a:tr>
                  <a:tr h="594058">
                    <a:tc>
                      <a:txBody>
                        <a:bodyPr/>
                        <a:lstStyle/>
                        <a:p>
                          <a:endParaRPr lang="en-US"/>
                        </a:p>
                      </a:txBody>
                      <a:tcPr>
                        <a:blipFill>
                          <a:blip r:embed="rId2"/>
                          <a:stretch>
                            <a:fillRect t="-453191" r="-100254" b="-142553"/>
                          </a:stretch>
                        </a:blipFill>
                      </a:tcPr>
                    </a:tc>
                    <a:tc>
                      <a:txBody>
                        <a:bodyPr/>
                        <a:lstStyle/>
                        <a:p>
                          <a:endParaRPr lang="en-US"/>
                        </a:p>
                      </a:txBody>
                      <a:tcPr>
                        <a:blipFill>
                          <a:blip r:embed="rId2"/>
                          <a:stretch>
                            <a:fillRect l="-100255" t="-453191" r="-510" b="-142553"/>
                          </a:stretch>
                        </a:blipFill>
                      </a:tcPr>
                    </a:tc>
                    <a:extLst>
                      <a:ext uri="{0D108BD9-81ED-4DB2-BD59-A6C34878D82A}">
                        <a16:rowId xmlns:a16="http://schemas.microsoft.com/office/drawing/2014/main" val="1027542659"/>
                      </a:ext>
                    </a:extLst>
                  </a:tr>
                  <a:tr h="416232">
                    <a:tc>
                      <a:txBody>
                        <a:bodyPr/>
                        <a:lstStyle/>
                        <a:p>
                          <a:pPr algn="ctr"/>
                          <a:endParaRPr lang="en-US" sz="1400" dirty="0"/>
                        </a:p>
                      </a:txBody>
                      <a:tcPr/>
                    </a:tc>
                    <a:tc>
                      <a:txBody>
                        <a:bodyPr/>
                        <a:lstStyle/>
                        <a:p>
                          <a:pPr algn="ctr"/>
                          <a:r>
                            <a:rPr lang="en-US" sz="1400" dirty="0"/>
                            <a:t>Transverse bunch polarization profile</a:t>
                          </a:r>
                        </a:p>
                      </a:txBody>
                      <a:tcPr/>
                    </a:tc>
                    <a:extLst>
                      <a:ext uri="{0D108BD9-81ED-4DB2-BD59-A6C34878D82A}">
                        <a16:rowId xmlns:a16="http://schemas.microsoft.com/office/drawing/2014/main" val="255344349"/>
                      </a:ext>
                    </a:extLst>
                  </a:tr>
                  <a:tr h="416232">
                    <a:tc gridSpan="2">
                      <a:txBody>
                        <a:bodyPr/>
                        <a:lstStyle/>
                        <a:p>
                          <a:pPr algn="ctr"/>
                          <a:r>
                            <a:rPr lang="en-US" sz="1400" dirty="0"/>
                            <a:t>Polarization vector at experiment (transverse, longitudinal)</a:t>
                          </a:r>
                        </a:p>
                      </a:txBody>
                      <a:tcPr/>
                    </a:tc>
                    <a:tc hMerge="1">
                      <a:txBody>
                        <a:bodyPr/>
                        <a:lstStyle/>
                        <a:p>
                          <a:pPr algn="ctr"/>
                          <a:endParaRPr lang="en-US" sz="2000"/>
                        </a:p>
                      </a:txBody>
                      <a:tcPr/>
                    </a:tc>
                    <a:extLst>
                      <a:ext uri="{0D108BD9-81ED-4DB2-BD59-A6C34878D82A}">
                        <a16:rowId xmlns:a16="http://schemas.microsoft.com/office/drawing/2014/main" val="3863859347"/>
                      </a:ext>
                    </a:extLst>
                  </a:tr>
                </a:tbl>
              </a:graphicData>
            </a:graphic>
          </p:graphicFrame>
        </mc:Fallback>
      </mc:AlternateContent>
      <p:sp>
        <p:nvSpPr>
          <p:cNvPr id="8" name="TextBox 7">
            <a:extLst>
              <a:ext uri="{FF2B5EF4-FFF2-40B4-BE49-F238E27FC236}">
                <a16:creationId xmlns:a16="http://schemas.microsoft.com/office/drawing/2014/main" id="{2F45BE80-F222-023D-E46F-100CE57EBB8E}"/>
              </a:ext>
            </a:extLst>
          </p:cNvPr>
          <p:cNvSpPr txBox="1"/>
          <p:nvPr/>
        </p:nvSpPr>
        <p:spPr>
          <a:xfrm>
            <a:off x="2111195" y="5280516"/>
            <a:ext cx="8202692" cy="646331"/>
          </a:xfrm>
          <a:prstGeom prst="rect">
            <a:avLst/>
          </a:prstGeom>
          <a:noFill/>
        </p:spPr>
        <p:txBody>
          <a:bodyPr wrap="square" rtlCol="0">
            <a:spAutoFit/>
          </a:bodyPr>
          <a:lstStyle/>
          <a:p>
            <a:r>
              <a:rPr lang="en-US" dirty="0"/>
              <a:t>Detector system requirements for Electron Polarimetry and Hadron Polarimetry listed in </a:t>
            </a:r>
            <a:r>
              <a:rPr lang="en-US" dirty="0">
                <a:hlinkClick r:id="rId3"/>
              </a:rPr>
              <a:t>https://eic.jlab.org/Requirements/DET.html</a:t>
            </a:r>
            <a:r>
              <a:rPr lang="en-US" dirty="0"/>
              <a:t> and </a:t>
            </a:r>
            <a:r>
              <a:rPr lang="en-US" dirty="0">
                <a:solidFill>
                  <a:schemeClr val="bg2">
                    <a:lumMod val="75000"/>
                  </a:schemeClr>
                </a:solidFill>
                <a:hlinkClick r:id="rId4">
                  <a:extLst>
                    <a:ext uri="{A12FA001-AC4F-418D-AE19-62706E023703}">
                      <ahyp:hlinkClr xmlns:ahyp="http://schemas.microsoft.com/office/drawing/2018/hyperlinkcolor" val="tx"/>
                    </a:ext>
                  </a:extLst>
                </a:hlinkClick>
              </a:rPr>
              <a:t>here</a:t>
            </a:r>
            <a:r>
              <a:rPr lang="en-US" dirty="0">
                <a:solidFill>
                  <a:schemeClr val="bg2">
                    <a:lumMod val="75000"/>
                  </a:schemeClr>
                </a:solidFill>
              </a:rPr>
              <a:t>.   </a:t>
            </a:r>
          </a:p>
        </p:txBody>
      </p:sp>
      <p:sp>
        <p:nvSpPr>
          <p:cNvPr id="12" name="Left Bracket 11">
            <a:extLst>
              <a:ext uri="{FF2B5EF4-FFF2-40B4-BE49-F238E27FC236}">
                <a16:creationId xmlns:a16="http://schemas.microsoft.com/office/drawing/2014/main" id="{73426A94-6ABF-9BFE-76B8-5CB2BD468AD5}"/>
              </a:ext>
            </a:extLst>
          </p:cNvPr>
          <p:cNvSpPr/>
          <p:nvPr/>
        </p:nvSpPr>
        <p:spPr>
          <a:xfrm>
            <a:off x="1819850" y="5146482"/>
            <a:ext cx="206188" cy="914400"/>
          </a:xfrm>
          <a:prstGeom prst="leftBracket">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ight Bracket 13">
            <a:extLst>
              <a:ext uri="{FF2B5EF4-FFF2-40B4-BE49-F238E27FC236}">
                <a16:creationId xmlns:a16="http://schemas.microsoft.com/office/drawing/2014/main" id="{E2057E0C-B669-BED1-A698-79870334C4F5}"/>
              </a:ext>
            </a:extLst>
          </p:cNvPr>
          <p:cNvSpPr/>
          <p:nvPr/>
        </p:nvSpPr>
        <p:spPr>
          <a:xfrm>
            <a:off x="10458052" y="5146482"/>
            <a:ext cx="295641" cy="914400"/>
          </a:xfrm>
          <a:prstGeom prst="rightBracket">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42602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560BE3-A96C-6F62-D094-305F1E2FBF36}"/>
              </a:ext>
            </a:extLst>
          </p:cNvPr>
          <p:cNvSpPr>
            <a:spLocks noGrp="1"/>
          </p:cNvSpPr>
          <p:nvPr>
            <p:ph type="sldNum" sz="quarter" idx="4"/>
          </p:nvPr>
        </p:nvSpPr>
        <p:spPr/>
        <p:txBody>
          <a:bodyPr/>
          <a:lstStyle/>
          <a:p>
            <a:fld id="{933A556B-7C63-244D-9B7C-B0EA8042B330}" type="slidenum">
              <a:rPr lang="en-US" smtClean="0"/>
              <a:pPr/>
              <a:t>10</a:t>
            </a:fld>
            <a:endParaRPr lang="en-US"/>
          </a:p>
        </p:txBody>
      </p:sp>
      <p:sp>
        <p:nvSpPr>
          <p:cNvPr id="4" name="Title 2">
            <a:extLst>
              <a:ext uri="{FF2B5EF4-FFF2-40B4-BE49-F238E27FC236}">
                <a16:creationId xmlns:a16="http://schemas.microsoft.com/office/drawing/2014/main" id="{8BF67FA5-DA66-0F76-D3A1-F49A99109CEB}"/>
              </a:ext>
            </a:extLst>
          </p:cNvPr>
          <p:cNvSpPr/>
          <p:nvPr/>
        </p:nvSpPr>
        <p:spPr>
          <a:xfrm>
            <a:off x="570960" y="-2160"/>
            <a:ext cx="11498760" cy="82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90000"/>
              </a:lnSpc>
            </a:pPr>
            <a:r>
              <a:rPr lang="en-US" sz="4000" b="1" spc="-1" dirty="0">
                <a:latin typeface="Arial"/>
              </a:rPr>
              <a:t>Recommendations</a:t>
            </a:r>
            <a:endParaRPr lang="en-US" sz="4000" b="1" strike="noStrike" spc="-1" dirty="0">
              <a:latin typeface="Arial"/>
            </a:endParaRPr>
          </a:p>
        </p:txBody>
      </p:sp>
      <p:sp>
        <p:nvSpPr>
          <p:cNvPr id="5" name="object 11">
            <a:extLst>
              <a:ext uri="{FF2B5EF4-FFF2-40B4-BE49-F238E27FC236}">
                <a16:creationId xmlns:a16="http://schemas.microsoft.com/office/drawing/2014/main" id="{F70CD5D0-D1D3-786C-B109-504C31FE8142}"/>
              </a:ext>
            </a:extLst>
          </p:cNvPr>
          <p:cNvSpPr/>
          <p:nvPr/>
        </p:nvSpPr>
        <p:spPr>
          <a:xfrm>
            <a:off x="10416960" y="404280"/>
            <a:ext cx="1526400" cy="331920"/>
          </a:xfrm>
          <a:prstGeom prst="rect">
            <a:avLst/>
          </a:prstGeom>
          <a:solidFill>
            <a:srgbClr val="CCCCCC"/>
          </a:solidFill>
          <a:ln w="10470">
            <a:solidFill>
              <a:srgbClr val="1A2A5B"/>
            </a:solidFill>
            <a:round/>
          </a:ln>
        </p:spPr>
        <p:style>
          <a:lnRef idx="0">
            <a:scrgbClr r="0" g="0" b="0"/>
          </a:lnRef>
          <a:fillRef idx="0">
            <a:scrgbClr r="0" g="0" b="0"/>
          </a:fillRef>
          <a:effectRef idx="0">
            <a:scrgbClr r="0" g="0" b="0"/>
          </a:effectRef>
          <a:fontRef idx="minor"/>
        </p:style>
        <p:txBody>
          <a:bodyPr lIns="0" tIns="26640" rIns="0" bIns="0" anchor="t">
            <a:spAutoFit/>
          </a:bodyPr>
          <a:lstStyle/>
          <a:p>
            <a:pPr marL="253365">
              <a:lnSpc>
                <a:spcPct val="100000"/>
              </a:lnSpc>
              <a:spcBef>
                <a:spcPts val="210"/>
              </a:spcBef>
            </a:pPr>
            <a:r>
              <a:rPr lang="en-US" sz="2000" b="0" strike="noStrike" spc="157">
                <a:solidFill>
                  <a:srgbClr val="1A2A5B"/>
                </a:solidFill>
                <a:latin typeface="Arial Narrow"/>
              </a:rPr>
              <a:t>Charge</a:t>
            </a:r>
            <a:r>
              <a:rPr lang="en-US" sz="2000" b="0" strike="noStrike" spc="75">
                <a:solidFill>
                  <a:srgbClr val="1A2A5B"/>
                </a:solidFill>
                <a:latin typeface="Arial Narrow"/>
              </a:rPr>
              <a:t> </a:t>
            </a:r>
            <a:r>
              <a:rPr lang="en-US" sz="2000" b="0" strike="noStrike" spc="162">
                <a:solidFill>
                  <a:srgbClr val="1A2A5B"/>
                </a:solidFill>
                <a:latin typeface="Arial Narrow"/>
              </a:rPr>
              <a:t>#</a:t>
            </a:r>
            <a:r>
              <a:rPr lang="en-US" sz="2000" spc="162">
                <a:solidFill>
                  <a:srgbClr val="1A2A5B"/>
                </a:solidFill>
                <a:latin typeface="Arial Narrow"/>
              </a:rPr>
              <a:t>6</a:t>
            </a:r>
            <a:endParaRPr lang="en-US" sz="2000" b="0" strike="noStrike" spc="-1">
              <a:latin typeface="Arial"/>
            </a:endParaRPr>
          </a:p>
        </p:txBody>
      </p:sp>
      <p:pic>
        <p:nvPicPr>
          <p:cNvPr id="7" name="Picture 6" descr="Graphical user interface, text, application&#10;&#10;AI-generated content may be incorrect.">
            <a:extLst>
              <a:ext uri="{FF2B5EF4-FFF2-40B4-BE49-F238E27FC236}">
                <a16:creationId xmlns:a16="http://schemas.microsoft.com/office/drawing/2014/main" id="{EF14EFB3-3021-067B-9523-ACBCF40FABBE}"/>
              </a:ext>
            </a:extLst>
          </p:cNvPr>
          <p:cNvPicPr>
            <a:picLocks/>
          </p:cNvPicPr>
          <p:nvPr/>
        </p:nvPicPr>
        <p:blipFill>
          <a:blip r:embed="rId2"/>
          <a:stretch>
            <a:fillRect/>
          </a:stretch>
        </p:blipFill>
        <p:spPr>
          <a:xfrm>
            <a:off x="444600" y="970248"/>
            <a:ext cx="11478280" cy="5201952"/>
          </a:xfrm>
          <a:prstGeom prst="rect">
            <a:avLst/>
          </a:prstGeom>
        </p:spPr>
      </p:pic>
    </p:spTree>
    <p:extLst>
      <p:ext uri="{BB962C8B-B14F-4D97-AF65-F5344CB8AC3E}">
        <p14:creationId xmlns:p14="http://schemas.microsoft.com/office/powerpoint/2010/main" val="1424127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8E000-AA2B-94D7-209C-4D7765E7A21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7FA58A-CC8C-9A89-5AAD-5FE277FEE95A}"/>
              </a:ext>
            </a:extLst>
          </p:cNvPr>
          <p:cNvSpPr>
            <a:spLocks noGrp="1"/>
          </p:cNvSpPr>
          <p:nvPr>
            <p:ph type="sldNum" sz="quarter" idx="4"/>
          </p:nvPr>
        </p:nvSpPr>
        <p:spPr/>
        <p:txBody>
          <a:bodyPr/>
          <a:lstStyle/>
          <a:p>
            <a:fld id="{933A556B-7C63-244D-9B7C-B0EA8042B330}" type="slidenum">
              <a:rPr lang="en-US" smtClean="0"/>
              <a:pPr/>
              <a:t>11</a:t>
            </a:fld>
            <a:endParaRPr lang="en-US"/>
          </a:p>
        </p:txBody>
      </p:sp>
      <p:sp>
        <p:nvSpPr>
          <p:cNvPr id="3" name="Title 2">
            <a:extLst>
              <a:ext uri="{FF2B5EF4-FFF2-40B4-BE49-F238E27FC236}">
                <a16:creationId xmlns:a16="http://schemas.microsoft.com/office/drawing/2014/main" id="{188D8A08-A730-CF1A-7285-3EA65EF9C397}"/>
              </a:ext>
            </a:extLst>
          </p:cNvPr>
          <p:cNvSpPr>
            <a:spLocks noGrp="1"/>
          </p:cNvSpPr>
          <p:nvPr>
            <p:ph type="title"/>
          </p:nvPr>
        </p:nvSpPr>
        <p:spPr/>
        <p:txBody>
          <a:bodyPr/>
          <a:lstStyle/>
          <a:p>
            <a:r>
              <a:rPr lang="en-US" dirty="0"/>
              <a:t>Polarimeters</a:t>
            </a:r>
          </a:p>
        </p:txBody>
      </p:sp>
      <p:sp>
        <p:nvSpPr>
          <p:cNvPr id="6" name="TextBox 5">
            <a:extLst>
              <a:ext uri="{FF2B5EF4-FFF2-40B4-BE49-F238E27FC236}">
                <a16:creationId xmlns:a16="http://schemas.microsoft.com/office/drawing/2014/main" id="{9F9587F4-6452-FBBD-572B-B6E9EE417A56}"/>
              </a:ext>
            </a:extLst>
          </p:cNvPr>
          <p:cNvSpPr txBox="1"/>
          <p:nvPr/>
        </p:nvSpPr>
        <p:spPr>
          <a:xfrm>
            <a:off x="440451" y="913694"/>
            <a:ext cx="5642047" cy="1585049"/>
          </a:xfrm>
          <a:prstGeom prst="rect">
            <a:avLst/>
          </a:prstGeom>
          <a:noFill/>
        </p:spPr>
        <p:txBody>
          <a:bodyPr wrap="square" rtlCol="0">
            <a:spAutoFit/>
          </a:bodyPr>
          <a:lstStyle/>
          <a:p>
            <a:pPr>
              <a:spcAft>
                <a:spcPts val="600"/>
              </a:spcAft>
            </a:pPr>
            <a:r>
              <a:rPr lang="en-US" b="1" dirty="0"/>
              <a:t>Compton Polarimeter Components:</a:t>
            </a:r>
          </a:p>
          <a:p>
            <a:pPr marL="342900" indent="-342900">
              <a:spcAft>
                <a:spcPts val="600"/>
              </a:spcAft>
              <a:buAutoNum type="arabicPeriod"/>
            </a:pPr>
            <a:r>
              <a:rPr lang="en-US" sz="1600" dirty="0"/>
              <a:t>Laser system (under development)</a:t>
            </a:r>
          </a:p>
          <a:p>
            <a:pPr marL="342900" indent="-342900">
              <a:spcAft>
                <a:spcPts val="600"/>
              </a:spcAft>
              <a:buAutoNum type="arabicPeriod"/>
            </a:pPr>
            <a:r>
              <a:rPr lang="en-US" sz="1600" dirty="0"/>
              <a:t>Position sensitive detectors (diamond strips) for scattered electrons and backscattered photons</a:t>
            </a:r>
          </a:p>
          <a:p>
            <a:pPr marL="342900" indent="-342900">
              <a:spcAft>
                <a:spcPts val="600"/>
              </a:spcAft>
              <a:buAutoNum type="arabicPeriod"/>
            </a:pPr>
            <a:r>
              <a:rPr lang="en-US" sz="1600" dirty="0"/>
              <a:t>Calorimeter for backscattered photons</a:t>
            </a:r>
          </a:p>
        </p:txBody>
      </p:sp>
      <p:grpSp>
        <p:nvGrpSpPr>
          <p:cNvPr id="4" name="Group 3">
            <a:extLst>
              <a:ext uri="{FF2B5EF4-FFF2-40B4-BE49-F238E27FC236}">
                <a16:creationId xmlns:a16="http://schemas.microsoft.com/office/drawing/2014/main" id="{CF9E738A-3A8A-028F-E613-94FE9F3176D0}"/>
              </a:ext>
            </a:extLst>
          </p:cNvPr>
          <p:cNvGrpSpPr/>
          <p:nvPr/>
        </p:nvGrpSpPr>
        <p:grpSpPr>
          <a:xfrm>
            <a:off x="5689006" y="995820"/>
            <a:ext cx="5978886" cy="2092881"/>
            <a:chOff x="1548253" y="711882"/>
            <a:chExt cx="9814625" cy="4088715"/>
          </a:xfrm>
        </p:grpSpPr>
        <p:pic>
          <p:nvPicPr>
            <p:cNvPr id="5" name="Picture 4" descr="A long red blue and yellow object&#10;&#10;Description automatically generated">
              <a:extLst>
                <a:ext uri="{FF2B5EF4-FFF2-40B4-BE49-F238E27FC236}">
                  <a16:creationId xmlns:a16="http://schemas.microsoft.com/office/drawing/2014/main" id="{6CCB6014-FBCB-2C1D-3ECB-9050A2F4D478}"/>
                </a:ext>
              </a:extLst>
            </p:cNvPr>
            <p:cNvPicPr>
              <a:picLocks noChangeAspect="1"/>
            </p:cNvPicPr>
            <p:nvPr/>
          </p:nvPicPr>
          <p:blipFill>
            <a:blip r:embed="rId3"/>
            <a:stretch>
              <a:fillRect/>
            </a:stretch>
          </p:blipFill>
          <p:spPr>
            <a:xfrm>
              <a:off x="1639448" y="993330"/>
              <a:ext cx="9412943" cy="3807267"/>
            </a:xfrm>
            <a:prstGeom prst="rect">
              <a:avLst/>
            </a:prstGeom>
          </p:spPr>
        </p:pic>
        <p:sp>
          <p:nvSpPr>
            <p:cNvPr id="9" name="TextBox 8">
              <a:extLst>
                <a:ext uri="{FF2B5EF4-FFF2-40B4-BE49-F238E27FC236}">
                  <a16:creationId xmlns:a16="http://schemas.microsoft.com/office/drawing/2014/main" id="{1E9D9DB2-C80B-D020-3765-CFF17636ED2B}"/>
                </a:ext>
              </a:extLst>
            </p:cNvPr>
            <p:cNvSpPr txBox="1"/>
            <p:nvPr/>
          </p:nvSpPr>
          <p:spPr>
            <a:xfrm>
              <a:off x="9161794" y="1021228"/>
              <a:ext cx="1563582" cy="541154"/>
            </a:xfrm>
            <a:prstGeom prst="rect">
              <a:avLst/>
            </a:prstGeom>
            <a:noFill/>
          </p:spPr>
          <p:txBody>
            <a:bodyPr wrap="none" rtlCol="0">
              <a:spAutoFit/>
            </a:bodyPr>
            <a:lstStyle/>
            <a:p>
              <a:r>
                <a:rPr lang="en-US" sz="1200"/>
                <a:t>Crab cavity</a:t>
              </a:r>
            </a:p>
          </p:txBody>
        </p:sp>
        <p:sp>
          <p:nvSpPr>
            <p:cNvPr id="10" name="TextBox 9">
              <a:extLst>
                <a:ext uri="{FF2B5EF4-FFF2-40B4-BE49-F238E27FC236}">
                  <a16:creationId xmlns:a16="http://schemas.microsoft.com/office/drawing/2014/main" id="{10437A11-7F31-E378-49B5-33BCDCE66922}"/>
                </a:ext>
              </a:extLst>
            </p:cNvPr>
            <p:cNvSpPr txBox="1"/>
            <p:nvPr/>
          </p:nvSpPr>
          <p:spPr>
            <a:xfrm>
              <a:off x="5748391" y="862409"/>
              <a:ext cx="2618775" cy="901923"/>
            </a:xfrm>
            <a:prstGeom prst="rect">
              <a:avLst/>
            </a:prstGeom>
            <a:noFill/>
          </p:spPr>
          <p:txBody>
            <a:bodyPr wrap="none" rtlCol="0">
              <a:spAutoFit/>
            </a:bodyPr>
            <a:lstStyle/>
            <a:p>
              <a:r>
                <a:rPr lang="en-US" sz="1200" b="1" dirty="0"/>
                <a:t>Photon Detector</a:t>
              </a:r>
            </a:p>
            <a:p>
              <a:r>
                <a:rPr lang="en-US" sz="1200" dirty="0"/>
                <a:t>(30 m from Laser IP)</a:t>
              </a:r>
            </a:p>
          </p:txBody>
        </p:sp>
        <p:sp>
          <p:nvSpPr>
            <p:cNvPr id="11" name="TextBox 10">
              <a:extLst>
                <a:ext uri="{FF2B5EF4-FFF2-40B4-BE49-F238E27FC236}">
                  <a16:creationId xmlns:a16="http://schemas.microsoft.com/office/drawing/2014/main" id="{833BA2E5-779C-2B99-C7CD-34AA3D150DB2}"/>
                </a:ext>
              </a:extLst>
            </p:cNvPr>
            <p:cNvSpPr txBox="1"/>
            <p:nvPr/>
          </p:nvSpPr>
          <p:spPr>
            <a:xfrm>
              <a:off x="4323010" y="3459907"/>
              <a:ext cx="450496" cy="721538"/>
            </a:xfrm>
            <a:prstGeom prst="rect">
              <a:avLst/>
            </a:prstGeom>
            <a:noFill/>
          </p:spPr>
          <p:txBody>
            <a:bodyPr wrap="none" rtlCol="0">
              <a:spAutoFit/>
            </a:bodyPr>
            <a:lstStyle/>
            <a:p>
              <a:r>
                <a:rPr lang="en-US" b="1">
                  <a:solidFill>
                    <a:srgbClr val="00FA00"/>
                  </a:solidFill>
                </a:rPr>
                <a:t>*</a:t>
              </a:r>
            </a:p>
          </p:txBody>
        </p:sp>
        <p:cxnSp>
          <p:nvCxnSpPr>
            <p:cNvPr id="12" name="Straight Arrow Connector 11">
              <a:extLst>
                <a:ext uri="{FF2B5EF4-FFF2-40B4-BE49-F238E27FC236}">
                  <a16:creationId xmlns:a16="http://schemas.microsoft.com/office/drawing/2014/main" id="{C03C9B52-A414-AF7D-5270-3B08C16AA10C}"/>
                </a:ext>
              </a:extLst>
            </p:cNvPr>
            <p:cNvCxnSpPr>
              <a:cxnSpLocks/>
            </p:cNvCxnSpPr>
            <p:nvPr/>
          </p:nvCxnSpPr>
          <p:spPr>
            <a:xfrm>
              <a:off x="3201836" y="1840097"/>
              <a:ext cx="1268333" cy="1652671"/>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8C7BFC4-5F32-8A90-9AAA-9773B078F0C0}"/>
                </a:ext>
              </a:extLst>
            </p:cNvPr>
            <p:cNvSpPr txBox="1"/>
            <p:nvPr/>
          </p:nvSpPr>
          <p:spPr>
            <a:xfrm>
              <a:off x="3885449" y="2865095"/>
              <a:ext cx="1271495" cy="811729"/>
            </a:xfrm>
            <a:prstGeom prst="rect">
              <a:avLst/>
            </a:prstGeom>
            <a:noFill/>
          </p:spPr>
          <p:txBody>
            <a:bodyPr wrap="none" rtlCol="0">
              <a:spAutoFit/>
            </a:bodyPr>
            <a:lstStyle/>
            <a:p>
              <a:r>
                <a:rPr lang="en-US" sz="1050" dirty="0"/>
                <a:t>D4EF</a:t>
              </a:r>
            </a:p>
            <a:p>
              <a:r>
                <a:rPr lang="en-US" sz="1050" dirty="0" err="1">
                  <a:latin typeface="Symbol" pitchFamily="2" charset="2"/>
                </a:rPr>
                <a:t>q</a:t>
              </a:r>
              <a:r>
                <a:rPr lang="en-US" sz="1050" baseline="-25000" dirty="0" err="1"/>
                <a:t>B</a:t>
              </a:r>
              <a:r>
                <a:rPr lang="en-US" sz="1050" dirty="0"/>
                <a:t>=1.5 </a:t>
              </a:r>
              <a:r>
                <a:rPr lang="en-US" sz="1050" dirty="0" err="1"/>
                <a:t>mr</a:t>
              </a:r>
              <a:endParaRPr lang="en-US" sz="1050" dirty="0"/>
            </a:p>
          </p:txBody>
        </p:sp>
        <p:sp>
          <p:nvSpPr>
            <p:cNvPr id="14" name="TextBox 13">
              <a:extLst>
                <a:ext uri="{FF2B5EF4-FFF2-40B4-BE49-F238E27FC236}">
                  <a16:creationId xmlns:a16="http://schemas.microsoft.com/office/drawing/2014/main" id="{AC818443-7F39-6804-AC6F-9593FBD1774E}"/>
                </a:ext>
              </a:extLst>
            </p:cNvPr>
            <p:cNvSpPr txBox="1"/>
            <p:nvPr/>
          </p:nvSpPr>
          <p:spPr>
            <a:xfrm>
              <a:off x="4221378" y="3962081"/>
              <a:ext cx="879416" cy="496058"/>
            </a:xfrm>
            <a:prstGeom prst="rect">
              <a:avLst/>
            </a:prstGeom>
            <a:noFill/>
          </p:spPr>
          <p:txBody>
            <a:bodyPr wrap="none" rtlCol="0">
              <a:spAutoFit/>
            </a:bodyPr>
            <a:lstStyle/>
            <a:p>
              <a:r>
                <a:rPr lang="en-US" sz="1050"/>
                <a:t>Q9EF</a:t>
              </a:r>
            </a:p>
          </p:txBody>
        </p:sp>
        <p:sp>
          <p:nvSpPr>
            <p:cNvPr id="15" name="TextBox 14">
              <a:extLst>
                <a:ext uri="{FF2B5EF4-FFF2-40B4-BE49-F238E27FC236}">
                  <a16:creationId xmlns:a16="http://schemas.microsoft.com/office/drawing/2014/main" id="{215F5160-A0CC-2083-13EA-59D877702B30}"/>
                </a:ext>
              </a:extLst>
            </p:cNvPr>
            <p:cNvSpPr txBox="1"/>
            <p:nvPr/>
          </p:nvSpPr>
          <p:spPr>
            <a:xfrm>
              <a:off x="3051044" y="3232129"/>
              <a:ext cx="1271495" cy="811729"/>
            </a:xfrm>
            <a:prstGeom prst="rect">
              <a:avLst/>
            </a:prstGeom>
            <a:noFill/>
          </p:spPr>
          <p:txBody>
            <a:bodyPr wrap="none" rtlCol="0">
              <a:spAutoFit/>
            </a:bodyPr>
            <a:lstStyle/>
            <a:p>
              <a:r>
                <a:rPr lang="en-US" sz="1050"/>
                <a:t>D5EF</a:t>
              </a:r>
            </a:p>
            <a:p>
              <a:r>
                <a:rPr lang="en-US" sz="1050" err="1">
                  <a:latin typeface="Symbol" pitchFamily="2" charset="2"/>
                </a:rPr>
                <a:t>q</a:t>
              </a:r>
              <a:r>
                <a:rPr lang="en-US" sz="1050" baseline="-25000" err="1"/>
                <a:t>B</a:t>
              </a:r>
              <a:r>
                <a:rPr lang="en-US" sz="1050"/>
                <a:t>=1.5 </a:t>
              </a:r>
              <a:r>
                <a:rPr lang="en-US" sz="1050" err="1"/>
                <a:t>mr</a:t>
              </a:r>
              <a:endParaRPr lang="en-US" sz="1050"/>
            </a:p>
          </p:txBody>
        </p:sp>
        <p:sp>
          <p:nvSpPr>
            <p:cNvPr id="16" name="TextBox 15">
              <a:extLst>
                <a:ext uri="{FF2B5EF4-FFF2-40B4-BE49-F238E27FC236}">
                  <a16:creationId xmlns:a16="http://schemas.microsoft.com/office/drawing/2014/main" id="{DF4277A7-A869-5E9C-4A64-86C26AA872E0}"/>
                </a:ext>
              </a:extLst>
            </p:cNvPr>
            <p:cNvSpPr txBox="1"/>
            <p:nvPr/>
          </p:nvSpPr>
          <p:spPr>
            <a:xfrm>
              <a:off x="2160329" y="3623658"/>
              <a:ext cx="1210973" cy="811729"/>
            </a:xfrm>
            <a:prstGeom prst="rect">
              <a:avLst/>
            </a:prstGeom>
            <a:noFill/>
          </p:spPr>
          <p:txBody>
            <a:bodyPr wrap="none" rtlCol="0">
              <a:spAutoFit/>
            </a:bodyPr>
            <a:lstStyle/>
            <a:p>
              <a:r>
                <a:rPr lang="en-US" sz="1050"/>
                <a:t>D6EF</a:t>
              </a:r>
            </a:p>
            <a:p>
              <a:r>
                <a:rPr lang="en-US" sz="1050" err="1">
                  <a:latin typeface="Symbol" pitchFamily="2" charset="2"/>
                </a:rPr>
                <a:t>q</a:t>
              </a:r>
              <a:r>
                <a:rPr lang="en-US" sz="1050" baseline="-25000" err="1"/>
                <a:t>B</a:t>
              </a:r>
              <a:r>
                <a:rPr lang="en-US" sz="1050"/>
                <a:t>=12 </a:t>
              </a:r>
              <a:r>
                <a:rPr lang="en-US" sz="1050" err="1"/>
                <a:t>mr</a:t>
              </a:r>
              <a:endParaRPr lang="en-US" sz="1050"/>
            </a:p>
          </p:txBody>
        </p:sp>
        <p:sp>
          <p:nvSpPr>
            <p:cNvPr id="17" name="TextBox 16">
              <a:extLst>
                <a:ext uri="{FF2B5EF4-FFF2-40B4-BE49-F238E27FC236}">
                  <a16:creationId xmlns:a16="http://schemas.microsoft.com/office/drawing/2014/main" id="{5ED8327D-1119-9DC6-41A0-1702AF6DCCDC}"/>
                </a:ext>
              </a:extLst>
            </p:cNvPr>
            <p:cNvSpPr txBox="1"/>
            <p:nvPr/>
          </p:nvSpPr>
          <p:spPr>
            <a:xfrm>
              <a:off x="3167070" y="4207229"/>
              <a:ext cx="1003092" cy="496058"/>
            </a:xfrm>
            <a:prstGeom prst="rect">
              <a:avLst/>
            </a:prstGeom>
            <a:noFill/>
          </p:spPr>
          <p:txBody>
            <a:bodyPr wrap="none" rtlCol="0">
              <a:spAutoFit/>
            </a:bodyPr>
            <a:lstStyle/>
            <a:p>
              <a:r>
                <a:rPr lang="en-US" sz="1050"/>
                <a:t>Q10EF</a:t>
              </a:r>
            </a:p>
          </p:txBody>
        </p:sp>
        <p:sp>
          <p:nvSpPr>
            <p:cNvPr id="18" name="TextBox 17">
              <a:extLst>
                <a:ext uri="{FF2B5EF4-FFF2-40B4-BE49-F238E27FC236}">
                  <a16:creationId xmlns:a16="http://schemas.microsoft.com/office/drawing/2014/main" id="{6477C6C1-B24E-E85E-0C25-9233140316F6}"/>
                </a:ext>
              </a:extLst>
            </p:cNvPr>
            <p:cNvSpPr txBox="1"/>
            <p:nvPr/>
          </p:nvSpPr>
          <p:spPr>
            <a:xfrm>
              <a:off x="5181014" y="3449500"/>
              <a:ext cx="879416" cy="496058"/>
            </a:xfrm>
            <a:prstGeom prst="rect">
              <a:avLst/>
            </a:prstGeom>
            <a:noFill/>
          </p:spPr>
          <p:txBody>
            <a:bodyPr wrap="none" rtlCol="0">
              <a:spAutoFit/>
            </a:bodyPr>
            <a:lstStyle/>
            <a:p>
              <a:r>
                <a:rPr lang="en-US" sz="1050"/>
                <a:t>Q8EF</a:t>
              </a:r>
            </a:p>
          </p:txBody>
        </p:sp>
        <p:sp>
          <p:nvSpPr>
            <p:cNvPr id="19" name="TextBox 18">
              <a:extLst>
                <a:ext uri="{FF2B5EF4-FFF2-40B4-BE49-F238E27FC236}">
                  <a16:creationId xmlns:a16="http://schemas.microsoft.com/office/drawing/2014/main" id="{6B5C79BC-BC0B-9876-D38C-1644432D6721}"/>
                </a:ext>
              </a:extLst>
            </p:cNvPr>
            <p:cNvSpPr txBox="1"/>
            <p:nvPr/>
          </p:nvSpPr>
          <p:spPr>
            <a:xfrm>
              <a:off x="6148854" y="3146195"/>
              <a:ext cx="879416" cy="496058"/>
            </a:xfrm>
            <a:prstGeom prst="rect">
              <a:avLst/>
            </a:prstGeom>
            <a:noFill/>
          </p:spPr>
          <p:txBody>
            <a:bodyPr wrap="none" rtlCol="0">
              <a:spAutoFit/>
            </a:bodyPr>
            <a:lstStyle/>
            <a:p>
              <a:r>
                <a:rPr lang="en-US" sz="1050"/>
                <a:t>Q7EF</a:t>
              </a:r>
            </a:p>
          </p:txBody>
        </p:sp>
        <p:sp>
          <p:nvSpPr>
            <p:cNvPr id="20" name="TextBox 19">
              <a:extLst>
                <a:ext uri="{FF2B5EF4-FFF2-40B4-BE49-F238E27FC236}">
                  <a16:creationId xmlns:a16="http://schemas.microsoft.com/office/drawing/2014/main" id="{D2C71538-E4B2-5EA6-8D99-D2335CF0D7D8}"/>
                </a:ext>
              </a:extLst>
            </p:cNvPr>
            <p:cNvSpPr txBox="1"/>
            <p:nvPr/>
          </p:nvSpPr>
          <p:spPr>
            <a:xfrm>
              <a:off x="7078110" y="2829085"/>
              <a:ext cx="879416" cy="496058"/>
            </a:xfrm>
            <a:prstGeom prst="rect">
              <a:avLst/>
            </a:prstGeom>
            <a:noFill/>
          </p:spPr>
          <p:txBody>
            <a:bodyPr wrap="none" rtlCol="0">
              <a:spAutoFit/>
            </a:bodyPr>
            <a:lstStyle/>
            <a:p>
              <a:r>
                <a:rPr lang="en-US" sz="1050"/>
                <a:t>Q6EF</a:t>
              </a:r>
            </a:p>
          </p:txBody>
        </p:sp>
        <p:sp>
          <p:nvSpPr>
            <p:cNvPr id="21" name="TextBox 20">
              <a:extLst>
                <a:ext uri="{FF2B5EF4-FFF2-40B4-BE49-F238E27FC236}">
                  <a16:creationId xmlns:a16="http://schemas.microsoft.com/office/drawing/2014/main" id="{B89B0940-5CED-0A7B-37C3-C58FBF9232AD}"/>
                </a:ext>
              </a:extLst>
            </p:cNvPr>
            <p:cNvSpPr txBox="1"/>
            <p:nvPr/>
          </p:nvSpPr>
          <p:spPr>
            <a:xfrm>
              <a:off x="7914935" y="2500624"/>
              <a:ext cx="879416" cy="496058"/>
            </a:xfrm>
            <a:prstGeom prst="rect">
              <a:avLst/>
            </a:prstGeom>
            <a:noFill/>
          </p:spPr>
          <p:txBody>
            <a:bodyPr wrap="none" rtlCol="0">
              <a:spAutoFit/>
            </a:bodyPr>
            <a:lstStyle/>
            <a:p>
              <a:r>
                <a:rPr lang="en-US" sz="1050"/>
                <a:t>Q5EF</a:t>
              </a:r>
            </a:p>
          </p:txBody>
        </p:sp>
        <p:sp>
          <p:nvSpPr>
            <p:cNvPr id="22" name="TextBox 21">
              <a:extLst>
                <a:ext uri="{FF2B5EF4-FFF2-40B4-BE49-F238E27FC236}">
                  <a16:creationId xmlns:a16="http://schemas.microsoft.com/office/drawing/2014/main" id="{FAFA0B5D-E96F-C4E3-E7D8-89D03408CCF7}"/>
                </a:ext>
              </a:extLst>
            </p:cNvPr>
            <p:cNvSpPr txBox="1"/>
            <p:nvPr/>
          </p:nvSpPr>
          <p:spPr>
            <a:xfrm>
              <a:off x="8878789" y="2229915"/>
              <a:ext cx="879416" cy="496058"/>
            </a:xfrm>
            <a:prstGeom prst="rect">
              <a:avLst/>
            </a:prstGeom>
            <a:noFill/>
          </p:spPr>
          <p:txBody>
            <a:bodyPr wrap="none" rtlCol="0">
              <a:spAutoFit/>
            </a:bodyPr>
            <a:lstStyle/>
            <a:p>
              <a:r>
                <a:rPr lang="en-US" sz="1050"/>
                <a:t>Q4EF</a:t>
              </a:r>
            </a:p>
          </p:txBody>
        </p:sp>
        <p:sp>
          <p:nvSpPr>
            <p:cNvPr id="23" name="TextBox 22">
              <a:extLst>
                <a:ext uri="{FF2B5EF4-FFF2-40B4-BE49-F238E27FC236}">
                  <a16:creationId xmlns:a16="http://schemas.microsoft.com/office/drawing/2014/main" id="{CFC38AF0-9358-7A1E-2B04-82B294E7E2C6}"/>
                </a:ext>
              </a:extLst>
            </p:cNvPr>
            <p:cNvSpPr txBox="1"/>
            <p:nvPr/>
          </p:nvSpPr>
          <p:spPr>
            <a:xfrm>
              <a:off x="9368054" y="1979481"/>
              <a:ext cx="879416" cy="496058"/>
            </a:xfrm>
            <a:prstGeom prst="rect">
              <a:avLst/>
            </a:prstGeom>
            <a:noFill/>
          </p:spPr>
          <p:txBody>
            <a:bodyPr wrap="none" rtlCol="0">
              <a:spAutoFit/>
            </a:bodyPr>
            <a:lstStyle/>
            <a:p>
              <a:r>
                <a:rPr lang="en-US" sz="1050"/>
                <a:t>Q3EF</a:t>
              </a:r>
            </a:p>
          </p:txBody>
        </p:sp>
        <p:sp>
          <p:nvSpPr>
            <p:cNvPr id="24" name="TextBox 23">
              <a:extLst>
                <a:ext uri="{FF2B5EF4-FFF2-40B4-BE49-F238E27FC236}">
                  <a16:creationId xmlns:a16="http://schemas.microsoft.com/office/drawing/2014/main" id="{A5D2B415-50E3-779F-9595-E11D1BD677C6}"/>
                </a:ext>
              </a:extLst>
            </p:cNvPr>
            <p:cNvSpPr txBox="1"/>
            <p:nvPr/>
          </p:nvSpPr>
          <p:spPr>
            <a:xfrm>
              <a:off x="4956154" y="2487845"/>
              <a:ext cx="1210973" cy="811729"/>
            </a:xfrm>
            <a:prstGeom prst="rect">
              <a:avLst/>
            </a:prstGeom>
            <a:noFill/>
          </p:spPr>
          <p:txBody>
            <a:bodyPr wrap="none" rtlCol="0">
              <a:spAutoFit/>
            </a:bodyPr>
            <a:lstStyle/>
            <a:p>
              <a:r>
                <a:rPr lang="en-US" sz="1050"/>
                <a:t>D3EF</a:t>
              </a:r>
            </a:p>
            <a:p>
              <a:r>
                <a:rPr lang="en-US" sz="1050" err="1">
                  <a:latin typeface="Symbol" pitchFamily="2" charset="2"/>
                </a:rPr>
                <a:t>q</a:t>
              </a:r>
              <a:r>
                <a:rPr lang="en-US" sz="1050" baseline="-25000" err="1"/>
                <a:t>B</a:t>
              </a:r>
              <a:r>
                <a:rPr lang="en-US" sz="1050"/>
                <a:t>=13 </a:t>
              </a:r>
              <a:r>
                <a:rPr lang="en-US" sz="1050" err="1"/>
                <a:t>mr</a:t>
              </a:r>
              <a:endParaRPr lang="en-US" sz="1050"/>
            </a:p>
          </p:txBody>
        </p:sp>
        <p:sp>
          <p:nvSpPr>
            <p:cNvPr id="25" name="TextBox 24">
              <a:extLst>
                <a:ext uri="{FF2B5EF4-FFF2-40B4-BE49-F238E27FC236}">
                  <a16:creationId xmlns:a16="http://schemas.microsoft.com/office/drawing/2014/main" id="{BEC703EE-AA09-D747-9AA4-AE73A159E47F}"/>
                </a:ext>
              </a:extLst>
            </p:cNvPr>
            <p:cNvSpPr txBox="1"/>
            <p:nvPr/>
          </p:nvSpPr>
          <p:spPr>
            <a:xfrm>
              <a:off x="10493987" y="1712664"/>
              <a:ext cx="868891" cy="496058"/>
            </a:xfrm>
            <a:prstGeom prst="rect">
              <a:avLst/>
            </a:prstGeom>
            <a:noFill/>
          </p:spPr>
          <p:txBody>
            <a:bodyPr wrap="none" rtlCol="0">
              <a:spAutoFit/>
            </a:bodyPr>
            <a:lstStyle/>
            <a:p>
              <a:r>
                <a:rPr lang="en-US" sz="1050"/>
                <a:t>D2EF</a:t>
              </a:r>
            </a:p>
          </p:txBody>
        </p:sp>
        <p:cxnSp>
          <p:nvCxnSpPr>
            <p:cNvPr id="26" name="Straight Arrow Connector 25">
              <a:extLst>
                <a:ext uri="{FF2B5EF4-FFF2-40B4-BE49-F238E27FC236}">
                  <a16:creationId xmlns:a16="http://schemas.microsoft.com/office/drawing/2014/main" id="{6F6C1253-FF37-AAF6-4C2D-AF0A68C0828E}"/>
                </a:ext>
              </a:extLst>
            </p:cNvPr>
            <p:cNvCxnSpPr>
              <a:cxnSpLocks/>
            </p:cNvCxnSpPr>
            <p:nvPr/>
          </p:nvCxnSpPr>
          <p:spPr>
            <a:xfrm flipH="1" flipV="1">
              <a:off x="8449483" y="1523623"/>
              <a:ext cx="952285" cy="261403"/>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9FB904FF-5E7C-D06F-F831-4FC7112E1886}"/>
                </a:ext>
              </a:extLst>
            </p:cNvPr>
            <p:cNvSpPr txBox="1"/>
            <p:nvPr/>
          </p:nvSpPr>
          <p:spPr>
            <a:xfrm>
              <a:off x="4516726" y="1761177"/>
              <a:ext cx="2405632" cy="541154"/>
            </a:xfrm>
            <a:prstGeom prst="rect">
              <a:avLst/>
            </a:prstGeom>
            <a:noFill/>
          </p:spPr>
          <p:txBody>
            <a:bodyPr wrap="none" rtlCol="0">
              <a:spAutoFit/>
            </a:bodyPr>
            <a:lstStyle/>
            <a:p>
              <a:r>
                <a:rPr lang="en-US" sz="1200" b="1"/>
                <a:t>Electron Detector</a:t>
              </a:r>
            </a:p>
          </p:txBody>
        </p:sp>
        <p:cxnSp>
          <p:nvCxnSpPr>
            <p:cNvPr id="28" name="Straight Arrow Connector 27">
              <a:extLst>
                <a:ext uri="{FF2B5EF4-FFF2-40B4-BE49-F238E27FC236}">
                  <a16:creationId xmlns:a16="http://schemas.microsoft.com/office/drawing/2014/main" id="{2E692F68-9B64-34CE-3828-2EE2A8B29033}"/>
                </a:ext>
              </a:extLst>
            </p:cNvPr>
            <p:cNvCxnSpPr>
              <a:cxnSpLocks/>
            </p:cNvCxnSpPr>
            <p:nvPr/>
          </p:nvCxnSpPr>
          <p:spPr>
            <a:xfrm flipH="1" flipV="1">
              <a:off x="6270837" y="2188241"/>
              <a:ext cx="574911" cy="521911"/>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570F9A1-928D-5CC0-2624-F50CE0BAC7C4}"/>
                </a:ext>
              </a:extLst>
            </p:cNvPr>
            <p:cNvSpPr txBox="1"/>
            <p:nvPr/>
          </p:nvSpPr>
          <p:spPr>
            <a:xfrm>
              <a:off x="1548253" y="711882"/>
              <a:ext cx="3632761" cy="12195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lnSpc>
                  <a:spcPts val="2336"/>
                </a:lnSpc>
              </a:pPr>
              <a:r>
                <a:rPr lang="en-US" sz="1200" b="1" i="0" u="none" strike="noStrike" baseline="0" dirty="0">
                  <a:solidFill>
                    <a:srgbClr val="000000"/>
                  </a:solidFill>
                  <a:latin typeface="Arial"/>
                </a:rPr>
                <a:t>Laser IP</a:t>
              </a:r>
              <a:r>
                <a:rPr lang="en-US" sz="1200" b="0" i="0" dirty="0">
                  <a:latin typeface="Arial"/>
                </a:rPr>
                <a:t>​</a:t>
              </a:r>
            </a:p>
            <a:p>
              <a:pPr algn="ctr" rtl="0">
                <a:lnSpc>
                  <a:spcPts val="2076"/>
                </a:lnSpc>
              </a:pPr>
              <a:r>
                <a:rPr lang="en-US" sz="1200" b="0" i="0" u="none" strike="noStrike" baseline="0" dirty="0">
                  <a:solidFill>
                    <a:srgbClr val="000000"/>
                  </a:solidFill>
                  <a:latin typeface="Arial"/>
                </a:rPr>
                <a:t>74 m upstream of IP-6</a:t>
              </a:r>
              <a:endParaRPr lang="en-US" sz="1200" dirty="0"/>
            </a:p>
          </p:txBody>
        </p:sp>
      </p:grpSp>
      <p:cxnSp>
        <p:nvCxnSpPr>
          <p:cNvPr id="40" name="Straight Connector 39">
            <a:extLst>
              <a:ext uri="{FF2B5EF4-FFF2-40B4-BE49-F238E27FC236}">
                <a16:creationId xmlns:a16="http://schemas.microsoft.com/office/drawing/2014/main" id="{7955A926-0062-F626-66C9-FBE7AC279ED1}"/>
              </a:ext>
            </a:extLst>
          </p:cNvPr>
          <p:cNvCxnSpPr>
            <a:cxnSpLocks/>
          </p:cNvCxnSpPr>
          <p:nvPr/>
        </p:nvCxnSpPr>
        <p:spPr>
          <a:xfrm flipV="1">
            <a:off x="440451" y="3168120"/>
            <a:ext cx="11522053" cy="3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bject 11">
            <a:extLst>
              <a:ext uri="{FF2B5EF4-FFF2-40B4-BE49-F238E27FC236}">
                <a16:creationId xmlns:a16="http://schemas.microsoft.com/office/drawing/2014/main" id="{BB2BC342-FD27-A7B1-F766-5B2239889CDE}"/>
              </a:ext>
            </a:extLst>
          </p:cNvPr>
          <p:cNvSpPr txBox="1"/>
          <p:nvPr/>
        </p:nvSpPr>
        <p:spPr>
          <a:xfrm>
            <a:off x="10416794" y="404229"/>
            <a:ext cx="1527551"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#1</a:t>
            </a:r>
            <a:endParaRPr sz="2001" dirty="0">
              <a:solidFill>
                <a:srgbClr val="FF0000"/>
              </a:solidFill>
              <a:latin typeface="Arial Narrow"/>
              <a:cs typeface="Arial Narrow"/>
            </a:endParaRPr>
          </a:p>
        </p:txBody>
      </p:sp>
      <p:pic>
        <p:nvPicPr>
          <p:cNvPr id="8" name="Picture 7" descr="Diagram, schematic&#10;&#10;Description automatically generated">
            <a:extLst>
              <a:ext uri="{FF2B5EF4-FFF2-40B4-BE49-F238E27FC236}">
                <a16:creationId xmlns:a16="http://schemas.microsoft.com/office/drawing/2014/main" id="{77F9CAD1-587D-7730-6143-C29BFAA53D6B}"/>
              </a:ext>
            </a:extLst>
          </p:cNvPr>
          <p:cNvPicPr>
            <a:picLocks noChangeAspect="1"/>
          </p:cNvPicPr>
          <p:nvPr/>
        </p:nvPicPr>
        <p:blipFill rotWithShape="1">
          <a:blip r:embed="rId4"/>
          <a:srcRect l="1396" t="1607" b="2338"/>
          <a:stretch/>
        </p:blipFill>
        <p:spPr>
          <a:xfrm>
            <a:off x="3778855" y="3429000"/>
            <a:ext cx="1598352" cy="2564549"/>
          </a:xfrm>
          <a:prstGeom prst="rect">
            <a:avLst/>
          </a:prstGeom>
        </p:spPr>
      </p:pic>
      <p:pic>
        <p:nvPicPr>
          <p:cNvPr id="30" name="Picture 2">
            <a:extLst>
              <a:ext uri="{FF2B5EF4-FFF2-40B4-BE49-F238E27FC236}">
                <a16:creationId xmlns:a16="http://schemas.microsoft.com/office/drawing/2014/main" id="{383CC8C3-E63C-BEB9-2C14-8C573D37956B}"/>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8531225" y="3477180"/>
            <a:ext cx="3089827" cy="2307950"/>
          </a:xfrm>
          <a:prstGeom prst="rect">
            <a:avLst/>
          </a:prstGeom>
          <a:noFill/>
          <a:ln w="12700">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31" name="TextBox 30">
            <a:extLst>
              <a:ext uri="{FF2B5EF4-FFF2-40B4-BE49-F238E27FC236}">
                <a16:creationId xmlns:a16="http://schemas.microsoft.com/office/drawing/2014/main" id="{B7CA059C-D7DD-C7C9-3C3F-3D8E6147AF46}"/>
              </a:ext>
            </a:extLst>
          </p:cNvPr>
          <p:cNvSpPr txBox="1"/>
          <p:nvPr/>
        </p:nvSpPr>
        <p:spPr>
          <a:xfrm>
            <a:off x="9283132" y="2532430"/>
            <a:ext cx="2339102" cy="369332"/>
          </a:xfrm>
          <a:prstGeom prst="rect">
            <a:avLst/>
          </a:prstGeom>
          <a:noFill/>
        </p:spPr>
        <p:txBody>
          <a:bodyPr wrap="none" rtlCol="0">
            <a:spAutoFit/>
          </a:bodyPr>
          <a:lstStyle/>
          <a:p>
            <a:r>
              <a:rPr lang="en-US" dirty="0"/>
              <a:t>ESR Compton layout</a:t>
            </a:r>
          </a:p>
        </p:txBody>
      </p:sp>
      <p:sp>
        <p:nvSpPr>
          <p:cNvPr id="32" name="TextBox 31">
            <a:extLst>
              <a:ext uri="{FF2B5EF4-FFF2-40B4-BE49-F238E27FC236}">
                <a16:creationId xmlns:a16="http://schemas.microsoft.com/office/drawing/2014/main" id="{46E97296-4F38-B2E3-B82A-8893FF48B856}"/>
              </a:ext>
            </a:extLst>
          </p:cNvPr>
          <p:cNvSpPr txBox="1"/>
          <p:nvPr/>
        </p:nvSpPr>
        <p:spPr>
          <a:xfrm>
            <a:off x="484670" y="2494682"/>
            <a:ext cx="3995928" cy="646331"/>
          </a:xfrm>
          <a:prstGeom prst="rect">
            <a:avLst/>
          </a:prstGeom>
          <a:noFill/>
        </p:spPr>
        <p:txBody>
          <a:bodyPr wrap="square" rtlCol="0">
            <a:spAutoFit/>
          </a:bodyPr>
          <a:lstStyle/>
          <a:p>
            <a:r>
              <a:rPr lang="en-US" dirty="0"/>
              <a:t>ESR will operate in single-photon mode, RCS in multiphoton mode</a:t>
            </a:r>
          </a:p>
        </p:txBody>
      </p:sp>
      <p:sp>
        <p:nvSpPr>
          <p:cNvPr id="33" name="TextBox 32">
            <a:extLst>
              <a:ext uri="{FF2B5EF4-FFF2-40B4-BE49-F238E27FC236}">
                <a16:creationId xmlns:a16="http://schemas.microsoft.com/office/drawing/2014/main" id="{7A5690D0-8DA0-36FA-D9AD-22C153A6437A}"/>
              </a:ext>
            </a:extLst>
          </p:cNvPr>
          <p:cNvSpPr txBox="1"/>
          <p:nvPr/>
        </p:nvSpPr>
        <p:spPr>
          <a:xfrm>
            <a:off x="757399" y="3565729"/>
            <a:ext cx="2918130" cy="523220"/>
          </a:xfrm>
          <a:prstGeom prst="rect">
            <a:avLst/>
          </a:prstGeom>
          <a:noFill/>
        </p:spPr>
        <p:txBody>
          <a:bodyPr wrap="square" rtlCol="0">
            <a:spAutoFit/>
          </a:bodyPr>
          <a:lstStyle/>
          <a:p>
            <a:r>
              <a:rPr lang="en-US" sz="1400" dirty="0"/>
              <a:t>HJET polarimeter provides absolute measurements, but slow: </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1D58A511-E7BC-0BDE-FEDA-1DC1774F6ECD}"/>
                  </a:ext>
                </a:extLst>
              </p:cNvPr>
              <p:cNvSpPr txBox="1"/>
              <p:nvPr/>
            </p:nvSpPr>
            <p:spPr>
              <a:xfrm>
                <a:off x="621792" y="5010794"/>
                <a:ext cx="2746854" cy="500650"/>
              </a:xfrm>
              <a:prstGeom prst="rect">
                <a:avLst/>
              </a:prstGeom>
              <a:solidFill>
                <a:schemeClr val="tx2">
                  <a:lumMod val="20000"/>
                  <a:lumOff val="80000"/>
                </a:schemeClr>
              </a:solidFill>
            </p:spPr>
            <p:txBody>
              <a:bodyPr wrap="square">
                <a:spAutoFit/>
              </a:bodyPr>
              <a:lstStyle/>
              <a:p>
                <a:pPr marL="342900" indent="-342900">
                  <a:buClr>
                    <a:srgbClr val="00B0F0"/>
                  </a:buClr>
                  <a:buFont typeface="Wingdings" pitchFamily="2" charset="2"/>
                  <a:buChar char="§"/>
                </a:pPr>
                <a14:m>
                  <m:oMath xmlns:m="http://schemas.openxmlformats.org/officeDocument/2006/math">
                    <m:f>
                      <m:fPr>
                        <m:ctrlPr>
                          <a:rPr lang="en-US" sz="2000" i="1" smtClean="0">
                            <a:solidFill>
                              <a:schemeClr val="tx1"/>
                            </a:solidFill>
                            <a:latin typeface="Cambria Math" panose="02040503050406030204" pitchFamily="18" charset="0"/>
                          </a:rPr>
                        </m:ctrlPr>
                      </m:fPr>
                      <m:num>
                        <m:sSub>
                          <m:sSubPr>
                            <m:ctrlPr>
                              <a:rPr lang="en-US" sz="2000" i="1" smtClean="0">
                                <a:solidFill>
                                  <a:schemeClr val="tx1"/>
                                </a:solidFill>
                                <a:latin typeface="Cambria Math" panose="02040503050406030204" pitchFamily="18" charset="0"/>
                              </a:rPr>
                            </m:ctrlPr>
                          </m:sSubPr>
                          <m:e>
                            <m:r>
                              <a:rPr lang="en-US" sz="2000" i="1" smtClean="0">
                                <a:solidFill>
                                  <a:schemeClr val="tx1"/>
                                </a:solidFill>
                                <a:latin typeface="Cambria Math" panose="02040503050406030204" pitchFamily="18" charset="0"/>
                                <a:ea typeface="Cambria Math" panose="02040503050406030204" pitchFamily="18" charset="0"/>
                              </a:rPr>
                              <m:t>𝜎</m:t>
                            </m:r>
                          </m:e>
                          <m:sub>
                            <m:r>
                              <a:rPr lang="en-US" sz="2000" b="0" i="1" smtClean="0">
                                <a:solidFill>
                                  <a:schemeClr val="tx1"/>
                                </a:solidFill>
                                <a:latin typeface="Cambria Math" panose="02040503050406030204" pitchFamily="18" charset="0"/>
                              </a:rPr>
                              <m:t>𝑃</m:t>
                            </m:r>
                          </m:sub>
                        </m:sSub>
                      </m:num>
                      <m:den>
                        <m:r>
                          <a:rPr lang="en-US" sz="2000" b="0" i="1" smtClean="0">
                            <a:solidFill>
                              <a:schemeClr val="tx1"/>
                            </a:solidFill>
                            <a:latin typeface="Cambria Math" panose="02040503050406030204" pitchFamily="18" charset="0"/>
                          </a:rPr>
                          <m:t>𝑃</m:t>
                        </m:r>
                      </m:den>
                    </m:f>
                    <m:r>
                      <a:rPr lang="en-US" sz="2000" i="1" smtClean="0">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3% </m:t>
                    </m:r>
                  </m:oMath>
                </a14:m>
                <a:r>
                  <a:rPr lang="en-US" sz="2000" dirty="0">
                    <a:solidFill>
                      <a:schemeClr val="tx1"/>
                    </a:solidFill>
                    <a:latin typeface="Calibri" panose="020F0502020204030204" pitchFamily="34" charset="0"/>
                    <a:cs typeface="Calibri" panose="020F0502020204030204" pitchFamily="34" charset="0"/>
                  </a:rPr>
                  <a:t>per 4 hours </a:t>
                </a:r>
              </a:p>
            </p:txBody>
          </p:sp>
        </mc:Choice>
        <mc:Fallback xmlns="">
          <p:sp>
            <p:nvSpPr>
              <p:cNvPr id="34" name="TextBox 33">
                <a:extLst>
                  <a:ext uri="{FF2B5EF4-FFF2-40B4-BE49-F238E27FC236}">
                    <a16:creationId xmlns:a16="http://schemas.microsoft.com/office/drawing/2014/main" id="{1D58A511-E7BC-0BDE-FEDA-1DC1774F6ECD}"/>
                  </a:ext>
                </a:extLst>
              </p:cNvPr>
              <p:cNvSpPr txBox="1">
                <a:spLocks noRot="1" noChangeAspect="1" noMove="1" noResize="1" noEditPoints="1" noAdjustHandles="1" noChangeArrowheads="1" noChangeShapeType="1" noTextEdit="1"/>
              </p:cNvSpPr>
              <p:nvPr/>
            </p:nvSpPr>
            <p:spPr>
              <a:xfrm>
                <a:off x="621792" y="5010794"/>
                <a:ext cx="2746854" cy="500650"/>
              </a:xfrm>
              <a:prstGeom prst="rect">
                <a:avLst/>
              </a:prstGeom>
              <a:blipFill>
                <a:blip r:embed="rId6"/>
                <a:stretch>
                  <a:fillRect l="-1376" r="-1835" b="-10000"/>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F7368FDE-7E90-7C55-8C47-04572EE845B1}"/>
              </a:ext>
            </a:extLst>
          </p:cNvPr>
          <p:cNvSpPr txBox="1"/>
          <p:nvPr/>
        </p:nvSpPr>
        <p:spPr>
          <a:xfrm>
            <a:off x="5787416" y="3582785"/>
            <a:ext cx="2561056" cy="523220"/>
          </a:xfrm>
          <a:prstGeom prst="rect">
            <a:avLst/>
          </a:prstGeom>
          <a:noFill/>
        </p:spPr>
        <p:txBody>
          <a:bodyPr wrap="square" rtlCol="0">
            <a:spAutoFit/>
          </a:bodyPr>
          <a:lstStyle/>
          <a:p>
            <a:r>
              <a:rPr lang="en-US" sz="1400" dirty="0" err="1"/>
              <a:t>pC</a:t>
            </a:r>
            <a:r>
              <a:rPr lang="en-US" sz="1400" dirty="0"/>
              <a:t> polarimeter provides fast, relative measurement:</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65C6512-BA74-B6D6-01D7-99C44D181E3C}"/>
                  </a:ext>
                </a:extLst>
              </p:cNvPr>
              <p:cNvSpPr txBox="1"/>
              <p:nvPr/>
            </p:nvSpPr>
            <p:spPr>
              <a:xfrm>
                <a:off x="5627169" y="4762208"/>
                <a:ext cx="2742101" cy="808426"/>
              </a:xfrm>
              <a:prstGeom prst="rect">
                <a:avLst/>
              </a:prstGeom>
              <a:solidFill>
                <a:schemeClr val="tx2">
                  <a:lumMod val="20000"/>
                  <a:lumOff val="80000"/>
                </a:schemeClr>
              </a:solidFill>
            </p:spPr>
            <p:txBody>
              <a:bodyPr wrap="square">
                <a:spAutoFit/>
              </a:bodyPr>
              <a:lstStyle/>
              <a:p>
                <a:pPr marL="342900" indent="-342900">
                  <a:buClr>
                    <a:srgbClr val="00B0F0"/>
                  </a:buClr>
                  <a:buFont typeface="Wingdings" pitchFamily="2" charset="2"/>
                  <a:buChar char="§"/>
                </a:pPr>
                <a14:m>
                  <m:oMath xmlns:m="http://schemas.openxmlformats.org/officeDocument/2006/math">
                    <m:f>
                      <m:fPr>
                        <m:ctrlPr>
                          <a:rPr lang="en-US" sz="2000" i="1" smtClean="0">
                            <a:solidFill>
                              <a:schemeClr val="tx1"/>
                            </a:solidFill>
                            <a:latin typeface="Cambria Math" panose="02040503050406030204" pitchFamily="18" charset="0"/>
                          </a:rPr>
                        </m:ctrlPr>
                      </m:fPr>
                      <m:num>
                        <m:sSub>
                          <m:sSubPr>
                            <m:ctrlPr>
                              <a:rPr lang="en-US" sz="2000" i="1" smtClean="0">
                                <a:solidFill>
                                  <a:schemeClr val="tx1"/>
                                </a:solidFill>
                                <a:latin typeface="Cambria Math" panose="02040503050406030204" pitchFamily="18" charset="0"/>
                              </a:rPr>
                            </m:ctrlPr>
                          </m:sSubPr>
                          <m:e>
                            <m:r>
                              <a:rPr lang="en-US" sz="2000" i="1" smtClean="0">
                                <a:solidFill>
                                  <a:schemeClr val="tx1"/>
                                </a:solidFill>
                                <a:latin typeface="Cambria Math" panose="02040503050406030204" pitchFamily="18" charset="0"/>
                                <a:ea typeface="Cambria Math" panose="02040503050406030204" pitchFamily="18" charset="0"/>
                              </a:rPr>
                              <m:t>𝜎</m:t>
                            </m:r>
                          </m:e>
                          <m:sub>
                            <m:r>
                              <a:rPr lang="en-US" sz="2000" b="0" i="1" smtClean="0">
                                <a:solidFill>
                                  <a:schemeClr val="tx1"/>
                                </a:solidFill>
                                <a:latin typeface="Cambria Math" panose="02040503050406030204" pitchFamily="18" charset="0"/>
                              </a:rPr>
                              <m:t>𝑃</m:t>
                            </m:r>
                          </m:sub>
                        </m:sSub>
                      </m:num>
                      <m:den>
                        <m:r>
                          <a:rPr lang="en-US" sz="2000" b="0" i="1" smtClean="0">
                            <a:solidFill>
                              <a:schemeClr val="tx1"/>
                            </a:solidFill>
                            <a:latin typeface="Cambria Math" panose="02040503050406030204" pitchFamily="18" charset="0"/>
                          </a:rPr>
                          <m:t>𝑃</m:t>
                        </m:r>
                      </m:den>
                    </m:f>
                    <m:r>
                      <a:rPr lang="en-US" sz="2000" i="1" smtClean="0">
                        <a:solidFill>
                          <a:schemeClr val="tx1"/>
                        </a:solidFill>
                        <a:latin typeface="Cambria Math" panose="02040503050406030204" pitchFamily="18" charset="0"/>
                        <a:ea typeface="Cambria Math" panose="02040503050406030204" pitchFamily="18" charset="0"/>
                      </a:rPr>
                      <m:t>&lt;</m:t>
                    </m:r>
                    <m:r>
                      <a:rPr lang="en-US" sz="2000" b="0" i="1" smtClean="0">
                        <a:solidFill>
                          <a:schemeClr val="tx1"/>
                        </a:solidFill>
                        <a:latin typeface="Cambria Math" panose="02040503050406030204" pitchFamily="18" charset="0"/>
                        <a:ea typeface="Cambria Math" panose="02040503050406030204" pitchFamily="18" charset="0"/>
                      </a:rPr>
                      <m:t>1% </m:t>
                    </m:r>
                  </m:oMath>
                </a14:m>
                <a:r>
                  <a:rPr lang="en-US" sz="2000" dirty="0">
                    <a:solidFill>
                      <a:schemeClr val="tx1"/>
                    </a:solidFill>
                    <a:latin typeface="Calibri" panose="020F0502020204030204" pitchFamily="34" charset="0"/>
                    <a:cs typeface="Calibri" panose="020F0502020204030204" pitchFamily="34" charset="0"/>
                  </a:rPr>
                  <a:t>per scan</a:t>
                </a:r>
              </a:p>
              <a:p>
                <a:pPr marL="342900" indent="-342900">
                  <a:buClr>
                    <a:srgbClr val="00B0F0"/>
                  </a:buClr>
                  <a:buFont typeface="Wingdings" pitchFamily="2" charset="2"/>
                  <a:buChar char="§"/>
                </a:pPr>
                <a:r>
                  <a:rPr lang="en-US" sz="2000" dirty="0">
                    <a:solidFill>
                      <a:schemeClr val="tx1"/>
                    </a:solidFill>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 polarization profile</a:t>
                </a:r>
              </a:p>
            </p:txBody>
          </p:sp>
        </mc:Choice>
        <mc:Fallback xmlns="">
          <p:sp>
            <p:nvSpPr>
              <p:cNvPr id="41" name="TextBox 40">
                <a:extLst>
                  <a:ext uri="{FF2B5EF4-FFF2-40B4-BE49-F238E27FC236}">
                    <a16:creationId xmlns:a16="http://schemas.microsoft.com/office/drawing/2014/main" id="{A65C6512-BA74-B6D6-01D7-99C44D181E3C}"/>
                  </a:ext>
                </a:extLst>
              </p:cNvPr>
              <p:cNvSpPr txBox="1">
                <a:spLocks noRot="1" noChangeAspect="1" noMove="1" noResize="1" noEditPoints="1" noAdjustHandles="1" noChangeArrowheads="1" noChangeShapeType="1" noTextEdit="1"/>
              </p:cNvSpPr>
              <p:nvPr/>
            </p:nvSpPr>
            <p:spPr>
              <a:xfrm>
                <a:off x="5627169" y="4762208"/>
                <a:ext cx="2742101" cy="808426"/>
              </a:xfrm>
              <a:prstGeom prst="rect">
                <a:avLst/>
              </a:prstGeom>
              <a:blipFill>
                <a:blip r:embed="rId7"/>
                <a:stretch>
                  <a:fillRect l="-1843" r="-1382" b="-12308"/>
                </a:stretch>
              </a:blipFill>
            </p:spPr>
            <p:txBody>
              <a:bodyPr/>
              <a:lstStyle/>
              <a:p>
                <a:r>
                  <a:rPr lang="en-US">
                    <a:noFill/>
                  </a:rPr>
                  <a:t> </a:t>
                </a:r>
              </a:p>
            </p:txBody>
          </p:sp>
        </mc:Fallback>
      </mc:AlternateContent>
    </p:spTree>
    <p:extLst>
      <p:ext uri="{BB962C8B-B14F-4D97-AF65-F5344CB8AC3E}">
        <p14:creationId xmlns:p14="http://schemas.microsoft.com/office/powerpoint/2010/main" val="1538861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A47E3-BF90-DCF4-5671-44543500FF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46CF58-7458-0C16-2913-7E7CB7CCDC46}"/>
              </a:ext>
            </a:extLst>
          </p:cNvPr>
          <p:cNvSpPr>
            <a:spLocks noGrp="1"/>
          </p:cNvSpPr>
          <p:nvPr>
            <p:ph type="sldNum" sz="quarter" idx="4"/>
          </p:nvPr>
        </p:nvSpPr>
        <p:spPr/>
        <p:txBody>
          <a:bodyPr/>
          <a:lstStyle/>
          <a:p>
            <a:fld id="{933A556B-7C63-244D-9B7C-B0EA8042B330}" type="slidenum">
              <a:rPr lang="en-US" smtClean="0"/>
              <a:pPr/>
              <a:t>12</a:t>
            </a:fld>
            <a:endParaRPr lang="en-US" dirty="0"/>
          </a:p>
        </p:txBody>
      </p:sp>
      <p:sp>
        <p:nvSpPr>
          <p:cNvPr id="3" name="Title 2">
            <a:extLst>
              <a:ext uri="{FF2B5EF4-FFF2-40B4-BE49-F238E27FC236}">
                <a16:creationId xmlns:a16="http://schemas.microsoft.com/office/drawing/2014/main" id="{A76E9439-4254-DF36-C3C3-6E873E1B5CAB}"/>
              </a:ext>
            </a:extLst>
          </p:cNvPr>
          <p:cNvSpPr>
            <a:spLocks noGrp="1"/>
          </p:cNvSpPr>
          <p:nvPr>
            <p:ph type="title"/>
          </p:nvPr>
        </p:nvSpPr>
        <p:spPr/>
        <p:txBody>
          <a:bodyPr>
            <a:noAutofit/>
          </a:bodyPr>
          <a:lstStyle/>
          <a:p>
            <a:r>
              <a:rPr lang="en-US" sz="3200" dirty="0"/>
              <a:t>Tech. Progress: ESR Laser and Position Detector</a:t>
            </a:r>
          </a:p>
        </p:txBody>
      </p:sp>
      <p:sp>
        <p:nvSpPr>
          <p:cNvPr id="4" name="Text Placeholder 7">
            <a:extLst>
              <a:ext uri="{FF2B5EF4-FFF2-40B4-BE49-F238E27FC236}">
                <a16:creationId xmlns:a16="http://schemas.microsoft.com/office/drawing/2014/main" id="{93284FD2-C14C-EDC9-FDB0-6D5C7A458DF7}"/>
              </a:ext>
            </a:extLst>
          </p:cNvPr>
          <p:cNvSpPr txBox="1">
            <a:spLocks/>
          </p:cNvSpPr>
          <p:nvPr/>
        </p:nvSpPr>
        <p:spPr>
          <a:xfrm>
            <a:off x="462579" y="1002468"/>
            <a:ext cx="4577254" cy="2144769"/>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spcAft>
                <a:spcPts val="600"/>
              </a:spcAft>
              <a:buFont typeface="Arial" panose="020B0604020202020204" pitchFamily="34" charset="0"/>
              <a:buChar char="•"/>
            </a:pPr>
            <a:r>
              <a:rPr lang="en-US" sz="2000" dirty="0"/>
              <a:t>Laser system based on similar system used in JLab injector and LERF </a:t>
            </a:r>
          </a:p>
          <a:p>
            <a:pPr marL="342900" indent="-342900">
              <a:spcAft>
                <a:spcPts val="600"/>
              </a:spcAft>
              <a:buFont typeface="Arial" panose="020B0604020202020204" pitchFamily="34" charset="0"/>
              <a:buChar char="•"/>
            </a:pPr>
            <a:r>
              <a:rPr lang="en-US" sz="2000" b="1" dirty="0">
                <a:solidFill>
                  <a:srgbClr val="C00000"/>
                </a:solidFill>
                <a:sym typeface="Wingdings" pitchFamily="2" charset="2"/>
              </a:rPr>
              <a:t>Fiber amplifier obtained</a:t>
            </a:r>
            <a:r>
              <a:rPr lang="en-US" sz="2000" dirty="0">
                <a:sym typeface="Wingdings" pitchFamily="2" charset="2"/>
              </a:rPr>
              <a:t> - work underway in Compton polarimetry laser lab at JLab</a:t>
            </a:r>
            <a:endParaRPr lang="en-US" sz="2000" dirty="0"/>
          </a:p>
        </p:txBody>
      </p:sp>
      <p:pic>
        <p:nvPicPr>
          <p:cNvPr id="5" name="Picture 4">
            <a:extLst>
              <a:ext uri="{FF2B5EF4-FFF2-40B4-BE49-F238E27FC236}">
                <a16:creationId xmlns:a16="http://schemas.microsoft.com/office/drawing/2014/main" id="{686E29E5-02A6-6F32-AF47-9820E225DAC4}"/>
              </a:ext>
            </a:extLst>
          </p:cNvPr>
          <p:cNvPicPr>
            <a:picLocks noChangeAspect="1"/>
          </p:cNvPicPr>
          <p:nvPr/>
        </p:nvPicPr>
        <p:blipFill>
          <a:blip r:embed="rId2"/>
          <a:srcRect l="3343" t="23665" r="5482" b="17752"/>
          <a:stretch/>
        </p:blipFill>
        <p:spPr>
          <a:xfrm>
            <a:off x="712405" y="3007530"/>
            <a:ext cx="4758007" cy="2362320"/>
          </a:xfrm>
          <a:prstGeom prst="rect">
            <a:avLst/>
          </a:prstGeom>
        </p:spPr>
      </p:pic>
      <p:grpSp>
        <p:nvGrpSpPr>
          <p:cNvPr id="6" name="Group 5">
            <a:extLst>
              <a:ext uri="{FF2B5EF4-FFF2-40B4-BE49-F238E27FC236}">
                <a16:creationId xmlns:a16="http://schemas.microsoft.com/office/drawing/2014/main" id="{95333EAE-C8D1-47AB-D16A-7C8DCCD7F215}"/>
              </a:ext>
            </a:extLst>
          </p:cNvPr>
          <p:cNvGrpSpPr/>
          <p:nvPr/>
        </p:nvGrpSpPr>
        <p:grpSpPr>
          <a:xfrm>
            <a:off x="7311906" y="3554340"/>
            <a:ext cx="3804329" cy="2434083"/>
            <a:chOff x="5026814" y="3056149"/>
            <a:chExt cx="3664345" cy="3009162"/>
          </a:xfrm>
        </p:grpSpPr>
        <p:pic>
          <p:nvPicPr>
            <p:cNvPr id="7" name="Picture 6">
              <a:extLst>
                <a:ext uri="{FF2B5EF4-FFF2-40B4-BE49-F238E27FC236}">
                  <a16:creationId xmlns:a16="http://schemas.microsoft.com/office/drawing/2014/main" id="{02BA6DC9-4651-3BA2-D2CE-4392D0611A3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026814" y="3056149"/>
              <a:ext cx="3664345" cy="3009162"/>
            </a:xfrm>
            <a:prstGeom prst="rect">
              <a:avLst/>
            </a:prstGeom>
          </p:spPr>
        </p:pic>
        <p:cxnSp>
          <p:nvCxnSpPr>
            <p:cNvPr id="8" name="Straight Arrow Connector 7">
              <a:extLst>
                <a:ext uri="{FF2B5EF4-FFF2-40B4-BE49-F238E27FC236}">
                  <a16:creationId xmlns:a16="http://schemas.microsoft.com/office/drawing/2014/main" id="{06F27CD7-7DA5-C570-A6D7-FE176D8A7105}"/>
                </a:ext>
              </a:extLst>
            </p:cNvPr>
            <p:cNvCxnSpPr/>
            <p:nvPr/>
          </p:nvCxnSpPr>
          <p:spPr>
            <a:xfrm>
              <a:off x="7216137" y="5722930"/>
              <a:ext cx="437745" cy="0"/>
            </a:xfrm>
            <a:prstGeom prst="straightConnector1">
              <a:avLst/>
            </a:prstGeom>
            <a:ln w="28575">
              <a:solidFill>
                <a:schemeClr val="accent4">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20EEFA1-75FC-D19C-A746-4ECC49CED2FE}"/>
                </a:ext>
              </a:extLst>
            </p:cNvPr>
            <p:cNvSpPr txBox="1"/>
            <p:nvPr/>
          </p:nvSpPr>
          <p:spPr>
            <a:xfrm>
              <a:off x="7693676" y="5538264"/>
              <a:ext cx="772411" cy="402693"/>
            </a:xfrm>
            <a:prstGeom prst="rect">
              <a:avLst/>
            </a:prstGeom>
            <a:solidFill>
              <a:srgbClr val="FFFF00"/>
            </a:solidFill>
          </p:spPr>
          <p:txBody>
            <a:bodyPr wrap="none" rtlCol="0">
              <a:spAutoFit/>
            </a:bodyPr>
            <a:lstStyle/>
            <a:p>
              <a:pPr algn="ctr"/>
              <a:r>
                <a:rPr lang="en-US" sz="1400">
                  <a:highlight>
                    <a:srgbClr val="FFFF00"/>
                  </a:highlight>
                </a:rPr>
                <a:t>10 ns</a:t>
              </a:r>
            </a:p>
          </p:txBody>
        </p:sp>
      </p:grpSp>
      <p:sp>
        <p:nvSpPr>
          <p:cNvPr id="10" name="TextBox 9">
            <a:extLst>
              <a:ext uri="{FF2B5EF4-FFF2-40B4-BE49-F238E27FC236}">
                <a16:creationId xmlns:a16="http://schemas.microsoft.com/office/drawing/2014/main" id="{4579A0F2-3C9A-5AC6-6ABD-CAB1A0C9827D}"/>
              </a:ext>
            </a:extLst>
          </p:cNvPr>
          <p:cNvSpPr txBox="1"/>
          <p:nvPr/>
        </p:nvSpPr>
        <p:spPr>
          <a:xfrm>
            <a:off x="6084244" y="1002468"/>
            <a:ext cx="5799891" cy="2631490"/>
          </a:xfrm>
          <a:prstGeom prst="rect">
            <a:avLst/>
          </a:prstGeom>
          <a:noFill/>
        </p:spPr>
        <p:txBody>
          <a:bodyPr wrap="square" rtlCol="0">
            <a:spAutoFit/>
          </a:bodyPr>
          <a:lstStyle/>
          <a:p>
            <a:pPr marL="285750" indent="-285750">
              <a:buFont typeface="Arial" panose="020B0604020202020204" pitchFamily="34" charset="0"/>
              <a:buChar char="•"/>
            </a:pPr>
            <a:r>
              <a:rPr lang="en-US" sz="2000" dirty="0"/>
              <a:t>Diamond strip detectors will be used for position-sensitive measurements</a:t>
            </a:r>
          </a:p>
          <a:p>
            <a:pPr marL="285750" indent="-285750">
              <a:lnSpc>
                <a:spcPct val="100000"/>
              </a:lnSpc>
              <a:spcBef>
                <a:spcPts val="0"/>
              </a:spcBef>
              <a:spcAft>
                <a:spcPts val="600"/>
              </a:spcAft>
              <a:buFont typeface="Arial" panose="020B0604020202020204" pitchFamily="34" charset="0"/>
              <a:buChar char="•"/>
            </a:pPr>
            <a:r>
              <a:rPr lang="en-US" sz="2000" dirty="0">
                <a:sym typeface="Wingdings" pitchFamily="2" charset="2"/>
              </a:rPr>
              <a:t>Custom ASIC readout required</a:t>
            </a:r>
          </a:p>
          <a:p>
            <a:pPr marL="742950" lvl="1" indent="-285750">
              <a:lnSpc>
                <a:spcPct val="100000"/>
              </a:lnSpc>
              <a:spcBef>
                <a:spcPts val="0"/>
              </a:spcBef>
              <a:spcAft>
                <a:spcPts val="600"/>
              </a:spcAft>
              <a:buFont typeface="Arial" panose="020B0604020202020204" pitchFamily="34" charset="0"/>
              <a:buChar char="•"/>
            </a:pPr>
            <a:r>
              <a:rPr lang="en-US" b="1" dirty="0">
                <a:solidFill>
                  <a:srgbClr val="C00000"/>
                </a:solidFill>
                <a:sym typeface="Wingdings" pitchFamily="2" charset="2"/>
              </a:rPr>
              <a:t>New “FLAT32” chip based on “CALYPSO” (used at LHC) </a:t>
            </a:r>
            <a:br>
              <a:rPr lang="en-US" b="1" dirty="0">
                <a:solidFill>
                  <a:srgbClr val="C00000"/>
                </a:solidFill>
                <a:sym typeface="Wingdings" pitchFamily="2" charset="2"/>
              </a:rPr>
            </a:br>
            <a:r>
              <a:rPr lang="en-US" b="1" dirty="0">
                <a:solidFill>
                  <a:srgbClr val="C00000"/>
                </a:solidFill>
                <a:sym typeface="Wingdings" pitchFamily="2" charset="2"/>
              </a:rPr>
              <a:t>developed for JLab/MOLLER (complete)</a:t>
            </a:r>
          </a:p>
          <a:p>
            <a:pPr marL="742950" lvl="1" indent="-285750">
              <a:lnSpc>
                <a:spcPct val="100000"/>
              </a:lnSpc>
              <a:spcBef>
                <a:spcPts val="0"/>
              </a:spcBef>
              <a:spcAft>
                <a:spcPts val="600"/>
              </a:spcAft>
              <a:buFont typeface="Arial" panose="020B0604020202020204" pitchFamily="34" charset="0"/>
              <a:buChar char="•"/>
            </a:pPr>
            <a:r>
              <a:rPr lang="en-US" dirty="0">
                <a:sym typeface="Wingdings" pitchFamily="2" charset="2"/>
              </a:rPr>
              <a:t>Meets timing requirements of EIC (10 ns)</a:t>
            </a:r>
          </a:p>
          <a:p>
            <a:endParaRPr lang="en-US" dirty="0"/>
          </a:p>
        </p:txBody>
      </p:sp>
      <p:sp>
        <p:nvSpPr>
          <p:cNvPr id="11" name="object 11">
            <a:extLst>
              <a:ext uri="{FF2B5EF4-FFF2-40B4-BE49-F238E27FC236}">
                <a16:creationId xmlns:a16="http://schemas.microsoft.com/office/drawing/2014/main" id="{3312B8FA-86FF-F23E-02BB-11A179B4CF9D}"/>
              </a:ext>
            </a:extLst>
          </p:cNvPr>
          <p:cNvSpPr txBox="1"/>
          <p:nvPr/>
        </p:nvSpPr>
        <p:spPr>
          <a:xfrm>
            <a:off x="10416794" y="404229"/>
            <a:ext cx="1527551"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#2</a:t>
            </a:r>
            <a:endParaRPr sz="2001" dirty="0">
              <a:solidFill>
                <a:srgbClr val="FF0000"/>
              </a:solidFill>
              <a:latin typeface="Arial Narrow"/>
              <a:cs typeface="Arial Narrow"/>
            </a:endParaRPr>
          </a:p>
        </p:txBody>
      </p:sp>
      <p:sp>
        <p:nvSpPr>
          <p:cNvPr id="12" name="TextBox 11">
            <a:extLst>
              <a:ext uri="{FF2B5EF4-FFF2-40B4-BE49-F238E27FC236}">
                <a16:creationId xmlns:a16="http://schemas.microsoft.com/office/drawing/2014/main" id="{5BD3E581-FC97-6875-7415-326A0C984F95}"/>
              </a:ext>
            </a:extLst>
          </p:cNvPr>
          <p:cNvSpPr txBox="1"/>
          <p:nvPr/>
        </p:nvSpPr>
        <p:spPr>
          <a:xfrm>
            <a:off x="1000276" y="5493144"/>
            <a:ext cx="5972148" cy="646331"/>
          </a:xfrm>
          <a:prstGeom prst="rect">
            <a:avLst/>
          </a:prstGeom>
          <a:noFill/>
        </p:spPr>
        <p:txBody>
          <a:bodyPr wrap="none" rtlCol="0">
            <a:spAutoFit/>
          </a:bodyPr>
          <a:lstStyle/>
          <a:p>
            <a:r>
              <a:rPr lang="en-US" dirty="0"/>
              <a:t>RCS polarimeter will use same detectors as ESR</a:t>
            </a:r>
          </a:p>
          <a:p>
            <a:r>
              <a:rPr lang="en-US" dirty="0">
                <a:sym typeface="Wingdings" pitchFamily="2" charset="2"/>
              </a:rPr>
              <a:t> different laser (low duty cycle, commercially available)</a:t>
            </a:r>
            <a:endParaRPr lang="en-US" dirty="0"/>
          </a:p>
        </p:txBody>
      </p:sp>
    </p:spTree>
    <p:extLst>
      <p:ext uri="{BB962C8B-B14F-4D97-AF65-F5344CB8AC3E}">
        <p14:creationId xmlns:p14="http://schemas.microsoft.com/office/powerpoint/2010/main" val="4238116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05E17CF-54E7-C09B-66B7-DCC15F1ECBB7}"/>
                  </a:ext>
                </a:extLst>
              </p:cNvPr>
              <p:cNvSpPr txBox="1"/>
              <p:nvPr/>
            </p:nvSpPr>
            <p:spPr>
              <a:xfrm>
                <a:off x="781543" y="4160527"/>
                <a:ext cx="5237196" cy="1077218"/>
              </a:xfrm>
              <a:prstGeom prst="rect">
                <a:avLst/>
              </a:prstGeom>
              <a:noFill/>
              <a:ln w="19050">
                <a:noFill/>
              </a:ln>
            </p:spPr>
            <p:txBody>
              <a:bodyPr wrap="square" rtlCol="0">
                <a:spAutoFit/>
              </a:bodyPr>
              <a:lstStyle/>
              <a:p>
                <a:r>
                  <a:rPr lang="en-US" sz="2400" dirty="0"/>
                  <a:t>Avoid bunch-induced depolarization by </a:t>
                </a:r>
                <a:r>
                  <a:rPr lang="en-US" sz="2400" dirty="0">
                    <a:solidFill>
                      <a:schemeClr val="tx1"/>
                    </a:solidFill>
                  </a:rPr>
                  <a:t>HJET operation at </a:t>
                </a:r>
                <a14:m>
                  <m:oMath xmlns:m="http://schemas.openxmlformats.org/officeDocument/2006/math">
                    <m:r>
                      <m:rPr>
                        <m:sty m:val="p"/>
                      </m:rPr>
                      <a:rPr lang="en-US" sz="2400" b="0" i="0" dirty="0" smtClean="0">
                        <a:solidFill>
                          <a:schemeClr val="tx1"/>
                        </a:solidFill>
                        <a:latin typeface="Cambria Math" panose="02040503050406030204" pitchFamily="18" charset="0"/>
                        <a:ea typeface="Cambria Math" panose="02040503050406030204" pitchFamily="18" charset="0"/>
                      </a:rPr>
                      <m:t>B</m:t>
                    </m:r>
                    <m:r>
                      <a:rPr lang="en-US" sz="2400" b="0" i="1" dirty="0" smtClean="0">
                        <a:solidFill>
                          <a:schemeClr val="tx1"/>
                        </a:solidFill>
                        <a:latin typeface="Cambria Math" panose="02040503050406030204" pitchFamily="18" charset="0"/>
                        <a:ea typeface="Cambria Math" panose="02040503050406030204" pitchFamily="18" charset="0"/>
                      </a:rPr>
                      <m:t>≈400 </m:t>
                    </m:r>
                    <m:r>
                      <m:rPr>
                        <m:sty m:val="p"/>
                      </m:rPr>
                      <a:rPr lang="en-US" sz="2400" b="0" i="0" dirty="0" smtClean="0">
                        <a:solidFill>
                          <a:schemeClr val="tx1"/>
                        </a:solidFill>
                        <a:latin typeface="Cambria Math" panose="02040503050406030204" pitchFamily="18" charset="0"/>
                        <a:ea typeface="Cambria Math" panose="02040503050406030204" pitchFamily="18" charset="0"/>
                      </a:rPr>
                      <m:t>mT</m:t>
                    </m:r>
                    <m:r>
                      <a:rPr lang="en-US" sz="2400" b="0" i="0" dirty="0" smtClean="0">
                        <a:solidFill>
                          <a:schemeClr val="tx1"/>
                        </a:solidFill>
                        <a:latin typeface="Cambria Math" panose="02040503050406030204" pitchFamily="18" charset="0"/>
                        <a:ea typeface="Cambria Math" panose="02040503050406030204" pitchFamily="18" charset="0"/>
                      </a:rPr>
                      <m:t> </m:t>
                    </m:r>
                  </m:oMath>
                </a14:m>
                <a:br>
                  <a:rPr lang="en-US" sz="1600" b="0" i="0" dirty="0">
                    <a:solidFill>
                      <a:schemeClr val="tx1"/>
                    </a:solidFill>
                    <a:latin typeface="Cambria Math" panose="02040503050406030204" pitchFamily="18" charset="0"/>
                    <a:ea typeface="Cambria Math" panose="02040503050406030204" pitchFamily="18" charset="0"/>
                  </a:rPr>
                </a:br>
                <a14:m>
                  <m:oMath xmlns:m="http://schemas.openxmlformats.org/officeDocument/2006/math">
                    <m:r>
                      <a:rPr lang="en-US" sz="1600" b="0" i="1" dirty="0" smtClean="0">
                        <a:solidFill>
                          <a:schemeClr val="tx1"/>
                        </a:solidFill>
                        <a:latin typeface="Cambria Math" panose="02040503050406030204" pitchFamily="18" charset="0"/>
                        <a:ea typeface="Cambria Math" panose="02040503050406030204" pitchFamily="18" charset="0"/>
                      </a:rPr>
                      <m:t>→ </m:t>
                    </m:r>
                  </m:oMath>
                </a14:m>
                <a:r>
                  <a:rPr lang="en-US" sz="1600" dirty="0">
                    <a:solidFill>
                      <a:srgbClr val="00B050"/>
                    </a:solidFill>
                  </a:rPr>
                  <a:t>https://arxiv.org/abs/2508.01366</a:t>
                </a:r>
                <a:endParaRPr lang="en-US" sz="2000" dirty="0">
                  <a:solidFill>
                    <a:srgbClr val="00B050"/>
                  </a:solidFill>
                </a:endParaRPr>
              </a:p>
            </p:txBody>
          </p:sp>
        </mc:Choice>
        <mc:Fallback xmlns="">
          <p:sp>
            <p:nvSpPr>
              <p:cNvPr id="5" name="TextBox 4">
                <a:extLst>
                  <a:ext uri="{FF2B5EF4-FFF2-40B4-BE49-F238E27FC236}">
                    <a16:creationId xmlns:a16="http://schemas.microsoft.com/office/drawing/2014/main" id="{105E17CF-54E7-C09B-66B7-DCC15F1ECBB7}"/>
                  </a:ext>
                </a:extLst>
              </p:cNvPr>
              <p:cNvSpPr txBox="1">
                <a:spLocks noRot="1" noChangeAspect="1" noMove="1" noResize="1" noEditPoints="1" noAdjustHandles="1" noChangeArrowheads="1" noChangeShapeType="1" noTextEdit="1"/>
              </p:cNvSpPr>
              <p:nvPr/>
            </p:nvSpPr>
            <p:spPr>
              <a:xfrm>
                <a:off x="781543" y="4160527"/>
                <a:ext cx="5237196" cy="1077218"/>
              </a:xfrm>
              <a:prstGeom prst="rect">
                <a:avLst/>
              </a:prstGeom>
              <a:blipFill>
                <a:blip r:embed="rId2"/>
                <a:stretch>
                  <a:fillRect l="-1937" t="-4651" b="-6977"/>
                </a:stretch>
              </a:blipFill>
              <a:ln w="19050">
                <a:noFill/>
              </a:ln>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6D414081-1AB7-FBE4-90C6-0327EFCA7D9D}"/>
              </a:ext>
            </a:extLst>
          </p:cNvPr>
          <p:cNvGrpSpPr>
            <a:grpSpLocks noChangeAspect="1"/>
          </p:cNvGrpSpPr>
          <p:nvPr/>
        </p:nvGrpSpPr>
        <p:grpSpPr>
          <a:xfrm>
            <a:off x="5889812" y="3512302"/>
            <a:ext cx="5714105" cy="2844049"/>
            <a:chOff x="2528360" y="1545743"/>
            <a:chExt cx="6973519" cy="4500000"/>
          </a:xfrm>
        </p:grpSpPr>
        <p:pic>
          <p:nvPicPr>
            <p:cNvPr id="14" name="Picture 13" descr="Chart, line chart&#10;&#10;AI-generated content may be incorrect.">
              <a:extLst>
                <a:ext uri="{FF2B5EF4-FFF2-40B4-BE49-F238E27FC236}">
                  <a16:creationId xmlns:a16="http://schemas.microsoft.com/office/drawing/2014/main" id="{E65FA013-A7F5-BC75-8F28-C58900EC2CF2}"/>
                </a:ext>
              </a:extLst>
            </p:cNvPr>
            <p:cNvPicPr>
              <a:picLocks noChangeAspect="1"/>
            </p:cNvPicPr>
            <p:nvPr/>
          </p:nvPicPr>
          <p:blipFill>
            <a:blip r:embed="rId3"/>
            <a:stretch>
              <a:fillRect/>
            </a:stretch>
          </p:blipFill>
          <p:spPr>
            <a:xfrm>
              <a:off x="2528360" y="1545743"/>
              <a:ext cx="6973519" cy="4500000"/>
            </a:xfrm>
            <a:prstGeom prst="rect">
              <a:avLst/>
            </a:prstGeom>
          </p:spPr>
        </p:pic>
        <p:sp>
          <p:nvSpPr>
            <p:cNvPr id="15" name="Down Arrow 14">
              <a:extLst>
                <a:ext uri="{FF2B5EF4-FFF2-40B4-BE49-F238E27FC236}">
                  <a16:creationId xmlns:a16="http://schemas.microsoft.com/office/drawing/2014/main" id="{A3385391-B451-7D80-3045-BF9EC57522BB}"/>
                </a:ext>
              </a:extLst>
            </p:cNvPr>
            <p:cNvSpPr/>
            <p:nvPr/>
          </p:nvSpPr>
          <p:spPr>
            <a:xfrm>
              <a:off x="7985490" y="4118776"/>
              <a:ext cx="265176" cy="799500"/>
            </a:xfrm>
            <a:prstGeom prst="downArrow">
              <a:avLst>
                <a:gd name="adj1" fmla="val 50000"/>
                <a:gd name="adj2" fmla="val 118966"/>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6" name="TextBox 15">
              <a:extLst>
                <a:ext uri="{FF2B5EF4-FFF2-40B4-BE49-F238E27FC236}">
                  <a16:creationId xmlns:a16="http://schemas.microsoft.com/office/drawing/2014/main" id="{EBB6DDB7-67DA-CFA1-766B-E263143BFAA3}"/>
                </a:ext>
              </a:extLst>
            </p:cNvPr>
            <p:cNvSpPr txBox="1"/>
            <p:nvPr/>
          </p:nvSpPr>
          <p:spPr>
            <a:xfrm>
              <a:off x="7037210" y="3266791"/>
              <a:ext cx="2134280" cy="787550"/>
            </a:xfrm>
            <a:prstGeom prst="rect">
              <a:avLst/>
            </a:prstGeom>
            <a:noFill/>
          </p:spPr>
          <p:txBody>
            <a:bodyPr wrap="square" rtlCol="0">
              <a:spAutoFit/>
            </a:bodyPr>
            <a:lstStyle/>
            <a:p>
              <a:pPr algn="ctr"/>
              <a:r>
                <a:rPr lang="en-US" sz="1200" dirty="0">
                  <a:solidFill>
                    <a:srgbClr val="00B050"/>
                  </a:solidFill>
                </a:rPr>
                <a:t>Operate</a:t>
              </a:r>
            </a:p>
            <a:p>
              <a:pPr algn="ctr"/>
              <a:r>
                <a:rPr lang="en-US" sz="1200" dirty="0">
                  <a:solidFill>
                    <a:srgbClr val="00B050"/>
                  </a:solidFill>
                </a:rPr>
                <a:t>HJET here</a:t>
              </a:r>
            </a:p>
          </p:txBody>
        </p:sp>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E308AAB-F7FE-EA19-D687-CD83FFC5BBE5}"/>
                  </a:ext>
                </a:extLst>
              </p:cNvPr>
              <p:cNvSpPr txBox="1"/>
              <p:nvPr/>
            </p:nvSpPr>
            <p:spPr>
              <a:xfrm>
                <a:off x="551831" y="891298"/>
                <a:ext cx="10949492" cy="369332"/>
              </a:xfrm>
              <a:prstGeom prst="rect">
                <a:avLst/>
              </a:prstGeom>
              <a:noFill/>
            </p:spPr>
            <p:txBody>
              <a:bodyPr wrap="square">
                <a:spAutoFit/>
              </a:bodyPr>
              <a:lstStyle/>
              <a:p>
                <a:r>
                  <a:rPr lang="en-US" dirty="0">
                    <a:solidFill>
                      <a:schemeClr val="tx1"/>
                    </a:solidFill>
                  </a:rPr>
                  <a:t>Bunch repetition frequency increased by factor of 10. RHIC: </a:t>
                </a:r>
                <a14:m>
                  <m:oMath xmlns:m="http://schemas.openxmlformats.org/officeDocument/2006/math">
                    <m:r>
                      <a:rPr lang="en-US" dirty="0">
                        <a:solidFill>
                          <a:schemeClr val="tx1"/>
                        </a:solidFill>
                        <a:latin typeface="Cambria Math" panose="02040503050406030204" pitchFamily="18" charset="0"/>
                      </a:rPr>
                      <m:t>9.381 </m:t>
                    </m:r>
                    <m:r>
                      <m:rPr>
                        <m:sty m:val="p"/>
                      </m:rPr>
                      <a:rPr lang="en-US" dirty="0">
                        <a:solidFill>
                          <a:schemeClr val="tx1"/>
                        </a:solidFill>
                        <a:latin typeface="Cambria Math" panose="02040503050406030204" pitchFamily="18" charset="0"/>
                      </a:rPr>
                      <m:t>MHz</m:t>
                    </m:r>
                    <m:r>
                      <a:rPr lang="en-US" b="0" i="0" dirty="0" smtClean="0">
                        <a:solidFill>
                          <a:schemeClr val="tx1"/>
                        </a:solidFill>
                        <a:latin typeface="Cambria Math" panose="02040503050406030204" pitchFamily="18" charset="0"/>
                      </a:rPr>
                      <m:t>, </m:t>
                    </m:r>
                    <m:r>
                      <m:rPr>
                        <m:nor/>
                      </m:rPr>
                      <a:rPr lang="en-US" dirty="0">
                        <a:solidFill>
                          <a:schemeClr val="tx1"/>
                        </a:solidFill>
                      </a:rPr>
                      <m:t>EIC</m:t>
                    </m:r>
                    <m:r>
                      <a:rPr lang="en-US" b="0" i="0" dirty="0" smtClean="0">
                        <a:solidFill>
                          <a:schemeClr val="tx1"/>
                        </a:solidFill>
                        <a:latin typeface="Cambria Math" panose="02040503050406030204" pitchFamily="18" charset="0"/>
                      </a:rPr>
                      <m:t>: </m:t>
                    </m:r>
                    <m:r>
                      <a:rPr lang="en-US" dirty="0">
                        <a:solidFill>
                          <a:schemeClr val="tx1"/>
                        </a:solidFill>
                        <a:latin typeface="Cambria Math" panose="02040503050406030204" pitchFamily="18" charset="0"/>
                      </a:rPr>
                      <m:t>90.683 </m:t>
                    </m:r>
                    <m:r>
                      <m:rPr>
                        <m:sty m:val="p"/>
                      </m:rPr>
                      <a:rPr lang="en-US" dirty="0">
                        <a:solidFill>
                          <a:schemeClr val="tx1"/>
                        </a:solidFill>
                        <a:latin typeface="Cambria Math" panose="02040503050406030204" pitchFamily="18" charset="0"/>
                      </a:rPr>
                      <m:t>MHz</m:t>
                    </m:r>
                    <m:r>
                      <a:rPr lang="en-US" dirty="0">
                        <a:solidFill>
                          <a:schemeClr val="tx1"/>
                        </a:solidFill>
                        <a:latin typeface="Cambria Math" panose="02040503050406030204" pitchFamily="18" charset="0"/>
                      </a:rPr>
                      <m:t> </m:t>
                    </m:r>
                  </m:oMath>
                </a14:m>
                <a:endParaRPr lang="en-US" dirty="0"/>
              </a:p>
            </p:txBody>
          </p:sp>
        </mc:Choice>
        <mc:Fallback xmlns="">
          <p:sp>
            <p:nvSpPr>
              <p:cNvPr id="18" name="TextBox 17">
                <a:extLst>
                  <a:ext uri="{FF2B5EF4-FFF2-40B4-BE49-F238E27FC236}">
                    <a16:creationId xmlns:a16="http://schemas.microsoft.com/office/drawing/2014/main" id="{0E308AAB-F7FE-EA19-D687-CD83FFC5BBE5}"/>
                  </a:ext>
                </a:extLst>
              </p:cNvPr>
              <p:cNvSpPr txBox="1">
                <a:spLocks noRot="1" noChangeAspect="1" noMove="1" noResize="1" noEditPoints="1" noAdjustHandles="1" noChangeArrowheads="1" noChangeShapeType="1" noTextEdit="1"/>
              </p:cNvSpPr>
              <p:nvPr/>
            </p:nvSpPr>
            <p:spPr>
              <a:xfrm>
                <a:off x="551831" y="891298"/>
                <a:ext cx="10949492" cy="369332"/>
              </a:xfrm>
              <a:prstGeom prst="rect">
                <a:avLst/>
              </a:prstGeom>
              <a:blipFill>
                <a:blip r:embed="rId4"/>
                <a:stretch>
                  <a:fillRect l="-463" t="-6667" b="-26667"/>
                </a:stretch>
              </a:blipFill>
            </p:spPr>
            <p:txBody>
              <a:bodyPr/>
              <a:lstStyle/>
              <a:p>
                <a:r>
                  <a:rPr lang="en-US">
                    <a:noFill/>
                  </a:rPr>
                  <a:t> </a:t>
                </a:r>
              </a:p>
            </p:txBody>
          </p:sp>
        </mc:Fallback>
      </mc:AlternateContent>
      <p:sp>
        <p:nvSpPr>
          <p:cNvPr id="19" name="Title 2">
            <a:extLst>
              <a:ext uri="{FF2B5EF4-FFF2-40B4-BE49-F238E27FC236}">
                <a16:creationId xmlns:a16="http://schemas.microsoft.com/office/drawing/2014/main" id="{179F3DE3-B63D-999E-CAFD-6431D1C456FA}"/>
              </a:ext>
            </a:extLst>
          </p:cNvPr>
          <p:cNvSpPr txBox="1">
            <a:spLocks/>
          </p:cNvSpPr>
          <p:nvPr/>
        </p:nvSpPr>
        <p:spPr>
          <a:xfrm>
            <a:off x="462579" y="0"/>
            <a:ext cx="11499925" cy="825178"/>
          </a:xfrm>
          <a:prstGeom prst="rect">
            <a:avLst/>
          </a:prstGeom>
        </p:spPr>
        <p:txBody>
          <a:bodyPr anchor="ctr">
            <a:normAutofit/>
          </a:bodyPr>
          <a:lstStyle>
            <a:lvl1pPr algn="l" defTabSz="914400" rtl="0" eaLnBrk="1" latinLnBrk="0" hangingPunct="1">
              <a:lnSpc>
                <a:spcPct val="90000"/>
              </a:lnSpc>
              <a:spcBef>
                <a:spcPct val="0"/>
              </a:spcBef>
              <a:buNone/>
              <a:defRPr sz="4000" b="1" u="none" kern="1200">
                <a:solidFill>
                  <a:schemeClr val="tx1"/>
                </a:solidFill>
                <a:latin typeface="+mn-lt"/>
                <a:ea typeface="+mj-ea"/>
                <a:cs typeface="+mj-cs"/>
              </a:defRPr>
            </a:lvl1pPr>
          </a:lstStyle>
          <a:p>
            <a:r>
              <a:rPr lang="en-US" dirty="0"/>
              <a:t>Tech. Progress: Bunch-induced </a:t>
            </a:r>
            <a:r>
              <a:rPr lang="en-US" dirty="0" err="1"/>
              <a:t>depol</a:t>
            </a:r>
            <a:r>
              <a:rPr lang="en-US" dirty="0"/>
              <a:t>.</a:t>
            </a:r>
          </a:p>
        </p:txBody>
      </p:sp>
      <p:grpSp>
        <p:nvGrpSpPr>
          <p:cNvPr id="20" name="Group 19">
            <a:extLst>
              <a:ext uri="{FF2B5EF4-FFF2-40B4-BE49-F238E27FC236}">
                <a16:creationId xmlns:a16="http://schemas.microsoft.com/office/drawing/2014/main" id="{E3415054-890F-A0F0-EAFC-E635030513E7}"/>
              </a:ext>
            </a:extLst>
          </p:cNvPr>
          <p:cNvGrpSpPr>
            <a:grpSpLocks noChangeAspect="1"/>
          </p:cNvGrpSpPr>
          <p:nvPr/>
        </p:nvGrpSpPr>
        <p:grpSpPr>
          <a:xfrm>
            <a:off x="740743" y="1411536"/>
            <a:ext cx="2871557" cy="1944000"/>
            <a:chOff x="571504" y="1703083"/>
            <a:chExt cx="3972971" cy="2689643"/>
          </a:xfrm>
        </p:grpSpPr>
        <p:pic>
          <p:nvPicPr>
            <p:cNvPr id="21" name="Picture 20" descr="Chart, line chart&#10;&#10;AI-generated content may be incorrect.">
              <a:extLst>
                <a:ext uri="{FF2B5EF4-FFF2-40B4-BE49-F238E27FC236}">
                  <a16:creationId xmlns:a16="http://schemas.microsoft.com/office/drawing/2014/main" id="{95754462-941C-2DF2-A2A8-8124ADDD13B2}"/>
                </a:ext>
              </a:extLst>
            </p:cNvPr>
            <p:cNvPicPr>
              <a:picLocks noChangeAspect="1"/>
            </p:cNvPicPr>
            <p:nvPr/>
          </p:nvPicPr>
          <p:blipFill>
            <a:blip r:embed="rId5"/>
            <a:stretch>
              <a:fillRect/>
            </a:stretch>
          </p:blipFill>
          <p:spPr>
            <a:xfrm>
              <a:off x="571504" y="1703083"/>
              <a:ext cx="3972971" cy="2689643"/>
            </a:xfrm>
            <a:prstGeom prst="rect">
              <a:avLst/>
            </a:prstGeom>
            <a:ln>
              <a:noFill/>
            </a:ln>
          </p:spPr>
        </p:pic>
        <p:sp>
          <p:nvSpPr>
            <p:cNvPr id="22" name="TextBox 21">
              <a:extLst>
                <a:ext uri="{FF2B5EF4-FFF2-40B4-BE49-F238E27FC236}">
                  <a16:creationId xmlns:a16="http://schemas.microsoft.com/office/drawing/2014/main" id="{1174B370-5A0E-0C6A-FF68-34A0FA9D056C}"/>
                </a:ext>
              </a:extLst>
            </p:cNvPr>
            <p:cNvSpPr txBox="1"/>
            <p:nvPr/>
          </p:nvSpPr>
          <p:spPr>
            <a:xfrm flipH="1">
              <a:off x="3618606" y="2395135"/>
              <a:ext cx="541637" cy="425828"/>
            </a:xfrm>
            <a:prstGeom prst="rect">
              <a:avLst/>
            </a:prstGeom>
            <a:noFill/>
          </p:spPr>
          <p:txBody>
            <a:bodyPr wrap="square" rtlCol="0">
              <a:spAutoFit/>
            </a:bodyPr>
            <a:lstStyle/>
            <a:p>
              <a:pPr algn="ctr"/>
              <a:r>
                <a:rPr lang="en-US" sz="1400" b="1" dirty="0">
                  <a:solidFill>
                    <a:srgbClr val="92D050"/>
                  </a:solidFill>
                </a:rPr>
                <a:t>ok</a:t>
              </a:r>
            </a:p>
          </p:txBody>
        </p:sp>
        <p:sp>
          <p:nvSpPr>
            <p:cNvPr id="23" name="Left Arrow 22">
              <a:extLst>
                <a:ext uri="{FF2B5EF4-FFF2-40B4-BE49-F238E27FC236}">
                  <a16:creationId xmlns:a16="http://schemas.microsoft.com/office/drawing/2014/main" id="{A8FBBDB0-B20C-CA2D-2196-2E37DEE8C8A3}"/>
                </a:ext>
              </a:extLst>
            </p:cNvPr>
            <p:cNvSpPr/>
            <p:nvPr/>
          </p:nvSpPr>
          <p:spPr>
            <a:xfrm rot="16200000">
              <a:off x="3619885" y="2948186"/>
              <a:ext cx="539083" cy="278521"/>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Picture 23" descr="Chart, histogram&#10;&#10;AI-generated content may be incorrect.">
            <a:extLst>
              <a:ext uri="{FF2B5EF4-FFF2-40B4-BE49-F238E27FC236}">
                <a16:creationId xmlns:a16="http://schemas.microsoft.com/office/drawing/2014/main" id="{A48DB73A-5E52-DFBD-7858-7980127A81CA}"/>
              </a:ext>
            </a:extLst>
          </p:cNvPr>
          <p:cNvPicPr>
            <a:picLocks noChangeAspect="1"/>
          </p:cNvPicPr>
          <p:nvPr/>
        </p:nvPicPr>
        <p:blipFill>
          <a:blip r:embed="rId6"/>
          <a:stretch>
            <a:fillRect/>
          </a:stretch>
        </p:blipFill>
        <p:spPr>
          <a:xfrm>
            <a:off x="4597217" y="1411536"/>
            <a:ext cx="2858720" cy="1943229"/>
          </a:xfrm>
          <a:prstGeom prst="rect">
            <a:avLst/>
          </a:prstGeom>
          <a:ln>
            <a:noFill/>
          </a:ln>
        </p:spPr>
      </p:pic>
      <p:pic>
        <p:nvPicPr>
          <p:cNvPr id="26" name="Picture 25" descr="Chart&#10;&#10;AI-generated content may be incorrect.">
            <a:extLst>
              <a:ext uri="{FF2B5EF4-FFF2-40B4-BE49-F238E27FC236}">
                <a16:creationId xmlns:a16="http://schemas.microsoft.com/office/drawing/2014/main" id="{867B90DB-2970-68D0-FBD4-14F947F5E993}"/>
              </a:ext>
            </a:extLst>
          </p:cNvPr>
          <p:cNvPicPr>
            <a:picLocks noChangeAspect="1"/>
          </p:cNvPicPr>
          <p:nvPr/>
        </p:nvPicPr>
        <p:blipFill>
          <a:blip r:embed="rId7"/>
          <a:stretch>
            <a:fillRect/>
          </a:stretch>
        </p:blipFill>
        <p:spPr>
          <a:xfrm>
            <a:off x="8197412" y="1418168"/>
            <a:ext cx="2678276" cy="1937368"/>
          </a:xfrm>
          <a:prstGeom prst="rect">
            <a:avLst/>
          </a:prstGeom>
          <a:ln>
            <a:noFill/>
          </a:ln>
        </p:spPr>
      </p:pic>
      <p:sp>
        <p:nvSpPr>
          <p:cNvPr id="28" name="TextBox 27">
            <a:extLst>
              <a:ext uri="{FF2B5EF4-FFF2-40B4-BE49-F238E27FC236}">
                <a16:creationId xmlns:a16="http://schemas.microsoft.com/office/drawing/2014/main" id="{2DD46CC0-B61D-348A-E610-EC671A7FF993}"/>
              </a:ext>
            </a:extLst>
          </p:cNvPr>
          <p:cNvSpPr txBox="1"/>
          <p:nvPr/>
        </p:nvSpPr>
        <p:spPr>
          <a:xfrm>
            <a:off x="10331594" y="868697"/>
            <a:ext cx="1452117" cy="523220"/>
          </a:xfrm>
          <a:prstGeom prst="rect">
            <a:avLst/>
          </a:prstGeom>
          <a:noFill/>
          <a:ln>
            <a:solidFill>
              <a:srgbClr val="C00000"/>
            </a:solidFill>
          </a:ln>
        </p:spPr>
        <p:txBody>
          <a:bodyPr wrap="square" rtlCol="0">
            <a:spAutoFit/>
          </a:bodyPr>
          <a:lstStyle/>
          <a:p>
            <a:pPr algn="ctr"/>
            <a:r>
              <a:rPr lang="en-US" sz="1400" dirty="0">
                <a:solidFill>
                  <a:srgbClr val="C00000"/>
                </a:solidFill>
              </a:rPr>
              <a:t>No operation like that at EIC</a:t>
            </a:r>
          </a:p>
        </p:txBody>
      </p:sp>
      <p:sp>
        <p:nvSpPr>
          <p:cNvPr id="29" name="Bent-Up Arrow 28">
            <a:extLst>
              <a:ext uri="{FF2B5EF4-FFF2-40B4-BE49-F238E27FC236}">
                <a16:creationId xmlns:a16="http://schemas.microsoft.com/office/drawing/2014/main" id="{A18EAC78-A02E-53F2-05B7-BDCC7E855340}"/>
              </a:ext>
            </a:extLst>
          </p:cNvPr>
          <p:cNvSpPr/>
          <p:nvPr/>
        </p:nvSpPr>
        <p:spPr>
          <a:xfrm rot="10800000">
            <a:off x="9766818" y="1104241"/>
            <a:ext cx="564776" cy="462350"/>
          </a:xfrm>
          <a:prstGeom prst="bentUpArrow">
            <a:avLst>
              <a:gd name="adj1" fmla="val 12111"/>
              <a:gd name="adj2" fmla="val 26225"/>
              <a:gd name="adj3" fmla="val 25000"/>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bject 11">
            <a:extLst>
              <a:ext uri="{FF2B5EF4-FFF2-40B4-BE49-F238E27FC236}">
                <a16:creationId xmlns:a16="http://schemas.microsoft.com/office/drawing/2014/main" id="{150E1223-EB3C-C64A-EE96-B61E0A333A5E}"/>
              </a:ext>
            </a:extLst>
          </p:cNvPr>
          <p:cNvSpPr txBox="1"/>
          <p:nvPr/>
        </p:nvSpPr>
        <p:spPr>
          <a:xfrm>
            <a:off x="10416794" y="404229"/>
            <a:ext cx="1527551"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#2</a:t>
            </a:r>
            <a:endParaRPr sz="2001" dirty="0">
              <a:solidFill>
                <a:srgbClr val="FF0000"/>
              </a:solidFill>
              <a:latin typeface="Arial Narrow"/>
              <a:cs typeface="Arial Narrow"/>
            </a:endParaRPr>
          </a:p>
        </p:txBody>
      </p:sp>
      <p:sp>
        <p:nvSpPr>
          <p:cNvPr id="6" name="Slide Number Placeholder 1">
            <a:extLst>
              <a:ext uri="{FF2B5EF4-FFF2-40B4-BE49-F238E27FC236}">
                <a16:creationId xmlns:a16="http://schemas.microsoft.com/office/drawing/2014/main" id="{A1754CF0-B619-DFC5-F485-2D080CB2DA50}"/>
              </a:ext>
            </a:extLst>
          </p:cNvPr>
          <p:cNvSpPr txBox="1">
            <a:spLocks/>
          </p:cNvSpPr>
          <p:nvPr/>
        </p:nvSpPr>
        <p:spPr>
          <a:xfrm>
            <a:off x="11451649" y="6533724"/>
            <a:ext cx="432486" cy="29404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3A556B-7C63-244D-9B7C-B0EA8042B330}" type="slidenum">
              <a:rPr lang="en-US" sz="1000" smtClean="0"/>
              <a:pPr/>
              <a:t>13</a:t>
            </a:fld>
            <a:endParaRPr lang="en-US" sz="1000" dirty="0"/>
          </a:p>
        </p:txBody>
      </p:sp>
    </p:spTree>
    <p:extLst>
      <p:ext uri="{BB962C8B-B14F-4D97-AF65-F5344CB8AC3E}">
        <p14:creationId xmlns:p14="http://schemas.microsoft.com/office/powerpoint/2010/main" val="8712747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79C94CA-1231-950C-55BC-17C3DAE64018}"/>
              </a:ext>
            </a:extLst>
          </p:cNvPr>
          <p:cNvSpPr txBox="1">
            <a:spLocks/>
          </p:cNvSpPr>
          <p:nvPr/>
        </p:nvSpPr>
        <p:spPr>
          <a:xfrm>
            <a:off x="471952" y="73153"/>
            <a:ext cx="11148548" cy="75058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1" u="none" kern="1200">
                <a:solidFill>
                  <a:schemeClr val="tx1"/>
                </a:solidFill>
                <a:latin typeface="+mn-lt"/>
                <a:ea typeface="+mj-ea"/>
                <a:cs typeface="+mj-cs"/>
              </a:defRPr>
            </a:lvl1pPr>
          </a:lstStyle>
          <a:p>
            <a:r>
              <a:rPr lang="en-US"/>
              <a:t>Technical Progress : pC polarimeter</a:t>
            </a:r>
            <a:endParaRPr lang="en-US" dirty="0"/>
          </a:p>
        </p:txBody>
      </p:sp>
      <p:sp>
        <p:nvSpPr>
          <p:cNvPr id="5" name="object 11">
            <a:extLst>
              <a:ext uri="{FF2B5EF4-FFF2-40B4-BE49-F238E27FC236}">
                <a16:creationId xmlns:a16="http://schemas.microsoft.com/office/drawing/2014/main" id="{3E2A513B-BA6E-22F6-150C-C86D8F78D7C5}"/>
              </a:ext>
            </a:extLst>
          </p:cNvPr>
          <p:cNvSpPr txBox="1"/>
          <p:nvPr/>
        </p:nvSpPr>
        <p:spPr>
          <a:xfrm>
            <a:off x="10416794" y="404229"/>
            <a:ext cx="1527551"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#2</a:t>
            </a:r>
            <a:endParaRPr sz="2001" dirty="0">
              <a:solidFill>
                <a:srgbClr val="FF0000"/>
              </a:solidFill>
              <a:latin typeface="Arial Narrow"/>
              <a:cs typeface="Arial Narrow"/>
            </a:endParaRPr>
          </a:p>
        </p:txBody>
      </p:sp>
      <p:pic>
        <p:nvPicPr>
          <p:cNvPr id="6" name="Picture 5">
            <a:extLst>
              <a:ext uri="{FF2B5EF4-FFF2-40B4-BE49-F238E27FC236}">
                <a16:creationId xmlns:a16="http://schemas.microsoft.com/office/drawing/2014/main" id="{2EEAA668-AE1C-A770-334E-73BD60E7211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057601" y="917067"/>
            <a:ext cx="3189519" cy="2210129"/>
          </a:xfrm>
          <a:prstGeom prst="rect">
            <a:avLst/>
          </a:prstGeom>
          <a:ln>
            <a:solidFill>
              <a:schemeClr val="tx1">
                <a:lumMod val="95000"/>
                <a:lumOff val="5000"/>
              </a:schemeClr>
            </a:solidFill>
          </a:ln>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62547E3-996A-F217-743C-009461399B96}"/>
                  </a:ext>
                </a:extLst>
              </p:cNvPr>
              <p:cNvSpPr txBox="1"/>
              <p:nvPr/>
            </p:nvSpPr>
            <p:spPr>
              <a:xfrm>
                <a:off x="577596" y="952289"/>
                <a:ext cx="7164324" cy="2139047"/>
              </a:xfrm>
              <a:prstGeom prst="rect">
                <a:avLst/>
              </a:prstGeom>
              <a:noFill/>
            </p:spPr>
            <p:txBody>
              <a:bodyPr wrap="square" rtlCol="0">
                <a:spAutoFit/>
              </a:bodyPr>
              <a:lstStyle/>
              <a:p>
                <a:r>
                  <a:rPr lang="en-US" sz="1400" b="1" dirty="0">
                    <a:solidFill>
                      <a:srgbClr val="C00000"/>
                    </a:solidFill>
                  </a:rPr>
                  <a:t>EIC conditions with 10 ns bunch repetition and </a:t>
                </a:r>
                <a14:m>
                  <m:oMath xmlns:m="http://schemas.openxmlformats.org/officeDocument/2006/math">
                    <m:r>
                      <a:rPr lang="en-US" sz="1400" b="1" i="1" dirty="0" smtClean="0">
                        <a:solidFill>
                          <a:srgbClr val="C00000"/>
                        </a:solidFill>
                        <a:latin typeface="Cambria Math" panose="02040503050406030204" pitchFamily="18" charset="0"/>
                        <a:ea typeface="Cambria Math" panose="02040503050406030204" pitchFamily="18" charset="0"/>
                      </a:rPr>
                      <m:t>≈</m:t>
                    </m:r>
                    <m:r>
                      <a:rPr lang="en-US" sz="1400" b="1" i="1" dirty="0" smtClean="0">
                        <a:solidFill>
                          <a:srgbClr val="C00000"/>
                        </a:solidFill>
                        <a:latin typeface="Cambria Math" panose="02040503050406030204" pitchFamily="18" charset="0"/>
                        <a:ea typeface="Cambria Math" panose="02040503050406030204" pitchFamily="18" charset="0"/>
                      </a:rPr>
                      <m:t>𝟑</m:t>
                    </m:r>
                    <m:r>
                      <a:rPr lang="en-US" sz="1400" b="1" i="1" dirty="0" smtClean="0">
                        <a:solidFill>
                          <a:srgbClr val="C00000"/>
                        </a:solidFill>
                        <a:latin typeface="Cambria Math" panose="02040503050406030204" pitchFamily="18" charset="0"/>
                        <a:ea typeface="Cambria Math" panose="02040503050406030204" pitchFamily="18" charset="0"/>
                      </a:rPr>
                      <m:t>×</m:t>
                    </m:r>
                  </m:oMath>
                </a14:m>
                <a:r>
                  <a:rPr lang="en-US" sz="1400" b="1" dirty="0">
                    <a:solidFill>
                      <a:srgbClr val="C00000"/>
                    </a:solidFill>
                  </a:rPr>
                  <a:t> higher current require:  </a:t>
                </a:r>
              </a:p>
              <a:p>
                <a:pPr marL="800100" lvl="1" indent="-342900">
                  <a:lnSpc>
                    <a:spcPct val="150000"/>
                  </a:lnSpc>
                  <a:buFont typeface="+mj-lt"/>
                  <a:buAutoNum type="arabicPeriod"/>
                </a:pPr>
                <a:r>
                  <a:rPr lang="en-US" sz="1400" dirty="0"/>
                  <a:t>Estimate C target temperatures</a:t>
                </a:r>
              </a:p>
              <a:p>
                <a:pPr marL="800100" lvl="1" indent="-342900">
                  <a:buFont typeface="+mj-lt"/>
                  <a:buAutoNum type="arabicPeriod"/>
                </a:pPr>
                <a:r>
                  <a:rPr lang="en-US" sz="1400" dirty="0"/>
                  <a:t>Effects of increased wake field power in target chamber and target holders</a:t>
                </a:r>
              </a:p>
              <a:p>
                <a:pPr marL="800100" lvl="1" indent="-342900">
                  <a:buFont typeface="+mj-lt"/>
                  <a:buAutoNum type="arabicPeriod"/>
                </a:pPr>
                <a:r>
                  <a:rPr lang="en-US" sz="1400" dirty="0"/>
                  <a:t>Develop vacuum transfer chamber</a:t>
                </a:r>
              </a:p>
              <a:p>
                <a:pPr marL="1257300" lvl="2" indent="-342900">
                  <a:buFont typeface="+mj-lt"/>
                  <a:buAutoNum type="arabicPeriod"/>
                </a:pPr>
                <a:r>
                  <a:rPr lang="en-US" sz="1400" dirty="0"/>
                  <a:t>One target at a time in chamber</a:t>
                </a:r>
              </a:p>
              <a:p>
                <a:pPr marL="1257300" lvl="2" indent="-342900">
                  <a:buFont typeface="+mj-lt"/>
                  <a:buAutoNum type="arabicPeriod"/>
                </a:pPr>
                <a:r>
                  <a:rPr lang="en-US" sz="1400" dirty="0"/>
                  <a:t>improve target conditioning &amp; installation</a:t>
                </a:r>
              </a:p>
              <a:p>
                <a:pPr marL="800100" lvl="1" indent="-342900">
                  <a:buFont typeface="+mj-lt"/>
                  <a:buAutoNum type="arabicPeriod"/>
                </a:pPr>
                <a:r>
                  <a:rPr lang="en-US" sz="1400" dirty="0"/>
                  <a:t>Upgrade detectors and readout systems </a:t>
                </a:r>
              </a:p>
              <a:p>
                <a:pPr marL="1257300" lvl="2" indent="-342900">
                  <a:buFont typeface="+mj-lt"/>
                  <a:buAutoNum type="arabicPeriod"/>
                </a:pPr>
                <a:r>
                  <a:rPr lang="en-US" sz="1400" dirty="0"/>
                  <a:t>cope with timing requirements</a:t>
                </a:r>
              </a:p>
              <a:p>
                <a:pPr marL="800100" lvl="1" indent="-342900">
                  <a:buFont typeface="+mj-lt"/>
                  <a:buAutoNum type="arabicPeriod"/>
                </a:pPr>
                <a:r>
                  <a:rPr lang="en-US" sz="1400" dirty="0"/>
                  <a:t>For EIC, due to larger beam size in IP4, targets need to be </a:t>
                </a:r>
                <a14:m>
                  <m:oMath xmlns:m="http://schemas.openxmlformats.org/officeDocument/2006/math">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rPr>
                      <m:t>50</m:t>
                    </m:r>
                    <m:r>
                      <a:rPr lang="en-US" sz="1400" b="0" i="1" smtClean="0">
                        <a:latin typeface="Cambria Math" panose="02040503050406030204" pitchFamily="18" charset="0"/>
                        <a:ea typeface="Cambria Math" panose="02040503050406030204" pitchFamily="18" charset="0"/>
                      </a:rPr>
                      <m:t> </m:t>
                    </m:r>
                    <m:r>
                      <m:rPr>
                        <m:sty m:val="p"/>
                      </m:rPr>
                      <a:rPr lang="en-US" sz="1400" b="0" i="0" smtClean="0">
                        <a:latin typeface="Cambria Math" panose="02040503050406030204" pitchFamily="18" charset="0"/>
                        <a:ea typeface="Cambria Math" panose="02040503050406030204" pitchFamily="18" charset="0"/>
                      </a:rPr>
                      <m:t>mm</m:t>
                    </m:r>
                    <m:r>
                      <a:rPr lang="en-US" sz="1400" b="0" i="1" smtClean="0">
                        <a:latin typeface="Cambria Math" panose="02040503050406030204" pitchFamily="18" charset="0"/>
                        <a:ea typeface="Cambria Math" panose="02040503050406030204" pitchFamily="18" charset="0"/>
                      </a:rPr>
                      <m:t> </m:t>
                    </m:r>
                  </m:oMath>
                </a14:m>
                <a:r>
                  <a:rPr lang="en-US" sz="1400" dirty="0"/>
                  <a:t>long</a:t>
                </a:r>
              </a:p>
            </p:txBody>
          </p:sp>
        </mc:Choice>
        <mc:Fallback xmlns="">
          <p:sp>
            <p:nvSpPr>
              <p:cNvPr id="7" name="TextBox 6">
                <a:extLst>
                  <a:ext uri="{FF2B5EF4-FFF2-40B4-BE49-F238E27FC236}">
                    <a16:creationId xmlns:a16="http://schemas.microsoft.com/office/drawing/2014/main" id="{362547E3-996A-F217-743C-009461399B96}"/>
                  </a:ext>
                </a:extLst>
              </p:cNvPr>
              <p:cNvSpPr txBox="1">
                <a:spLocks noRot="1" noChangeAspect="1" noMove="1" noResize="1" noEditPoints="1" noAdjustHandles="1" noChangeArrowheads="1" noChangeShapeType="1" noTextEdit="1"/>
              </p:cNvSpPr>
              <p:nvPr/>
            </p:nvSpPr>
            <p:spPr>
              <a:xfrm>
                <a:off x="577596" y="952289"/>
                <a:ext cx="7164324" cy="2139047"/>
              </a:xfrm>
              <a:prstGeom prst="rect">
                <a:avLst/>
              </a:prstGeom>
              <a:blipFill>
                <a:blip r:embed="rId3"/>
                <a:stretch>
                  <a:fillRect l="-177" t="-588" b="-1765"/>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9BF3D5E9-5C72-4A85-059E-3BD5EF720DF9}"/>
              </a:ext>
            </a:extLst>
          </p:cNvPr>
          <p:cNvSpPr txBox="1"/>
          <p:nvPr/>
        </p:nvSpPr>
        <p:spPr>
          <a:xfrm>
            <a:off x="631384" y="3178325"/>
            <a:ext cx="11148548" cy="369332"/>
          </a:xfrm>
          <a:prstGeom prst="rect">
            <a:avLst/>
          </a:prstGeom>
          <a:noFill/>
        </p:spPr>
        <p:txBody>
          <a:bodyPr wrap="square" rtlCol="0">
            <a:spAutoFit/>
          </a:bodyPr>
          <a:lstStyle/>
          <a:p>
            <a:r>
              <a:rPr lang="en-US" b="1" dirty="0">
                <a:solidFill>
                  <a:srgbClr val="C00000"/>
                </a:solidFill>
                <a:effectLst/>
              </a:rPr>
              <a:t>With </a:t>
            </a:r>
            <a:r>
              <a:rPr lang="en-US" b="1" dirty="0">
                <a:solidFill>
                  <a:srgbClr val="C00000"/>
                </a:solidFill>
              </a:rPr>
              <a:t>realistic </a:t>
            </a:r>
            <a:r>
              <a:rPr lang="en-US" b="1" dirty="0">
                <a:solidFill>
                  <a:srgbClr val="C00000"/>
                </a:solidFill>
                <a:effectLst/>
              </a:rPr>
              <a:t>beam sizes at IP4,</a:t>
            </a:r>
            <a:r>
              <a:rPr lang="en-US" b="1" dirty="0">
                <a:solidFill>
                  <a:srgbClr val="C00000"/>
                </a:solidFill>
              </a:rPr>
              <a:t> target heating at EIC reduced compared to </a:t>
            </a:r>
            <a:r>
              <a:rPr lang="en-US" b="1" dirty="0">
                <a:solidFill>
                  <a:srgbClr val="C00000"/>
                </a:solidFill>
                <a:effectLst/>
              </a:rPr>
              <a:t>EIC: </a:t>
            </a:r>
            <a:r>
              <a:rPr lang="en-US" dirty="0"/>
              <a:t>(code P. Thieberger)</a:t>
            </a:r>
            <a:r>
              <a:rPr lang="en-US" b="1" dirty="0">
                <a:solidFill>
                  <a:srgbClr val="C00000"/>
                </a:solidFill>
                <a:effectLst/>
              </a:rPr>
              <a:t> </a:t>
            </a:r>
          </a:p>
        </p:txBody>
      </p:sp>
      <p:pic>
        <p:nvPicPr>
          <p:cNvPr id="9" name="Picture 8">
            <a:extLst>
              <a:ext uri="{FF2B5EF4-FFF2-40B4-BE49-F238E27FC236}">
                <a16:creationId xmlns:a16="http://schemas.microsoft.com/office/drawing/2014/main" id="{453DABF8-C926-2463-7F3E-8EB85D1D4643}"/>
              </a:ext>
            </a:extLst>
          </p:cNvPr>
          <p:cNvPicPr>
            <a:picLocks noChangeAspect="1"/>
          </p:cNvPicPr>
          <p:nvPr/>
        </p:nvPicPr>
        <p:blipFill>
          <a:blip r:embed="rId4"/>
          <a:srcRect l="3976" t="32041" r="50155" b="3163"/>
          <a:stretch>
            <a:fillRect/>
          </a:stretch>
        </p:blipFill>
        <p:spPr>
          <a:xfrm>
            <a:off x="1515890" y="3916989"/>
            <a:ext cx="3510327" cy="1656000"/>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59E962B-F816-EB39-570B-83799F337211}"/>
                  </a:ext>
                </a:extLst>
              </p:cNvPr>
              <p:cNvSpPr txBox="1"/>
              <p:nvPr/>
            </p:nvSpPr>
            <p:spPr>
              <a:xfrm>
                <a:off x="668611" y="3547657"/>
                <a:ext cx="5204886" cy="310150"/>
              </a:xfrm>
              <a:prstGeom prst="rect">
                <a:avLst/>
              </a:prstGeom>
              <a:noFill/>
            </p:spPr>
            <p:txBody>
              <a:bodyPr wrap="none" rtlCol="0">
                <a:spAutoFit/>
              </a:bodyPr>
              <a:lstStyle/>
              <a:p>
                <a:r>
                  <a:rPr lang="en-US" sz="1400" dirty="0"/>
                  <a:t>RHIC: 250 GeV, 111 bunches, </a:t>
                </a:r>
                <a14:m>
                  <m:oMath xmlns:m="http://schemas.openxmlformats.org/officeDocument/2006/math">
                    <m:r>
                      <a:rPr lang="en-US" sz="1400" b="0" i="1" smtClean="0">
                        <a:latin typeface="Cambria Math" panose="02040503050406030204" pitchFamily="18" charset="0"/>
                      </a:rPr>
                      <m:t>16</m:t>
                    </m:r>
                    <m:r>
                      <a:rPr lang="en-US" sz="1400" b="0" i="1" smtClean="0">
                        <a:latin typeface="Cambria Math" panose="02040503050406030204" pitchFamily="18" charset="0"/>
                        <a:ea typeface="Cambria Math" panose="02040503050406030204" pitchFamily="18" charset="0"/>
                      </a:rPr>
                      <m:t>×</m:t>
                    </m:r>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10</m:t>
                        </m:r>
                      </m:e>
                      <m:sup>
                        <m:r>
                          <a:rPr lang="en-US" sz="1400" b="0" i="1" smtClean="0">
                            <a:latin typeface="Cambria Math" panose="02040503050406030204" pitchFamily="18" charset="0"/>
                            <a:ea typeface="Cambria Math" panose="02040503050406030204" pitchFamily="18" charset="0"/>
                          </a:rPr>
                          <m:t>10</m:t>
                        </m:r>
                      </m:sup>
                    </m:sSup>
                  </m:oMath>
                </a14:m>
                <a:r>
                  <a:rPr lang="en-US" sz="1400" dirty="0"/>
                  <a:t>p/bunch, </a:t>
                </a:r>
                <a14:m>
                  <m:oMath xmlns:m="http://schemas.openxmlformats.org/officeDocument/2006/math">
                    <m:sSubSup>
                      <m:sSubSupPr>
                        <m:ctrlPr>
                          <a:rPr lang="en-US" sz="1400" i="1" smtClean="0">
                            <a:latin typeface="Cambria Math" panose="02040503050406030204" pitchFamily="18" charset="0"/>
                          </a:rPr>
                        </m:ctrlPr>
                      </m:sSubSupPr>
                      <m:e>
                        <m:r>
                          <a:rPr lang="en-US" sz="1400" i="1" smtClean="0">
                            <a:latin typeface="Cambria Math" panose="02040503050406030204" pitchFamily="18" charset="0"/>
                            <a:ea typeface="Cambria Math" panose="02040503050406030204" pitchFamily="18" charset="0"/>
                          </a:rPr>
                          <m:t>𝜎</m:t>
                        </m:r>
                      </m:e>
                      <m:sub>
                        <m:r>
                          <a:rPr lang="en-US" sz="1400" b="0" i="1" smtClean="0">
                            <a:latin typeface="Cambria Math" panose="02040503050406030204" pitchFamily="18" charset="0"/>
                          </a:rPr>
                          <m:t>𝑟</m:t>
                        </m:r>
                      </m:sub>
                      <m:sup>
                        <m:r>
                          <a:rPr lang="en-US" sz="1400" b="0" i="1" smtClean="0">
                            <a:latin typeface="Cambria Math" panose="02040503050406030204" pitchFamily="18" charset="0"/>
                          </a:rPr>
                          <m:t>95</m:t>
                        </m:r>
                      </m:sup>
                    </m:sSubSup>
                    <m:r>
                      <a:rPr lang="en-US" sz="1400" b="0" i="1" smtClean="0">
                        <a:latin typeface="Cambria Math" panose="02040503050406030204" pitchFamily="18" charset="0"/>
                      </a:rPr>
                      <m:t>=0.68 </m:t>
                    </m:r>
                    <m:r>
                      <m:rPr>
                        <m:sty m:val="p"/>
                      </m:rPr>
                      <a:rPr lang="en-US" sz="1400" b="0" i="0" smtClean="0">
                        <a:latin typeface="Cambria Math" panose="02040503050406030204" pitchFamily="18" charset="0"/>
                      </a:rPr>
                      <m:t>mm</m:t>
                    </m:r>
                  </m:oMath>
                </a14:m>
                <a:endParaRPr lang="en-US" sz="1400" b="0" dirty="0"/>
              </a:p>
            </p:txBody>
          </p:sp>
        </mc:Choice>
        <mc:Fallback xmlns="">
          <p:sp>
            <p:nvSpPr>
              <p:cNvPr id="10" name="TextBox 9">
                <a:extLst>
                  <a:ext uri="{FF2B5EF4-FFF2-40B4-BE49-F238E27FC236}">
                    <a16:creationId xmlns:a16="http://schemas.microsoft.com/office/drawing/2014/main" id="{E59E962B-F816-EB39-570B-83799F337211}"/>
                  </a:ext>
                </a:extLst>
              </p:cNvPr>
              <p:cNvSpPr txBox="1">
                <a:spLocks noRot="1" noChangeAspect="1" noMove="1" noResize="1" noEditPoints="1" noAdjustHandles="1" noChangeArrowheads="1" noChangeShapeType="1" noTextEdit="1"/>
              </p:cNvSpPr>
              <p:nvPr/>
            </p:nvSpPr>
            <p:spPr>
              <a:xfrm>
                <a:off x="668611" y="3547657"/>
                <a:ext cx="5204886" cy="310150"/>
              </a:xfrm>
              <a:prstGeom prst="rect">
                <a:avLst/>
              </a:prstGeom>
              <a:blipFill>
                <a:blip r:embed="rId5"/>
                <a:stretch>
                  <a:fillRect l="-487" t="-4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DFDD7A3-20C3-27E6-03C2-14E0EE4D1F39}"/>
                  </a:ext>
                </a:extLst>
              </p:cNvPr>
              <p:cNvSpPr txBox="1"/>
              <p:nvPr/>
            </p:nvSpPr>
            <p:spPr>
              <a:xfrm>
                <a:off x="6318504" y="3532143"/>
                <a:ext cx="5151120" cy="310150"/>
              </a:xfrm>
              <a:prstGeom prst="rect">
                <a:avLst/>
              </a:prstGeom>
              <a:noFill/>
            </p:spPr>
            <p:txBody>
              <a:bodyPr wrap="square">
                <a:spAutoFit/>
              </a:bodyPr>
              <a:lstStyle/>
              <a:p>
                <a:r>
                  <a:rPr lang="en-US" sz="1400" dirty="0"/>
                  <a:t>EIC: 275 GeV, 1160 bunches, </a:t>
                </a:r>
                <a14:m>
                  <m:oMath xmlns:m="http://schemas.openxmlformats.org/officeDocument/2006/math">
                    <m:r>
                      <a:rPr lang="en-US" sz="1400" b="0" i="0" smtClean="0">
                        <a:latin typeface="Cambria Math" panose="02040503050406030204" pitchFamily="18" charset="0"/>
                      </a:rPr>
                      <m:t>.9</m:t>
                    </m:r>
                    <m:r>
                      <a:rPr lang="en-US" sz="1400" i="1">
                        <a:latin typeface="Cambria Math" panose="02040503050406030204" pitchFamily="18" charset="0"/>
                      </a:rPr>
                      <m:t>6</m:t>
                    </m:r>
                    <m:r>
                      <a:rPr lang="en-US" sz="1400" i="1">
                        <a:latin typeface="Cambria Math" panose="02040503050406030204" pitchFamily="18" charset="0"/>
                        <a:ea typeface="Cambria Math" panose="02040503050406030204" pitchFamily="18" charset="0"/>
                      </a:rPr>
                      <m:t>×</m:t>
                    </m:r>
                    <m:sSup>
                      <m:sSupPr>
                        <m:ctrlPr>
                          <a:rPr lang="en-US" sz="1400" i="1">
                            <a:latin typeface="Cambria Math" panose="02040503050406030204" pitchFamily="18" charset="0"/>
                            <a:ea typeface="Cambria Math" panose="02040503050406030204" pitchFamily="18" charset="0"/>
                          </a:rPr>
                        </m:ctrlPr>
                      </m:sSupPr>
                      <m:e>
                        <m:r>
                          <a:rPr lang="en-US" sz="1400" i="1">
                            <a:latin typeface="Cambria Math" panose="02040503050406030204" pitchFamily="18" charset="0"/>
                            <a:ea typeface="Cambria Math" panose="02040503050406030204" pitchFamily="18" charset="0"/>
                          </a:rPr>
                          <m:t>10</m:t>
                        </m:r>
                      </m:e>
                      <m:sup>
                        <m:r>
                          <a:rPr lang="en-US" sz="1400" i="1">
                            <a:latin typeface="Cambria Math" panose="02040503050406030204" pitchFamily="18" charset="0"/>
                            <a:ea typeface="Cambria Math" panose="02040503050406030204" pitchFamily="18" charset="0"/>
                          </a:rPr>
                          <m:t>10</m:t>
                        </m:r>
                      </m:sup>
                    </m:sSup>
                  </m:oMath>
                </a14:m>
                <a:r>
                  <a:rPr lang="en-US" sz="1400" dirty="0"/>
                  <a:t>p/bunch, </a:t>
                </a:r>
                <a14:m>
                  <m:oMath xmlns:m="http://schemas.openxmlformats.org/officeDocument/2006/math">
                    <m:sSubSup>
                      <m:sSubSupPr>
                        <m:ctrlPr>
                          <a:rPr lang="en-US" sz="1400" i="1">
                            <a:latin typeface="Cambria Math" panose="02040503050406030204" pitchFamily="18" charset="0"/>
                          </a:rPr>
                        </m:ctrlPr>
                      </m:sSubSupPr>
                      <m:e>
                        <m:r>
                          <a:rPr lang="en-US" sz="1400" i="1">
                            <a:latin typeface="Cambria Math" panose="02040503050406030204" pitchFamily="18" charset="0"/>
                            <a:ea typeface="Cambria Math" panose="02040503050406030204" pitchFamily="18" charset="0"/>
                          </a:rPr>
                          <m:t>𝜎</m:t>
                        </m:r>
                      </m:e>
                      <m:sub>
                        <m:r>
                          <a:rPr lang="en-US" sz="1400" i="1">
                            <a:latin typeface="Cambria Math" panose="02040503050406030204" pitchFamily="18" charset="0"/>
                          </a:rPr>
                          <m:t>𝑟</m:t>
                        </m:r>
                      </m:sub>
                      <m:sup>
                        <m:r>
                          <a:rPr lang="en-US" sz="1400" i="1">
                            <a:latin typeface="Cambria Math" panose="02040503050406030204" pitchFamily="18" charset="0"/>
                          </a:rPr>
                          <m:t>95</m:t>
                        </m:r>
                      </m:sup>
                    </m:sSubSup>
                    <m:r>
                      <a:rPr lang="en-US" sz="1400" i="1">
                        <a:latin typeface="Cambria Math" panose="02040503050406030204" pitchFamily="18" charset="0"/>
                      </a:rPr>
                      <m:t>=</m:t>
                    </m:r>
                    <m:r>
                      <a:rPr lang="en-US" sz="1400" b="0" i="1" smtClean="0">
                        <a:latin typeface="Cambria Math" panose="02040503050406030204" pitchFamily="18" charset="0"/>
                      </a:rPr>
                      <m:t>1</m:t>
                    </m:r>
                    <m:r>
                      <a:rPr lang="en-US" sz="1400" i="1">
                        <a:latin typeface="Cambria Math" panose="02040503050406030204" pitchFamily="18" charset="0"/>
                      </a:rPr>
                      <m:t>.</m:t>
                    </m:r>
                    <m:r>
                      <a:rPr lang="en-US" sz="1400" b="0" i="1" smtClean="0">
                        <a:latin typeface="Cambria Math" panose="02040503050406030204" pitchFamily="18" charset="0"/>
                      </a:rPr>
                      <m:t>2</m:t>
                    </m:r>
                    <m:r>
                      <a:rPr lang="en-US" sz="1400" i="1">
                        <a:latin typeface="Cambria Math" panose="02040503050406030204" pitchFamily="18" charset="0"/>
                      </a:rPr>
                      <m:t> </m:t>
                    </m:r>
                    <m:r>
                      <m:rPr>
                        <m:sty m:val="p"/>
                      </m:rPr>
                      <a:rPr lang="en-US" sz="1400">
                        <a:latin typeface="Cambria Math" panose="02040503050406030204" pitchFamily="18" charset="0"/>
                      </a:rPr>
                      <m:t>mm</m:t>
                    </m:r>
                  </m:oMath>
                </a14:m>
                <a:r>
                  <a:rPr lang="en-US" sz="1400" dirty="0"/>
                  <a:t> </a:t>
                </a:r>
              </a:p>
            </p:txBody>
          </p:sp>
        </mc:Choice>
        <mc:Fallback xmlns="">
          <p:sp>
            <p:nvSpPr>
              <p:cNvPr id="12" name="TextBox 11">
                <a:extLst>
                  <a:ext uri="{FF2B5EF4-FFF2-40B4-BE49-F238E27FC236}">
                    <a16:creationId xmlns:a16="http://schemas.microsoft.com/office/drawing/2014/main" id="{DDFDD7A3-20C3-27E6-03C2-14E0EE4D1F39}"/>
                  </a:ext>
                </a:extLst>
              </p:cNvPr>
              <p:cNvSpPr txBox="1">
                <a:spLocks noRot="1" noChangeAspect="1" noMove="1" noResize="1" noEditPoints="1" noAdjustHandles="1" noChangeArrowheads="1" noChangeShapeType="1" noTextEdit="1"/>
              </p:cNvSpPr>
              <p:nvPr/>
            </p:nvSpPr>
            <p:spPr>
              <a:xfrm>
                <a:off x="6318504" y="3532143"/>
                <a:ext cx="5151120" cy="310150"/>
              </a:xfrm>
              <a:prstGeom prst="rect">
                <a:avLst/>
              </a:prstGeom>
              <a:blipFill>
                <a:blip r:embed="rId6"/>
                <a:stretch>
                  <a:fillRect l="-491" b="-19231"/>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1157F0E3-D25B-0908-9B08-CB4447F4B9C4}"/>
              </a:ext>
            </a:extLst>
          </p:cNvPr>
          <p:cNvPicPr>
            <a:picLocks noChangeAspect="1"/>
          </p:cNvPicPr>
          <p:nvPr/>
        </p:nvPicPr>
        <p:blipFill>
          <a:blip r:embed="rId4"/>
          <a:srcRect l="50539" t="33496" r="2317" b="2903"/>
          <a:stretch>
            <a:fillRect/>
          </a:stretch>
        </p:blipFill>
        <p:spPr>
          <a:xfrm>
            <a:off x="6816426" y="3916989"/>
            <a:ext cx="3675698" cy="1656000"/>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A132CBB-5A30-B7CF-F386-DF9A548E3AED}"/>
                  </a:ext>
                </a:extLst>
              </p:cNvPr>
              <p:cNvSpPr txBox="1"/>
              <p:nvPr/>
            </p:nvSpPr>
            <p:spPr>
              <a:xfrm>
                <a:off x="1311605" y="5748358"/>
                <a:ext cx="3560590" cy="307777"/>
              </a:xfrm>
              <a:prstGeom prst="rect">
                <a:avLst/>
              </a:prstGeom>
              <a:ln w="19050">
                <a:noFill/>
              </a:ln>
            </p:spPr>
            <p:style>
              <a:lnRef idx="2">
                <a:schemeClr val="accent2"/>
              </a:lnRef>
              <a:fillRef idx="1">
                <a:schemeClr val="lt1"/>
              </a:fillRef>
              <a:effectRef idx="0">
                <a:schemeClr val="accent2"/>
              </a:effectRef>
              <a:fontRef idx="minor">
                <a:schemeClr val="dk1"/>
              </a:fontRef>
            </p:style>
            <p:txBody>
              <a:bodyPr wrap="none" rtlCol="0">
                <a:spAutoFit/>
              </a:bodyPr>
              <a:lstStyle/>
              <a:p>
                <a14:m>
                  <m:oMath xmlns:m="http://schemas.openxmlformats.org/officeDocument/2006/math">
                    <m:r>
                      <a:rPr lang="en-US" sz="1400" b="0" i="1" smtClean="0">
                        <a:solidFill>
                          <a:schemeClr val="tx1"/>
                        </a:solidFill>
                        <a:latin typeface="Cambria Math" panose="02040503050406030204" pitchFamily="18" charset="0"/>
                        <a:ea typeface="Cambria Math" panose="02040503050406030204" pitchFamily="18" charset="0"/>
                      </a:rPr>
                      <m:t>→</m:t>
                    </m:r>
                  </m:oMath>
                </a14:m>
                <a:r>
                  <a:rPr lang="en-US" sz="1400" dirty="0">
                    <a:solidFill>
                      <a:schemeClr val="tx1"/>
                    </a:solidFill>
                  </a:rPr>
                  <a:t> changed ID #128 in Risk Registry to low</a:t>
                </a:r>
              </a:p>
            </p:txBody>
          </p:sp>
        </mc:Choice>
        <mc:Fallback xmlns="">
          <p:sp>
            <p:nvSpPr>
              <p:cNvPr id="14" name="TextBox 13">
                <a:extLst>
                  <a:ext uri="{FF2B5EF4-FFF2-40B4-BE49-F238E27FC236}">
                    <a16:creationId xmlns:a16="http://schemas.microsoft.com/office/drawing/2014/main" id="{7A132CBB-5A30-B7CF-F386-DF9A548E3AED}"/>
                  </a:ext>
                </a:extLst>
              </p:cNvPr>
              <p:cNvSpPr txBox="1">
                <a:spLocks noRot="1" noChangeAspect="1" noMove="1" noResize="1" noEditPoints="1" noAdjustHandles="1" noChangeArrowheads="1" noChangeShapeType="1" noTextEdit="1"/>
              </p:cNvSpPr>
              <p:nvPr/>
            </p:nvSpPr>
            <p:spPr>
              <a:xfrm>
                <a:off x="1311605" y="5748358"/>
                <a:ext cx="3560590" cy="307777"/>
              </a:xfrm>
              <a:prstGeom prst="rect">
                <a:avLst/>
              </a:prstGeom>
              <a:blipFill>
                <a:blip r:embed="rId7"/>
                <a:stretch>
                  <a:fillRect t="-4000" b="-20000"/>
                </a:stretch>
              </a:blipFill>
              <a:ln w="19050">
                <a:noFill/>
              </a:ln>
            </p:spPr>
            <p:txBody>
              <a:bodyPr/>
              <a:lstStyle/>
              <a:p>
                <a:r>
                  <a:rPr lang="en-US">
                    <a:noFill/>
                  </a:rPr>
                  <a:t> </a:t>
                </a:r>
              </a:p>
            </p:txBody>
          </p:sp>
        </mc:Fallback>
      </mc:AlternateContent>
      <p:sp>
        <p:nvSpPr>
          <p:cNvPr id="15" name="TextBox 14">
            <a:extLst>
              <a:ext uri="{FF2B5EF4-FFF2-40B4-BE49-F238E27FC236}">
                <a16:creationId xmlns:a16="http://schemas.microsoft.com/office/drawing/2014/main" id="{395276E2-0898-CB42-BB2C-854F05D95B49}"/>
              </a:ext>
            </a:extLst>
          </p:cNvPr>
          <p:cNvSpPr txBox="1"/>
          <p:nvPr/>
        </p:nvSpPr>
        <p:spPr>
          <a:xfrm>
            <a:off x="5044487" y="5748358"/>
            <a:ext cx="7028329" cy="307777"/>
          </a:xfrm>
          <a:prstGeom prst="rect">
            <a:avLst/>
          </a:prstGeom>
          <a:noFill/>
          <a:ln>
            <a:solidFill>
              <a:schemeClr val="accent3"/>
            </a:solidFill>
          </a:ln>
        </p:spPr>
        <p:txBody>
          <a:bodyPr wrap="square" rtlCol="0">
            <a:spAutoFit/>
          </a:bodyPr>
          <a:lstStyle/>
          <a:p>
            <a:r>
              <a:rPr lang="en-US" sz="1400" dirty="0"/>
              <a:t>Independent modeling approach of C target heating by proton beams </a:t>
            </a:r>
            <a:r>
              <a:rPr lang="en-US" sz="1400" dirty="0">
                <a:solidFill>
                  <a:schemeClr val="accent2"/>
                </a:solidFill>
              </a:rPr>
              <a:t>(in progress) </a:t>
            </a:r>
          </a:p>
        </p:txBody>
      </p:sp>
      <p:sp>
        <p:nvSpPr>
          <p:cNvPr id="2" name="Slide Number Placeholder 1">
            <a:extLst>
              <a:ext uri="{FF2B5EF4-FFF2-40B4-BE49-F238E27FC236}">
                <a16:creationId xmlns:a16="http://schemas.microsoft.com/office/drawing/2014/main" id="{04D89267-48BA-144A-791B-633F322A3CF3}"/>
              </a:ext>
            </a:extLst>
          </p:cNvPr>
          <p:cNvSpPr txBox="1">
            <a:spLocks/>
          </p:cNvSpPr>
          <p:nvPr/>
        </p:nvSpPr>
        <p:spPr>
          <a:xfrm>
            <a:off x="11451649" y="6533724"/>
            <a:ext cx="432486" cy="29404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3A556B-7C63-244D-9B7C-B0EA8042B330}" type="slidenum">
              <a:rPr lang="en-US" sz="1000" smtClean="0"/>
              <a:pPr/>
              <a:t>14</a:t>
            </a:fld>
            <a:endParaRPr lang="en-US" sz="1000" dirty="0"/>
          </a:p>
        </p:txBody>
      </p:sp>
    </p:spTree>
    <p:extLst>
      <p:ext uri="{BB962C8B-B14F-4D97-AF65-F5344CB8AC3E}">
        <p14:creationId xmlns:p14="http://schemas.microsoft.com/office/powerpoint/2010/main" val="827447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7A54EC-5611-0A68-BA41-2767C4A0936D}"/>
              </a:ext>
            </a:extLst>
          </p:cNvPr>
          <p:cNvSpPr>
            <a:spLocks noGrp="1"/>
          </p:cNvSpPr>
          <p:nvPr>
            <p:ph type="sldNum" sz="quarter" idx="4"/>
          </p:nvPr>
        </p:nvSpPr>
        <p:spPr/>
        <p:txBody>
          <a:bodyPr/>
          <a:lstStyle/>
          <a:p>
            <a:fld id="{933A556B-7C63-244D-9B7C-B0EA8042B330}" type="slidenum">
              <a:rPr lang="en-US" smtClean="0"/>
              <a:pPr/>
              <a:t>15</a:t>
            </a:fld>
            <a:endParaRPr lang="en-US"/>
          </a:p>
        </p:txBody>
      </p:sp>
      <p:sp>
        <p:nvSpPr>
          <p:cNvPr id="3" name="Title 2">
            <a:extLst>
              <a:ext uri="{FF2B5EF4-FFF2-40B4-BE49-F238E27FC236}">
                <a16:creationId xmlns:a16="http://schemas.microsoft.com/office/drawing/2014/main" id="{C24DE50D-1050-2ED6-B5FA-D139516EE7F3}"/>
              </a:ext>
            </a:extLst>
          </p:cNvPr>
          <p:cNvSpPr>
            <a:spLocks noGrp="1"/>
          </p:cNvSpPr>
          <p:nvPr>
            <p:ph type="title"/>
          </p:nvPr>
        </p:nvSpPr>
        <p:spPr/>
        <p:txBody>
          <a:bodyPr/>
          <a:lstStyle/>
          <a:p>
            <a:r>
              <a:rPr lang="en-US" dirty="0"/>
              <a:t>Technical Path Forward</a:t>
            </a: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2E95889F-9E54-79C2-D029-B859CAD86BA4}"/>
                  </a:ext>
                </a:extLst>
              </p:cNvPr>
              <p:cNvSpPr>
                <a:spLocks noGrp="1"/>
              </p:cNvSpPr>
              <p:nvPr>
                <p:ph idx="1"/>
              </p:nvPr>
            </p:nvSpPr>
            <p:spPr>
              <a:xfrm>
                <a:off x="351423" y="975364"/>
                <a:ext cx="11758028" cy="5032243"/>
              </a:xfrm>
            </p:spPr>
            <p:txBody>
              <a:bodyPr vert="horz" lIns="91440" tIns="45720" rIns="91440" bIns="45720" rtlCol="0" anchor="t">
                <a:normAutofit lnSpcReduction="10000"/>
              </a:bodyPr>
              <a:lstStyle/>
              <a:p>
                <a:r>
                  <a:rPr lang="en-US" b="1" dirty="0">
                    <a:cs typeface="Arial"/>
                  </a:rPr>
                  <a:t>Electron polarimeters</a:t>
                </a:r>
              </a:p>
              <a:p>
                <a:pPr lvl="1"/>
                <a:r>
                  <a:rPr lang="en-US" dirty="0">
                    <a:cs typeface="Arial"/>
                  </a:rPr>
                  <a:t>Details for polarimeter and beamline integration</a:t>
                </a:r>
              </a:p>
              <a:p>
                <a:pPr lvl="2"/>
                <a:r>
                  <a:rPr lang="en-US" dirty="0">
                    <a:cs typeface="Arial"/>
                  </a:rPr>
                  <a:t>Both laser system and photon/electron detector exit ports need careful integration </a:t>
                </a:r>
                <a14:m>
                  <m:oMath xmlns:m="http://schemas.openxmlformats.org/officeDocument/2006/math">
                    <m:r>
                      <a:rPr lang="en-US" i="1" dirty="0" smtClean="0">
                        <a:latin typeface="Cambria Math" panose="02040503050406030204" pitchFamily="18" charset="0"/>
                        <a:ea typeface="Cambria Math" panose="02040503050406030204" pitchFamily="18" charset="0"/>
                        <a:cs typeface="Arial"/>
                      </a:rPr>
                      <m:t>→</m:t>
                    </m:r>
                  </m:oMath>
                </a14:m>
                <a:r>
                  <a:rPr lang="en-US" dirty="0">
                    <a:cs typeface="Arial"/>
                  </a:rPr>
                  <a:t> avoid impedance issues</a:t>
                </a:r>
              </a:p>
              <a:p>
                <a:pPr lvl="2"/>
                <a:r>
                  <a:rPr lang="en-US" dirty="0">
                    <a:cs typeface="Arial"/>
                  </a:rPr>
                  <a:t>Integrate polarimeter layout details in machine model</a:t>
                </a:r>
              </a:p>
              <a:p>
                <a:pPr lvl="1"/>
                <a:r>
                  <a:rPr lang="en-US" dirty="0">
                    <a:cs typeface="Arial"/>
                  </a:rPr>
                  <a:t>More details for DAQ readout – specific modules, DAQ configuration (streaming vs. triggered)</a:t>
                </a:r>
              </a:p>
              <a:p>
                <a:endParaRPr lang="en-US" dirty="0">
                  <a:cs typeface="Arial"/>
                </a:endParaRPr>
              </a:p>
              <a:p>
                <a:r>
                  <a:rPr lang="en-US" b="1" dirty="0">
                    <a:cs typeface="Arial"/>
                  </a:rPr>
                  <a:t>Hadron polarimeters</a:t>
                </a:r>
              </a:p>
              <a:p>
                <a:pPr lvl="1"/>
                <a:r>
                  <a:rPr lang="en-US" dirty="0">
                    <a:solidFill>
                      <a:schemeClr val="tx1"/>
                    </a:solidFill>
                  </a:rPr>
                  <a:t>Accelerator integration of hadron polarimetry available</a:t>
                </a:r>
              </a:p>
              <a:p>
                <a:pPr lvl="2"/>
                <a:r>
                  <a:rPr lang="en-US" dirty="0"/>
                  <a:t>New </a:t>
                </a:r>
                <a:r>
                  <a:rPr lang="en-US" baseline="30000" dirty="0">
                    <a:solidFill>
                      <a:schemeClr val="tx1"/>
                    </a:solidFill>
                    <a:cs typeface="Arial"/>
                  </a:rPr>
                  <a:t>3</a:t>
                </a:r>
                <a:r>
                  <a:rPr lang="en-US" dirty="0">
                    <a:solidFill>
                      <a:schemeClr val="tx1"/>
                    </a:solidFill>
                    <a:cs typeface="Arial"/>
                  </a:rPr>
                  <a:t>He atomic beam target development is in progress</a:t>
                </a:r>
              </a:p>
              <a:p>
                <a:pPr lvl="2"/>
                <a:r>
                  <a:rPr lang="en-US" dirty="0">
                    <a:solidFill>
                      <a:schemeClr val="tx1"/>
                    </a:solidFill>
                    <a:cs typeface="Arial"/>
                  </a:rPr>
                  <a:t>Present RHIC </a:t>
                </a:r>
                <a:r>
                  <a:rPr lang="en-US" dirty="0" err="1">
                    <a:solidFill>
                      <a:schemeClr val="tx1"/>
                    </a:solidFill>
                    <a:cs typeface="Arial"/>
                  </a:rPr>
                  <a:t>pC</a:t>
                </a:r>
                <a:r>
                  <a:rPr lang="en-US" dirty="0">
                    <a:solidFill>
                      <a:schemeClr val="tx1"/>
                    </a:solidFill>
                    <a:cs typeface="Arial"/>
                  </a:rPr>
                  <a:t> polarimeter system applicable at EIC</a:t>
                </a:r>
              </a:p>
              <a:p>
                <a:pPr lvl="3"/>
                <a:r>
                  <a:rPr lang="en-US" sz="1700" dirty="0">
                    <a:cs typeface="Arial"/>
                  </a:rPr>
                  <a:t>T</a:t>
                </a:r>
                <a:r>
                  <a:rPr lang="en-US" sz="1700" dirty="0">
                    <a:solidFill>
                      <a:schemeClr val="tx1"/>
                    </a:solidFill>
                    <a:cs typeface="Arial"/>
                  </a:rPr>
                  <a:t>emperature estimates of C ribbon targets with updated EIC beam sizes </a:t>
                </a:r>
                <a14:m>
                  <m:oMath xmlns:m="http://schemas.openxmlformats.org/officeDocument/2006/math">
                    <m:r>
                      <a:rPr lang="en-US" sz="1700" i="1" dirty="0" smtClean="0">
                        <a:solidFill>
                          <a:schemeClr val="tx1"/>
                        </a:solidFill>
                        <a:latin typeface="Cambria Math" panose="02040503050406030204" pitchFamily="18" charset="0"/>
                        <a:ea typeface="Cambria Math" panose="02040503050406030204" pitchFamily="18" charset="0"/>
                        <a:cs typeface="Arial"/>
                      </a:rPr>
                      <m:t>→</m:t>
                    </m:r>
                  </m:oMath>
                </a14:m>
                <a:r>
                  <a:rPr lang="en-US" sz="1700" dirty="0">
                    <a:solidFill>
                      <a:schemeClr val="tx1"/>
                    </a:solidFill>
                    <a:cs typeface="Arial"/>
                  </a:rPr>
                  <a:t> at IP4, targets will hold</a:t>
                </a:r>
              </a:p>
              <a:p>
                <a:pPr lvl="2"/>
                <a:r>
                  <a:rPr lang="en-US" dirty="0">
                    <a:solidFill>
                      <a:schemeClr val="tx1"/>
                    </a:solidFill>
                    <a:cs typeface="Arial"/>
                  </a:rPr>
                  <a:t>HJET for </a:t>
                </a:r>
                <a14:m>
                  <m:oMath xmlns:m="http://schemas.openxmlformats.org/officeDocument/2006/math">
                    <m:acc>
                      <m:accPr>
                        <m:chr m:val="⃗"/>
                        <m:ctrlPr>
                          <a:rPr lang="en-US" i="1" dirty="0" smtClean="0">
                            <a:solidFill>
                              <a:schemeClr val="tx1"/>
                            </a:solidFill>
                            <a:latin typeface="Cambria Math" panose="02040503050406030204" pitchFamily="18" charset="0"/>
                            <a:cs typeface="Arial"/>
                          </a:rPr>
                        </m:ctrlPr>
                      </m:accPr>
                      <m:e>
                        <m:r>
                          <a:rPr lang="en-US" i="1" dirty="0">
                            <a:solidFill>
                              <a:schemeClr val="tx1"/>
                            </a:solidFill>
                            <a:latin typeface="Cambria Math" panose="02040503050406030204" pitchFamily="18" charset="0"/>
                            <a:cs typeface="Arial"/>
                          </a:rPr>
                          <m:t>𝑝</m:t>
                        </m:r>
                      </m:e>
                    </m:acc>
                    <m:acc>
                      <m:accPr>
                        <m:chr m:val="⃗"/>
                        <m:ctrlPr>
                          <a:rPr lang="en-US" i="1" dirty="0">
                            <a:solidFill>
                              <a:schemeClr val="tx1"/>
                            </a:solidFill>
                            <a:latin typeface="Cambria Math" panose="02040503050406030204" pitchFamily="18" charset="0"/>
                            <a:cs typeface="Arial"/>
                          </a:rPr>
                        </m:ctrlPr>
                      </m:accPr>
                      <m:e>
                        <m:r>
                          <a:rPr lang="en-US" i="1" dirty="0">
                            <a:solidFill>
                              <a:schemeClr val="tx1"/>
                            </a:solidFill>
                            <a:latin typeface="Cambria Math" panose="02040503050406030204" pitchFamily="18" charset="0"/>
                            <a:cs typeface="Arial"/>
                          </a:rPr>
                          <m:t>𝑝</m:t>
                        </m:r>
                      </m:e>
                    </m:acc>
                    <m:r>
                      <a:rPr lang="en-US" i="1" dirty="0">
                        <a:solidFill>
                          <a:schemeClr val="tx1"/>
                        </a:solidFill>
                        <a:latin typeface="Cambria Math" panose="02040503050406030204" pitchFamily="18" charset="0"/>
                        <a:cs typeface="Arial"/>
                      </a:rPr>
                      <m:t> </m:t>
                    </m:r>
                  </m:oMath>
                </a14:m>
                <a:r>
                  <a:rPr lang="en-US" dirty="0">
                    <a:solidFill>
                      <a:schemeClr val="tx1"/>
                    </a:solidFill>
                    <a:cs typeface="Arial"/>
                  </a:rPr>
                  <a:t>elastic</a:t>
                </a:r>
              </a:p>
              <a:p>
                <a:pPr lvl="3"/>
                <a:r>
                  <a:rPr lang="en-US" sz="2000" dirty="0">
                    <a:solidFill>
                      <a:schemeClr val="tx1"/>
                    </a:solidFill>
                    <a:cs typeface="Arial"/>
                  </a:rPr>
                  <a:t> </a:t>
                </a:r>
                <a:r>
                  <a:rPr lang="en-US" sz="1700" dirty="0">
                    <a:solidFill>
                      <a:schemeClr val="tx1"/>
                    </a:solidFill>
                    <a:cs typeface="Arial"/>
                  </a:rPr>
                  <a:t>to be integrated: holding field, QMA for BRP, detector system</a:t>
                </a:r>
              </a:p>
              <a:p>
                <a:pPr lvl="1"/>
                <a:r>
                  <a:rPr lang="en-US" dirty="0">
                    <a:solidFill>
                      <a:schemeClr val="tx1"/>
                    </a:solidFill>
                  </a:rPr>
                  <a:t>Readout/detector choice for C targets and HJET still needed</a:t>
                </a:r>
              </a:p>
              <a:p>
                <a:pPr marL="914400" lvl="2" indent="0">
                  <a:buNone/>
                </a:pPr>
                <a:endParaRPr lang="en-US" dirty="0">
                  <a:solidFill>
                    <a:srgbClr val="C00000"/>
                  </a:solidFill>
                  <a:cs typeface="Arial"/>
                </a:endParaRPr>
              </a:p>
              <a:p>
                <a:pPr lvl="1"/>
                <a:endParaRPr lang="en-US" dirty="0">
                  <a:solidFill>
                    <a:srgbClr val="C00000"/>
                  </a:solidFill>
                  <a:cs typeface="Arial"/>
                </a:endParaRPr>
              </a:p>
            </p:txBody>
          </p:sp>
        </mc:Choice>
        <mc:Fallback xmlns="">
          <p:sp>
            <p:nvSpPr>
              <p:cNvPr id="6" name="Content Placeholder 2">
                <a:extLst>
                  <a:ext uri="{FF2B5EF4-FFF2-40B4-BE49-F238E27FC236}">
                    <a16:creationId xmlns:a16="http://schemas.microsoft.com/office/drawing/2014/main" id="{2E95889F-9E54-79C2-D029-B859CAD86BA4}"/>
                  </a:ext>
                </a:extLst>
              </p:cNvPr>
              <p:cNvSpPr>
                <a:spLocks noGrp="1" noRot="1" noChangeAspect="1" noMove="1" noResize="1" noEditPoints="1" noAdjustHandles="1" noChangeArrowheads="1" noChangeShapeType="1" noTextEdit="1"/>
              </p:cNvSpPr>
              <p:nvPr>
                <p:ph idx="1"/>
              </p:nvPr>
            </p:nvSpPr>
            <p:spPr>
              <a:xfrm>
                <a:off x="351423" y="975364"/>
                <a:ext cx="11758028" cy="5032243"/>
              </a:xfrm>
              <a:blipFill>
                <a:blip r:embed="rId2"/>
                <a:stretch>
                  <a:fillRect l="-647" t="-2267"/>
                </a:stretch>
              </a:blipFill>
            </p:spPr>
            <p:txBody>
              <a:bodyPr/>
              <a:lstStyle/>
              <a:p>
                <a:r>
                  <a:rPr lang="en-US">
                    <a:noFill/>
                  </a:rPr>
                  <a:t> </a:t>
                </a:r>
              </a:p>
            </p:txBody>
          </p:sp>
        </mc:Fallback>
      </mc:AlternateContent>
      <p:sp>
        <p:nvSpPr>
          <p:cNvPr id="4" name="object 11">
            <a:extLst>
              <a:ext uri="{FF2B5EF4-FFF2-40B4-BE49-F238E27FC236}">
                <a16:creationId xmlns:a16="http://schemas.microsoft.com/office/drawing/2014/main" id="{2AA2AA22-5F72-080C-CBF9-2304EDAE4D32}"/>
              </a:ext>
            </a:extLst>
          </p:cNvPr>
          <p:cNvSpPr txBox="1"/>
          <p:nvPr/>
        </p:nvSpPr>
        <p:spPr>
          <a:xfrm>
            <a:off x="10416794" y="404229"/>
            <a:ext cx="1527551"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#2</a:t>
            </a:r>
            <a:endParaRPr sz="2001" dirty="0">
              <a:solidFill>
                <a:srgbClr val="FF0000"/>
              </a:solidFill>
              <a:latin typeface="Arial Narrow"/>
              <a:cs typeface="Arial Narrow"/>
            </a:endParaRPr>
          </a:p>
        </p:txBody>
      </p:sp>
    </p:spTree>
    <p:extLst>
      <p:ext uri="{BB962C8B-B14F-4D97-AF65-F5344CB8AC3E}">
        <p14:creationId xmlns:p14="http://schemas.microsoft.com/office/powerpoint/2010/main" val="3581864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9712A2-C0CB-4CEC-099C-F83E697491A0}"/>
              </a:ext>
            </a:extLst>
          </p:cNvPr>
          <p:cNvSpPr>
            <a:spLocks noGrp="1"/>
          </p:cNvSpPr>
          <p:nvPr>
            <p:ph type="sldNum" sz="quarter" idx="4"/>
          </p:nvPr>
        </p:nvSpPr>
        <p:spPr/>
        <p:txBody>
          <a:bodyPr/>
          <a:lstStyle/>
          <a:p>
            <a:fld id="{933A556B-7C63-244D-9B7C-B0EA8042B330}" type="slidenum">
              <a:rPr lang="en-US" smtClean="0"/>
              <a:pPr/>
              <a:t>16</a:t>
            </a:fld>
            <a:endParaRPr lang="en-US"/>
          </a:p>
        </p:txBody>
      </p:sp>
      <p:sp>
        <p:nvSpPr>
          <p:cNvPr id="3" name="Title 2">
            <a:extLst>
              <a:ext uri="{FF2B5EF4-FFF2-40B4-BE49-F238E27FC236}">
                <a16:creationId xmlns:a16="http://schemas.microsoft.com/office/drawing/2014/main" id="{BB99C04D-BA6D-67F4-BCE3-B95BF46802D2}"/>
              </a:ext>
            </a:extLst>
          </p:cNvPr>
          <p:cNvSpPr>
            <a:spLocks noGrp="1"/>
          </p:cNvSpPr>
          <p:nvPr>
            <p:ph type="title"/>
          </p:nvPr>
        </p:nvSpPr>
        <p:spPr/>
        <p:txBody>
          <a:bodyPr/>
          <a:lstStyle/>
          <a:p>
            <a:r>
              <a:rPr lang="en-US" dirty="0"/>
              <a:t>Dependencies</a:t>
            </a:r>
          </a:p>
        </p:txBody>
      </p:sp>
      <p:sp>
        <p:nvSpPr>
          <p:cNvPr id="7" name="TextBox 6">
            <a:extLst>
              <a:ext uri="{FF2B5EF4-FFF2-40B4-BE49-F238E27FC236}">
                <a16:creationId xmlns:a16="http://schemas.microsoft.com/office/drawing/2014/main" id="{57334C5F-E38D-B21B-5854-FBA59DCC0526}"/>
              </a:ext>
            </a:extLst>
          </p:cNvPr>
          <p:cNvSpPr txBox="1"/>
          <p:nvPr/>
        </p:nvSpPr>
        <p:spPr>
          <a:xfrm>
            <a:off x="631585" y="1386321"/>
            <a:ext cx="6316062" cy="400110"/>
          </a:xfrm>
          <a:prstGeom prst="rect">
            <a:avLst/>
          </a:prstGeom>
          <a:noFill/>
        </p:spPr>
        <p:txBody>
          <a:bodyPr wrap="square">
            <a:spAutoFit/>
          </a:bodyPr>
          <a:lstStyle/>
          <a:p>
            <a:pPr algn="l">
              <a:buClr>
                <a:srgbClr val="0096FF"/>
              </a:buClr>
            </a:pPr>
            <a:r>
              <a:rPr lang="en-US" sz="2000" b="1" i="0" u="none" strike="noStrike" kern="1200" dirty="0">
                <a:solidFill>
                  <a:srgbClr val="000000"/>
                </a:solidFill>
                <a:effectLst/>
                <a:latin typeface="Calibri" panose="020F0502020204030204" pitchFamily="34" charset="0"/>
                <a:cs typeface="Calibri" panose="020F0502020204030204" pitchFamily="34" charset="0"/>
              </a:rPr>
              <a:t>Off-project activities </a:t>
            </a:r>
            <a:r>
              <a:rPr lang="en-US" sz="2000" b="1" dirty="0">
                <a:latin typeface="Calibri" panose="020F0502020204030204" pitchFamily="34" charset="0"/>
                <a:cs typeface="Calibri" panose="020F0502020204030204" pitchFamily="34" charset="0"/>
              </a:rPr>
              <a:t>Electron polarimetry (6.03.01.11.01)</a:t>
            </a:r>
          </a:p>
        </p:txBody>
      </p:sp>
      <p:sp>
        <p:nvSpPr>
          <p:cNvPr id="8" name="TextBox 7">
            <a:extLst>
              <a:ext uri="{FF2B5EF4-FFF2-40B4-BE49-F238E27FC236}">
                <a16:creationId xmlns:a16="http://schemas.microsoft.com/office/drawing/2014/main" id="{B0F8A69A-A30E-06F1-8F95-6D09A9BE0914}"/>
              </a:ext>
            </a:extLst>
          </p:cNvPr>
          <p:cNvSpPr txBox="1"/>
          <p:nvPr/>
        </p:nvSpPr>
        <p:spPr>
          <a:xfrm>
            <a:off x="631585" y="4008402"/>
            <a:ext cx="6746368" cy="400110"/>
          </a:xfrm>
          <a:prstGeom prst="rect">
            <a:avLst/>
          </a:prstGeom>
          <a:noFill/>
        </p:spPr>
        <p:txBody>
          <a:bodyPr wrap="square">
            <a:spAutoFit/>
          </a:bodyPr>
          <a:lstStyle/>
          <a:p>
            <a:pPr>
              <a:buClr>
                <a:srgbClr val="0096FF"/>
              </a:buClr>
            </a:pPr>
            <a:r>
              <a:rPr lang="en-US" sz="2000" b="1" i="0" u="none" strike="noStrike" kern="1200" dirty="0">
                <a:solidFill>
                  <a:srgbClr val="000000"/>
                </a:solidFill>
                <a:effectLst/>
                <a:latin typeface="Calibri" panose="020F0502020204030204" pitchFamily="34" charset="0"/>
                <a:cs typeface="Calibri" panose="020F0502020204030204" pitchFamily="34" charset="0"/>
              </a:rPr>
              <a:t>Off-project activities </a:t>
            </a:r>
            <a:r>
              <a:rPr lang="en-US" sz="2000" b="1" dirty="0">
                <a:latin typeface="Calibri" panose="020F0502020204030204" pitchFamily="34" charset="0"/>
                <a:cs typeface="Calibri" panose="020F0502020204030204" pitchFamily="34" charset="0"/>
              </a:rPr>
              <a:t>Hadron Polarimetry (6.03.01.11.02)</a:t>
            </a:r>
          </a:p>
        </p:txBody>
      </p:sp>
      <p:graphicFrame>
        <p:nvGraphicFramePr>
          <p:cNvPr id="9" name="Table 8">
            <a:extLst>
              <a:ext uri="{FF2B5EF4-FFF2-40B4-BE49-F238E27FC236}">
                <a16:creationId xmlns:a16="http://schemas.microsoft.com/office/drawing/2014/main" id="{5372C4E1-2686-E636-6CE7-F4886F12B606}"/>
              </a:ext>
            </a:extLst>
          </p:cNvPr>
          <p:cNvGraphicFramePr>
            <a:graphicFrameLocks noGrp="1"/>
          </p:cNvGraphicFramePr>
          <p:nvPr>
            <p:extLst>
              <p:ext uri="{D42A27DB-BD31-4B8C-83A1-F6EECF244321}">
                <p14:modId xmlns:p14="http://schemas.microsoft.com/office/powerpoint/2010/main" val="2121203526"/>
              </p:ext>
            </p:extLst>
          </p:nvPr>
        </p:nvGraphicFramePr>
        <p:xfrm>
          <a:off x="708275" y="4420031"/>
          <a:ext cx="10854107" cy="741680"/>
        </p:xfrm>
        <a:graphic>
          <a:graphicData uri="http://schemas.openxmlformats.org/drawingml/2006/table">
            <a:tbl>
              <a:tblPr firstRow="1" bandRow="1">
                <a:tableStyleId>{5C22544A-7EE6-4342-B048-85BDC9FD1C3A}</a:tableStyleId>
              </a:tblPr>
              <a:tblGrid>
                <a:gridCol w="4867195">
                  <a:extLst>
                    <a:ext uri="{9D8B030D-6E8A-4147-A177-3AD203B41FA5}">
                      <a16:colId xmlns:a16="http://schemas.microsoft.com/office/drawing/2014/main" val="4115245946"/>
                    </a:ext>
                  </a:extLst>
                </a:gridCol>
                <a:gridCol w="5005483">
                  <a:extLst>
                    <a:ext uri="{9D8B030D-6E8A-4147-A177-3AD203B41FA5}">
                      <a16:colId xmlns:a16="http://schemas.microsoft.com/office/drawing/2014/main" val="780707585"/>
                    </a:ext>
                  </a:extLst>
                </a:gridCol>
                <a:gridCol w="981429">
                  <a:extLst>
                    <a:ext uri="{9D8B030D-6E8A-4147-A177-3AD203B41FA5}">
                      <a16:colId xmlns:a16="http://schemas.microsoft.com/office/drawing/2014/main" val="2994325704"/>
                    </a:ext>
                  </a:extLst>
                </a:gridCol>
              </a:tblGrid>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Calibri" panose="020F0502020204030204" pitchFamily="34" charset="0"/>
                          <a:cs typeface="Calibri" panose="020F0502020204030204" pitchFamily="34" charset="0"/>
                          <a:sym typeface="Wingdings" pitchFamily="2" charset="2"/>
                        </a:rPr>
                        <a:t>Workspace preparation at </a:t>
                      </a:r>
                      <a:r>
                        <a:rPr lang="en-US" sz="1800" b="0" dirty="0" err="1">
                          <a:solidFill>
                            <a:schemeClr val="tx1"/>
                          </a:solidFill>
                          <a:latin typeface="Calibri" panose="020F0502020204030204" pitchFamily="34" charset="0"/>
                          <a:cs typeface="Calibri" panose="020F0502020204030204" pitchFamily="34" charset="0"/>
                          <a:sym typeface="Wingdings" pitchFamily="2" charset="2"/>
                        </a:rPr>
                        <a:t>highbay</a:t>
                      </a:r>
                      <a:endParaRPr lang="en-US" sz="1800" b="0" dirty="0">
                        <a:solidFill>
                          <a:schemeClr val="tx1"/>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Calibri" panose="020F0502020204030204" pitchFamily="34" charset="0"/>
                          <a:cs typeface="Calibri" panose="020F0502020204030204" pitchFamily="34" charset="0"/>
                          <a:sym typeface="Wingdings" pitchFamily="2" charset="2"/>
                        </a:rPr>
                        <a:t>To be ready end of Q3/2025</a:t>
                      </a:r>
                      <a:endParaRPr lang="en-US" sz="1800" b="0" dirty="0">
                        <a:solidFill>
                          <a:schemeClr val="tx1"/>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800" b="0" dirty="0">
                          <a:solidFill>
                            <a:schemeClr val="tx1"/>
                          </a:solidFill>
                          <a:latin typeface="Calibri" panose="020F0502020204030204" pitchFamily="34" charset="0"/>
                          <a:cs typeface="Calibri" panose="020F0502020204030204" pitchFamily="34" charset="0"/>
                        </a:rPr>
                        <a:t>0.25 FTE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6586917"/>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Calibri" panose="020F0502020204030204" pitchFamily="34" charset="0"/>
                          <a:cs typeface="Calibri" panose="020F0502020204030204" pitchFamily="34" charset="0"/>
                        </a:rPr>
                        <a:t>Rigging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Calibri" panose="020F0502020204030204" pitchFamily="34" charset="0"/>
                          <a:cs typeface="Calibri" panose="020F0502020204030204" pitchFamily="34" charset="0"/>
                        </a:rPr>
                        <a:t>Two periods: end of 2024 and end of 2029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800" b="0" dirty="0">
                          <a:solidFill>
                            <a:schemeClr val="tx1"/>
                          </a:solidFill>
                          <a:latin typeface="Calibri" panose="020F0502020204030204" pitchFamily="34" charset="0"/>
                          <a:cs typeface="Calibri" panose="020F0502020204030204" pitchFamily="34" charset="0"/>
                        </a:rPr>
                        <a:t>1 FTE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5168109"/>
                  </a:ext>
                </a:extLst>
              </a:tr>
            </a:tbl>
          </a:graphicData>
        </a:graphic>
      </p:graphicFrame>
      <p:graphicFrame>
        <p:nvGraphicFramePr>
          <p:cNvPr id="10" name="Table 9">
            <a:extLst>
              <a:ext uri="{FF2B5EF4-FFF2-40B4-BE49-F238E27FC236}">
                <a16:creationId xmlns:a16="http://schemas.microsoft.com/office/drawing/2014/main" id="{E149DEFE-9C13-FA68-376A-2A752690803E}"/>
              </a:ext>
            </a:extLst>
          </p:cNvPr>
          <p:cNvGraphicFramePr>
            <a:graphicFrameLocks noGrp="1"/>
          </p:cNvGraphicFramePr>
          <p:nvPr>
            <p:extLst>
              <p:ext uri="{D42A27DB-BD31-4B8C-83A1-F6EECF244321}">
                <p14:modId xmlns:p14="http://schemas.microsoft.com/office/powerpoint/2010/main" val="886090306"/>
              </p:ext>
            </p:extLst>
          </p:nvPr>
        </p:nvGraphicFramePr>
        <p:xfrm>
          <a:off x="708274" y="1797950"/>
          <a:ext cx="10854107" cy="1112520"/>
        </p:xfrm>
        <a:graphic>
          <a:graphicData uri="http://schemas.openxmlformats.org/drawingml/2006/table">
            <a:tbl>
              <a:tblPr firstRow="1" bandRow="1">
                <a:tableStyleId>{5C22544A-7EE6-4342-B048-85BDC9FD1C3A}</a:tableStyleId>
              </a:tblPr>
              <a:tblGrid>
                <a:gridCol w="4867195">
                  <a:extLst>
                    <a:ext uri="{9D8B030D-6E8A-4147-A177-3AD203B41FA5}">
                      <a16:colId xmlns:a16="http://schemas.microsoft.com/office/drawing/2014/main" val="4115245946"/>
                    </a:ext>
                  </a:extLst>
                </a:gridCol>
                <a:gridCol w="5005483">
                  <a:extLst>
                    <a:ext uri="{9D8B030D-6E8A-4147-A177-3AD203B41FA5}">
                      <a16:colId xmlns:a16="http://schemas.microsoft.com/office/drawing/2014/main" val="780707585"/>
                    </a:ext>
                  </a:extLst>
                </a:gridCol>
                <a:gridCol w="981429">
                  <a:extLst>
                    <a:ext uri="{9D8B030D-6E8A-4147-A177-3AD203B41FA5}">
                      <a16:colId xmlns:a16="http://schemas.microsoft.com/office/drawing/2014/main" val="2994325704"/>
                    </a:ext>
                  </a:extLst>
                </a:gridCol>
              </a:tblGrid>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Calibri" panose="020F0502020204030204" pitchFamily="34" charset="0"/>
                          <a:cs typeface="Calibri" panose="020F0502020204030204" pitchFamily="34" charset="0"/>
                          <a:sym typeface="Wingdings" pitchFamily="2" charset="2"/>
                        </a:rPr>
                        <a:t>Movement and preparation of mobile laser lab</a:t>
                      </a:r>
                      <a:endParaRPr lang="en-US" sz="1800" b="0" dirty="0">
                        <a:solidFill>
                          <a:schemeClr val="tx1"/>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Calibri" panose="020F0502020204030204" pitchFamily="34" charset="0"/>
                          <a:cs typeface="Calibri" panose="020F0502020204030204" pitchFamily="34" charset="0"/>
                          <a:sym typeface="Wingdings" pitchFamily="2" charset="2"/>
                        </a:rPr>
                        <a:t>To be ready end of Q3/2028</a:t>
                      </a:r>
                      <a:endParaRPr lang="en-US" sz="1800" b="0" dirty="0">
                        <a:solidFill>
                          <a:schemeClr val="tx1"/>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800" b="0" dirty="0">
                          <a:solidFill>
                            <a:schemeClr val="tx1"/>
                          </a:solidFill>
                          <a:latin typeface="Calibri" panose="020F0502020204030204" pitchFamily="34" charset="0"/>
                          <a:cs typeface="Calibri" panose="020F0502020204030204" pitchFamily="34" charset="0"/>
                        </a:rPr>
                        <a:t>0.5 FTE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6586917"/>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Calibri" panose="020F0502020204030204" pitchFamily="34" charset="0"/>
                          <a:cs typeface="Calibri" panose="020F0502020204030204" pitchFamily="34" charset="0"/>
                        </a:rPr>
                        <a:t>EH&amp;S support for laser lab operation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Calibri" panose="020F0502020204030204" pitchFamily="34" charset="0"/>
                          <a:cs typeface="Calibri" panose="020F0502020204030204" pitchFamily="34" charset="0"/>
                        </a:rPr>
                        <a:t>Starting Q3/2028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800" b="0" dirty="0">
                        <a:solidFill>
                          <a:schemeClr val="tx1"/>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5168109"/>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Calibri" panose="020F0502020204030204" pitchFamily="34" charset="0"/>
                          <a:cs typeface="Calibri" panose="020F0502020204030204" pitchFamily="34" charset="0"/>
                        </a:rPr>
                        <a:t>Laser safety training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b="0" dirty="0">
                          <a:solidFill>
                            <a:schemeClr val="tx1"/>
                          </a:solidFill>
                          <a:latin typeface="Calibri" panose="020F0502020204030204" pitchFamily="34" charset="0"/>
                          <a:cs typeface="Calibri" panose="020F0502020204030204" pitchFamily="34" charset="0"/>
                        </a:rPr>
                        <a:t>Ready by Q3/2028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800" b="0" dirty="0">
                        <a:solidFill>
                          <a:schemeClr val="tx1"/>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7098930"/>
                  </a:ext>
                </a:extLst>
              </a:tr>
            </a:tbl>
          </a:graphicData>
        </a:graphic>
      </p:graphicFrame>
      <p:sp>
        <p:nvSpPr>
          <p:cNvPr id="11" name="TextBox 10">
            <a:extLst>
              <a:ext uri="{FF2B5EF4-FFF2-40B4-BE49-F238E27FC236}">
                <a16:creationId xmlns:a16="http://schemas.microsoft.com/office/drawing/2014/main" id="{5774C6DA-CEC1-C08A-3774-4CA3E7280518}"/>
              </a:ext>
            </a:extLst>
          </p:cNvPr>
          <p:cNvSpPr txBox="1"/>
          <p:nvPr/>
        </p:nvSpPr>
        <p:spPr>
          <a:xfrm>
            <a:off x="3224980" y="5738502"/>
            <a:ext cx="5096267" cy="369332"/>
          </a:xfrm>
          <a:prstGeom prst="rect">
            <a:avLst/>
          </a:prstGeom>
          <a:noFill/>
        </p:spPr>
        <p:txBody>
          <a:bodyPr wrap="none" rtlCol="0">
            <a:spAutoFit/>
          </a:bodyPr>
          <a:lstStyle/>
          <a:p>
            <a:r>
              <a:rPr lang="en-US" dirty="0"/>
              <a:t>Update and refurbishment of existing equipment</a:t>
            </a:r>
          </a:p>
        </p:txBody>
      </p:sp>
      <p:sp>
        <p:nvSpPr>
          <p:cNvPr id="14" name="Up Arrow 13">
            <a:extLst>
              <a:ext uri="{FF2B5EF4-FFF2-40B4-BE49-F238E27FC236}">
                <a16:creationId xmlns:a16="http://schemas.microsoft.com/office/drawing/2014/main" id="{0C1293EA-7ADD-CADB-6BB4-D958DBB076D2}"/>
              </a:ext>
            </a:extLst>
          </p:cNvPr>
          <p:cNvSpPr/>
          <p:nvPr/>
        </p:nvSpPr>
        <p:spPr>
          <a:xfrm>
            <a:off x="5289756" y="5307976"/>
            <a:ext cx="629264" cy="38345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Up Arrow 14">
            <a:extLst>
              <a:ext uri="{FF2B5EF4-FFF2-40B4-BE49-F238E27FC236}">
                <a16:creationId xmlns:a16="http://schemas.microsoft.com/office/drawing/2014/main" id="{2FC65D52-F9AB-B364-3793-4CFDCE971676}"/>
              </a:ext>
            </a:extLst>
          </p:cNvPr>
          <p:cNvSpPr/>
          <p:nvPr/>
        </p:nvSpPr>
        <p:spPr>
          <a:xfrm>
            <a:off x="5289756" y="3002294"/>
            <a:ext cx="629264" cy="38345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10C802E-5A77-967C-0FB7-7C3FA2828B32}"/>
              </a:ext>
            </a:extLst>
          </p:cNvPr>
          <p:cNvSpPr txBox="1"/>
          <p:nvPr/>
        </p:nvSpPr>
        <p:spPr>
          <a:xfrm>
            <a:off x="4178356" y="3441429"/>
            <a:ext cx="2852063" cy="369332"/>
          </a:xfrm>
          <a:prstGeom prst="rect">
            <a:avLst/>
          </a:prstGeom>
          <a:noFill/>
        </p:spPr>
        <p:txBody>
          <a:bodyPr wrap="none" rtlCol="0">
            <a:spAutoFit/>
          </a:bodyPr>
          <a:lstStyle/>
          <a:p>
            <a:r>
              <a:rPr lang="en-US" dirty="0"/>
              <a:t>ESR laser system support</a:t>
            </a:r>
          </a:p>
        </p:txBody>
      </p:sp>
      <p:sp>
        <p:nvSpPr>
          <p:cNvPr id="4" name="object 11">
            <a:extLst>
              <a:ext uri="{FF2B5EF4-FFF2-40B4-BE49-F238E27FC236}">
                <a16:creationId xmlns:a16="http://schemas.microsoft.com/office/drawing/2014/main" id="{A2B78C47-05BD-7345-7A6E-E8D3F3C5AA04}"/>
              </a:ext>
            </a:extLst>
          </p:cNvPr>
          <p:cNvSpPr txBox="1"/>
          <p:nvPr/>
        </p:nvSpPr>
        <p:spPr>
          <a:xfrm>
            <a:off x="10100930" y="404229"/>
            <a:ext cx="1843416"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#1,2</a:t>
            </a:r>
            <a:endParaRPr sz="2001" dirty="0">
              <a:solidFill>
                <a:srgbClr val="FF0000"/>
              </a:solidFill>
              <a:latin typeface="Arial Narrow"/>
              <a:cs typeface="Arial Narrow"/>
            </a:endParaRPr>
          </a:p>
        </p:txBody>
      </p:sp>
      <p:sp>
        <p:nvSpPr>
          <p:cNvPr id="5" name="TextBox 4">
            <a:extLst>
              <a:ext uri="{FF2B5EF4-FFF2-40B4-BE49-F238E27FC236}">
                <a16:creationId xmlns:a16="http://schemas.microsoft.com/office/drawing/2014/main" id="{F2B1D07C-8198-D4FE-0B5F-9BE5A913E2BD}"/>
              </a:ext>
            </a:extLst>
          </p:cNvPr>
          <p:cNvSpPr txBox="1"/>
          <p:nvPr/>
        </p:nvSpPr>
        <p:spPr>
          <a:xfrm>
            <a:off x="3439987" y="889580"/>
            <a:ext cx="4819076" cy="369332"/>
          </a:xfrm>
          <a:prstGeom prst="rect">
            <a:avLst/>
          </a:prstGeom>
          <a:noFill/>
        </p:spPr>
        <p:txBody>
          <a:bodyPr wrap="none" rtlCol="0">
            <a:spAutoFit/>
          </a:bodyPr>
          <a:lstStyle/>
          <a:p>
            <a:r>
              <a:rPr lang="en-US" b="1" dirty="0">
                <a:latin typeface="Calibri" panose="020F0502020204030204" pitchFamily="34" charset="0"/>
                <a:cs typeface="Calibri" panose="020F0502020204030204" pitchFamily="34" charset="0"/>
              </a:rPr>
              <a:t>No internal dependencies (</a:t>
            </a:r>
            <a:r>
              <a:rPr lang="en-US" b="1" dirty="0">
                <a:solidFill>
                  <a:srgbClr val="FF0000"/>
                </a:solidFill>
                <a:latin typeface="Calibri" panose="020F0502020204030204" pitchFamily="34" charset="0"/>
                <a:cs typeface="Calibri" panose="020F0502020204030204" pitchFamily="34" charset="0"/>
              </a:rPr>
              <a:t>no CD3a/CD3b scope</a:t>
            </a:r>
            <a:r>
              <a:rPr lang="en-US" b="1"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233290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BCD5C6-0EEF-6C33-1FB2-38255F235B17}"/>
              </a:ext>
            </a:extLst>
          </p:cNvPr>
          <p:cNvSpPr>
            <a:spLocks noGrp="1"/>
          </p:cNvSpPr>
          <p:nvPr>
            <p:ph type="sldNum" sz="quarter" idx="4"/>
          </p:nvPr>
        </p:nvSpPr>
        <p:spPr/>
        <p:txBody>
          <a:bodyPr/>
          <a:lstStyle/>
          <a:p>
            <a:fld id="{933A556B-7C63-244D-9B7C-B0EA8042B330}" type="slidenum">
              <a:rPr lang="en-US" smtClean="0"/>
              <a:pPr/>
              <a:t>17</a:t>
            </a:fld>
            <a:endParaRPr lang="en-US"/>
          </a:p>
        </p:txBody>
      </p:sp>
      <p:sp>
        <p:nvSpPr>
          <p:cNvPr id="3" name="Title 2">
            <a:extLst>
              <a:ext uri="{FF2B5EF4-FFF2-40B4-BE49-F238E27FC236}">
                <a16:creationId xmlns:a16="http://schemas.microsoft.com/office/drawing/2014/main" id="{12BD42CF-6B2C-0548-52B2-C00B309D2018}"/>
              </a:ext>
            </a:extLst>
          </p:cNvPr>
          <p:cNvSpPr>
            <a:spLocks noGrp="1"/>
          </p:cNvSpPr>
          <p:nvPr>
            <p:ph type="title"/>
          </p:nvPr>
        </p:nvSpPr>
        <p:spPr/>
        <p:txBody>
          <a:bodyPr/>
          <a:lstStyle/>
          <a:p>
            <a:r>
              <a:rPr lang="en-US" dirty="0"/>
              <a:t>Major Interfaces</a:t>
            </a:r>
          </a:p>
        </p:txBody>
      </p:sp>
      <p:sp>
        <p:nvSpPr>
          <p:cNvPr id="10" name="Content Placeholder 9">
            <a:extLst>
              <a:ext uri="{FF2B5EF4-FFF2-40B4-BE49-F238E27FC236}">
                <a16:creationId xmlns:a16="http://schemas.microsoft.com/office/drawing/2014/main" id="{29F9E288-A079-3EE6-7DD9-256C908AE454}"/>
              </a:ext>
            </a:extLst>
          </p:cNvPr>
          <p:cNvSpPr>
            <a:spLocks noGrp="1"/>
          </p:cNvSpPr>
          <p:nvPr>
            <p:ph idx="1"/>
          </p:nvPr>
        </p:nvSpPr>
        <p:spPr/>
        <p:txBody>
          <a:bodyPr/>
          <a:lstStyle/>
          <a:p>
            <a:r>
              <a:rPr lang="en-US" dirty="0"/>
              <a:t>All interfaces for the polarimeters have been identified</a:t>
            </a:r>
          </a:p>
          <a:p>
            <a:pPr lvl="1"/>
            <a:r>
              <a:rPr lang="en-US" dirty="0">
                <a:hlinkClick r:id="rId2"/>
              </a:rPr>
              <a:t>https://eic.jlab.org/Documents/DET/Interfaces/DET-Interfaces-Current.pdf</a:t>
            </a:r>
            <a:endParaRPr lang="en-US" dirty="0"/>
          </a:p>
          <a:p>
            <a:r>
              <a:rPr lang="en-US" dirty="0"/>
              <a:t>Draft internal interface control document for electron polarimeters</a:t>
            </a:r>
          </a:p>
          <a:p>
            <a:pPr lvl="1"/>
            <a:r>
              <a:rPr lang="en-US" dirty="0">
                <a:hlinkClick r:id="rId3"/>
              </a:rPr>
              <a:t>https://eic.jlab.org/Documents/DET/Interfaces/ICD-Current/DET-DS-POL-EPOL-Internal-ICD.docx</a:t>
            </a:r>
            <a:endParaRPr lang="en-US" dirty="0"/>
          </a:p>
          <a:p>
            <a:r>
              <a:rPr lang="en-US" dirty="0"/>
              <a:t>Final internal interface control document for hadron polarimeters</a:t>
            </a:r>
          </a:p>
          <a:p>
            <a:pPr lvl="1"/>
            <a:r>
              <a:rPr lang="en-US" dirty="0">
                <a:hlinkClick r:id="rId4"/>
              </a:rPr>
              <a:t>https://eic.jlab.org/Documents/DET/Interfaces/ICD-Current/DET-DS-POL-HPOL-Internal-ICD.docx</a:t>
            </a:r>
            <a:endParaRPr lang="en-US" dirty="0"/>
          </a:p>
          <a:p>
            <a:r>
              <a:rPr lang="en-US" dirty="0"/>
              <a:t>Several draft external interface control documents for both polarimeters to be completed</a:t>
            </a:r>
          </a:p>
          <a:p>
            <a:endParaRPr lang="en-US" dirty="0"/>
          </a:p>
        </p:txBody>
      </p:sp>
      <p:sp>
        <p:nvSpPr>
          <p:cNvPr id="9" name="object 11">
            <a:extLst>
              <a:ext uri="{FF2B5EF4-FFF2-40B4-BE49-F238E27FC236}">
                <a16:creationId xmlns:a16="http://schemas.microsoft.com/office/drawing/2014/main" id="{CB585710-744D-F74B-6AF9-70AE28419242}"/>
              </a:ext>
            </a:extLst>
          </p:cNvPr>
          <p:cNvSpPr txBox="1"/>
          <p:nvPr/>
        </p:nvSpPr>
        <p:spPr>
          <a:xfrm>
            <a:off x="10416794" y="404229"/>
            <a:ext cx="1527551"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#4</a:t>
            </a:r>
            <a:endParaRPr sz="2001" dirty="0">
              <a:solidFill>
                <a:srgbClr val="FF0000"/>
              </a:solidFill>
              <a:latin typeface="Arial Narrow"/>
              <a:cs typeface="Arial Narrow"/>
            </a:endParaRPr>
          </a:p>
        </p:txBody>
      </p:sp>
    </p:spTree>
    <p:extLst>
      <p:ext uri="{BB962C8B-B14F-4D97-AF65-F5344CB8AC3E}">
        <p14:creationId xmlns:p14="http://schemas.microsoft.com/office/powerpoint/2010/main" val="3329135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913526-5396-C9D8-6389-5A38ADEDE770}"/>
              </a:ext>
            </a:extLst>
          </p:cNvPr>
          <p:cNvSpPr>
            <a:spLocks noGrp="1"/>
          </p:cNvSpPr>
          <p:nvPr>
            <p:ph type="sldNum" sz="quarter" idx="4"/>
          </p:nvPr>
        </p:nvSpPr>
        <p:spPr/>
        <p:txBody>
          <a:bodyPr/>
          <a:lstStyle/>
          <a:p>
            <a:fld id="{933A556B-7C63-244D-9B7C-B0EA8042B330}" type="slidenum">
              <a:rPr lang="en-US" smtClean="0"/>
              <a:pPr/>
              <a:t>18</a:t>
            </a:fld>
            <a:endParaRPr lang="en-US"/>
          </a:p>
        </p:txBody>
      </p:sp>
      <p:sp>
        <p:nvSpPr>
          <p:cNvPr id="3" name="Title 2">
            <a:extLst>
              <a:ext uri="{FF2B5EF4-FFF2-40B4-BE49-F238E27FC236}">
                <a16:creationId xmlns:a16="http://schemas.microsoft.com/office/drawing/2014/main" id="{E9690769-6B9D-029C-8B29-78335C5E5F5F}"/>
              </a:ext>
            </a:extLst>
          </p:cNvPr>
          <p:cNvSpPr>
            <a:spLocks noGrp="1"/>
          </p:cNvSpPr>
          <p:nvPr>
            <p:ph type="title"/>
          </p:nvPr>
        </p:nvSpPr>
        <p:spPr/>
        <p:txBody>
          <a:bodyPr>
            <a:normAutofit/>
          </a:bodyPr>
          <a:lstStyle/>
          <a:p>
            <a:r>
              <a:rPr lang="en-US" dirty="0"/>
              <a:t>Example: Interface for hadron polarimeters</a:t>
            </a:r>
          </a:p>
        </p:txBody>
      </p:sp>
      <p:grpSp>
        <p:nvGrpSpPr>
          <p:cNvPr id="36" name="Group 35">
            <a:extLst>
              <a:ext uri="{FF2B5EF4-FFF2-40B4-BE49-F238E27FC236}">
                <a16:creationId xmlns:a16="http://schemas.microsoft.com/office/drawing/2014/main" id="{2EBC148A-6CAA-2858-0B6D-585E92881D30}"/>
              </a:ext>
            </a:extLst>
          </p:cNvPr>
          <p:cNvGrpSpPr>
            <a:grpSpLocks noChangeAspect="1"/>
          </p:cNvGrpSpPr>
          <p:nvPr/>
        </p:nvGrpSpPr>
        <p:grpSpPr>
          <a:xfrm>
            <a:off x="571500" y="3968829"/>
            <a:ext cx="8337093" cy="2274664"/>
            <a:chOff x="366321" y="2469280"/>
            <a:chExt cx="11573175" cy="3489171"/>
          </a:xfrm>
        </p:grpSpPr>
        <p:pic>
          <p:nvPicPr>
            <p:cNvPr id="37" name="Picture 36">
              <a:extLst>
                <a:ext uri="{FF2B5EF4-FFF2-40B4-BE49-F238E27FC236}">
                  <a16:creationId xmlns:a16="http://schemas.microsoft.com/office/drawing/2014/main" id="{5E37D8B1-5CE6-6A2A-09C3-258774AA62B3}"/>
                </a:ext>
              </a:extLst>
            </p:cNvPr>
            <p:cNvPicPr>
              <a:picLocks noChangeAspect="1"/>
            </p:cNvPicPr>
            <p:nvPr/>
          </p:nvPicPr>
          <p:blipFill>
            <a:blip r:embed="rId2"/>
            <a:stretch>
              <a:fillRect/>
            </a:stretch>
          </p:blipFill>
          <p:spPr>
            <a:xfrm>
              <a:off x="366321" y="2911990"/>
              <a:ext cx="11573175" cy="3046461"/>
            </a:xfrm>
            <a:prstGeom prst="rect">
              <a:avLst/>
            </a:prstGeom>
          </p:spPr>
        </p:pic>
        <p:sp>
          <p:nvSpPr>
            <p:cNvPr id="38" name="TextBox 37">
              <a:extLst>
                <a:ext uri="{FF2B5EF4-FFF2-40B4-BE49-F238E27FC236}">
                  <a16:creationId xmlns:a16="http://schemas.microsoft.com/office/drawing/2014/main" id="{F1D911AE-687D-D240-179A-6E0DA60CE536}"/>
                </a:ext>
              </a:extLst>
            </p:cNvPr>
            <p:cNvSpPr txBox="1"/>
            <p:nvPr/>
          </p:nvSpPr>
          <p:spPr>
            <a:xfrm>
              <a:off x="1592419" y="2738962"/>
              <a:ext cx="449162" cy="276999"/>
            </a:xfrm>
            <a:prstGeom prst="rect">
              <a:avLst/>
            </a:prstGeom>
            <a:noFill/>
          </p:spPr>
          <p:txBody>
            <a:bodyPr wrap="none" rtlCol="0">
              <a:spAutoFit/>
            </a:bodyPr>
            <a:lstStyle/>
            <a:p>
              <a:pPr algn="ctr"/>
              <a:r>
                <a:rPr lang="en-US" sz="1200" b="1" dirty="0">
                  <a:solidFill>
                    <a:srgbClr val="C00000"/>
                  </a:solidFill>
                </a:rPr>
                <a:t>CNI</a:t>
              </a:r>
            </a:p>
          </p:txBody>
        </p:sp>
        <p:sp>
          <p:nvSpPr>
            <p:cNvPr id="39" name="TextBox 38">
              <a:extLst>
                <a:ext uri="{FF2B5EF4-FFF2-40B4-BE49-F238E27FC236}">
                  <a16:creationId xmlns:a16="http://schemas.microsoft.com/office/drawing/2014/main" id="{0555E448-D424-0CDA-4292-588FABA0F6F5}"/>
                </a:ext>
              </a:extLst>
            </p:cNvPr>
            <p:cNvSpPr txBox="1"/>
            <p:nvPr/>
          </p:nvSpPr>
          <p:spPr>
            <a:xfrm>
              <a:off x="633628" y="2469280"/>
              <a:ext cx="868849" cy="269682"/>
            </a:xfrm>
            <a:prstGeom prst="rect">
              <a:avLst/>
            </a:prstGeom>
            <a:noFill/>
          </p:spPr>
          <p:txBody>
            <a:bodyPr wrap="none" rtlCol="0">
              <a:spAutoFit/>
            </a:bodyPr>
            <a:lstStyle/>
            <a:p>
              <a:pPr algn="ctr"/>
              <a:r>
                <a:rPr lang="en-US" sz="1200" dirty="0"/>
                <a:t>Triplet (Q3)</a:t>
              </a:r>
            </a:p>
          </p:txBody>
        </p:sp>
        <p:sp>
          <p:nvSpPr>
            <p:cNvPr id="40" name="TextBox 39">
              <a:extLst>
                <a:ext uri="{FF2B5EF4-FFF2-40B4-BE49-F238E27FC236}">
                  <a16:creationId xmlns:a16="http://schemas.microsoft.com/office/drawing/2014/main" id="{CB8C4807-7BF8-E156-5491-369E949D7F2B}"/>
                </a:ext>
              </a:extLst>
            </p:cNvPr>
            <p:cNvSpPr txBox="1"/>
            <p:nvPr/>
          </p:nvSpPr>
          <p:spPr>
            <a:xfrm>
              <a:off x="2200189" y="2700773"/>
              <a:ext cx="729688" cy="276999"/>
            </a:xfrm>
            <a:prstGeom prst="rect">
              <a:avLst/>
            </a:prstGeom>
            <a:noFill/>
          </p:spPr>
          <p:txBody>
            <a:bodyPr wrap="none" rtlCol="0">
              <a:spAutoFit/>
            </a:bodyPr>
            <a:lstStyle/>
            <a:p>
              <a:pPr algn="ctr"/>
              <a:r>
                <a:rPr lang="en-US" sz="1200" b="1" dirty="0">
                  <a:solidFill>
                    <a:srgbClr val="C00000"/>
                  </a:solidFill>
                </a:rPr>
                <a:t>3He Jet</a:t>
              </a:r>
            </a:p>
          </p:txBody>
        </p:sp>
        <p:sp>
          <p:nvSpPr>
            <p:cNvPr id="41" name="TextBox 40">
              <a:extLst>
                <a:ext uri="{FF2B5EF4-FFF2-40B4-BE49-F238E27FC236}">
                  <a16:creationId xmlns:a16="http://schemas.microsoft.com/office/drawing/2014/main" id="{6717DDFD-7BB7-224A-647D-443A896F8CEC}"/>
                </a:ext>
              </a:extLst>
            </p:cNvPr>
            <p:cNvSpPr txBox="1"/>
            <p:nvPr/>
          </p:nvSpPr>
          <p:spPr>
            <a:xfrm>
              <a:off x="3080945" y="2835614"/>
              <a:ext cx="516488" cy="276999"/>
            </a:xfrm>
            <a:prstGeom prst="rect">
              <a:avLst/>
            </a:prstGeom>
            <a:noFill/>
          </p:spPr>
          <p:txBody>
            <a:bodyPr wrap="none" rtlCol="0">
              <a:spAutoFit/>
            </a:bodyPr>
            <a:lstStyle/>
            <a:p>
              <a:pPr algn="ctr"/>
              <a:r>
                <a:rPr lang="en-US" sz="1200" b="1" dirty="0">
                  <a:solidFill>
                    <a:srgbClr val="C00000"/>
                  </a:solidFill>
                </a:rPr>
                <a:t>HJet</a:t>
              </a:r>
            </a:p>
          </p:txBody>
        </p:sp>
        <p:sp>
          <p:nvSpPr>
            <p:cNvPr id="42" name="TextBox 41">
              <a:extLst>
                <a:ext uri="{FF2B5EF4-FFF2-40B4-BE49-F238E27FC236}">
                  <a16:creationId xmlns:a16="http://schemas.microsoft.com/office/drawing/2014/main" id="{82AB3430-8B98-01CC-B9C1-9C2D985B5926}"/>
                </a:ext>
              </a:extLst>
            </p:cNvPr>
            <p:cNvSpPr txBox="1"/>
            <p:nvPr/>
          </p:nvSpPr>
          <p:spPr>
            <a:xfrm>
              <a:off x="3619231" y="3105296"/>
              <a:ext cx="1477310" cy="430953"/>
            </a:xfrm>
            <a:prstGeom prst="rect">
              <a:avLst/>
            </a:prstGeom>
            <a:noFill/>
          </p:spPr>
          <p:txBody>
            <a:bodyPr wrap="none" rtlCol="0">
              <a:spAutoFit/>
            </a:bodyPr>
            <a:lstStyle/>
            <a:p>
              <a:pPr algn="ctr"/>
              <a:r>
                <a:rPr lang="en-US" sz="1050" dirty="0"/>
                <a:t>2X Warm D0</a:t>
              </a:r>
            </a:p>
          </p:txBody>
        </p:sp>
        <p:sp>
          <p:nvSpPr>
            <p:cNvPr id="43" name="TextBox 42">
              <a:extLst>
                <a:ext uri="{FF2B5EF4-FFF2-40B4-BE49-F238E27FC236}">
                  <a16:creationId xmlns:a16="http://schemas.microsoft.com/office/drawing/2014/main" id="{F7A2B2B2-629B-883B-4A7A-2875D0603258}"/>
                </a:ext>
              </a:extLst>
            </p:cNvPr>
            <p:cNvSpPr txBox="1"/>
            <p:nvPr/>
          </p:nvSpPr>
          <p:spPr>
            <a:xfrm>
              <a:off x="4815192" y="2875768"/>
              <a:ext cx="1890727" cy="430953"/>
            </a:xfrm>
            <a:prstGeom prst="rect">
              <a:avLst/>
            </a:prstGeom>
            <a:noFill/>
          </p:spPr>
          <p:txBody>
            <a:bodyPr wrap="none" rtlCol="0">
              <a:spAutoFit/>
            </a:bodyPr>
            <a:lstStyle/>
            <a:p>
              <a:pPr algn="ctr"/>
              <a:r>
                <a:rPr lang="en-US" sz="1100" dirty="0" err="1"/>
                <a:t>Longit</a:t>
              </a:r>
              <a:r>
                <a:rPr lang="en-US" sz="1100" dirty="0"/>
                <a:t> SC Pickup</a:t>
              </a:r>
            </a:p>
          </p:txBody>
        </p:sp>
        <p:sp>
          <p:nvSpPr>
            <p:cNvPr id="44" name="TextBox 43">
              <a:extLst>
                <a:ext uri="{FF2B5EF4-FFF2-40B4-BE49-F238E27FC236}">
                  <a16:creationId xmlns:a16="http://schemas.microsoft.com/office/drawing/2014/main" id="{62740CC0-A3B0-D96D-F432-A8842C52FDE2}"/>
                </a:ext>
              </a:extLst>
            </p:cNvPr>
            <p:cNvSpPr txBox="1"/>
            <p:nvPr/>
          </p:nvSpPr>
          <p:spPr>
            <a:xfrm>
              <a:off x="5641349" y="3371192"/>
              <a:ext cx="1995872" cy="418278"/>
            </a:xfrm>
            <a:prstGeom prst="rect">
              <a:avLst/>
            </a:prstGeom>
            <a:noFill/>
          </p:spPr>
          <p:txBody>
            <a:bodyPr wrap="none" rtlCol="0">
              <a:spAutoFit/>
            </a:bodyPr>
            <a:lstStyle/>
            <a:p>
              <a:pPr algn="ctr"/>
              <a:r>
                <a:rPr lang="en-US" sz="1050" dirty="0"/>
                <a:t>4X </a:t>
              </a:r>
              <a:r>
                <a:rPr lang="en-US" sz="1050" dirty="0" err="1"/>
                <a:t>Horiz</a:t>
              </a:r>
              <a:r>
                <a:rPr lang="en-US" sz="1050" dirty="0"/>
                <a:t> SC Kicker</a:t>
              </a:r>
            </a:p>
          </p:txBody>
        </p:sp>
        <p:sp>
          <p:nvSpPr>
            <p:cNvPr id="45" name="TextBox 44">
              <a:extLst>
                <a:ext uri="{FF2B5EF4-FFF2-40B4-BE49-F238E27FC236}">
                  <a16:creationId xmlns:a16="http://schemas.microsoft.com/office/drawing/2014/main" id="{0D208A29-32D2-FBE1-41E3-A69C9FC7C52D}"/>
                </a:ext>
              </a:extLst>
            </p:cNvPr>
            <p:cNvSpPr txBox="1"/>
            <p:nvPr/>
          </p:nvSpPr>
          <p:spPr>
            <a:xfrm>
              <a:off x="7224327" y="3595926"/>
              <a:ext cx="1809476" cy="405602"/>
            </a:xfrm>
            <a:prstGeom prst="rect">
              <a:avLst/>
            </a:prstGeom>
            <a:noFill/>
          </p:spPr>
          <p:txBody>
            <a:bodyPr wrap="none" rtlCol="0">
              <a:spAutoFit/>
            </a:bodyPr>
            <a:lstStyle/>
            <a:p>
              <a:pPr algn="ctr"/>
              <a:r>
                <a:rPr lang="en-US" sz="1000" dirty="0"/>
                <a:t>4X Vert SC Kicker</a:t>
              </a:r>
            </a:p>
          </p:txBody>
        </p:sp>
        <p:sp>
          <p:nvSpPr>
            <p:cNvPr id="46" name="TextBox 45">
              <a:extLst>
                <a:ext uri="{FF2B5EF4-FFF2-40B4-BE49-F238E27FC236}">
                  <a16:creationId xmlns:a16="http://schemas.microsoft.com/office/drawing/2014/main" id="{F009911C-55B2-46EC-10BE-42ACCFABDDE3}"/>
                </a:ext>
              </a:extLst>
            </p:cNvPr>
            <p:cNvSpPr txBox="1"/>
            <p:nvPr/>
          </p:nvSpPr>
          <p:spPr>
            <a:xfrm>
              <a:off x="8796894" y="3694315"/>
              <a:ext cx="1928961" cy="684454"/>
            </a:xfrm>
            <a:prstGeom prst="rect">
              <a:avLst/>
            </a:prstGeom>
            <a:noFill/>
          </p:spPr>
          <p:txBody>
            <a:bodyPr wrap="none" rtlCol="0">
              <a:spAutoFit/>
            </a:bodyPr>
            <a:lstStyle/>
            <a:p>
              <a:pPr algn="ctr"/>
              <a:r>
                <a:rPr lang="en-US" sz="1000" b="1" dirty="0">
                  <a:solidFill>
                    <a:srgbClr val="C00000"/>
                  </a:solidFill>
                </a:rPr>
                <a:t>HJet Tagger Drift /</a:t>
              </a:r>
            </a:p>
            <a:p>
              <a:pPr algn="ctr"/>
              <a:r>
                <a:rPr lang="en-US" sz="1000" b="1" dirty="0">
                  <a:solidFill>
                    <a:srgbClr val="C00000"/>
                  </a:solidFill>
                </a:rPr>
                <a:t>Tagging System</a:t>
              </a:r>
            </a:p>
          </p:txBody>
        </p:sp>
        <p:sp>
          <p:nvSpPr>
            <p:cNvPr id="47" name="TextBox 46">
              <a:extLst>
                <a:ext uri="{FF2B5EF4-FFF2-40B4-BE49-F238E27FC236}">
                  <a16:creationId xmlns:a16="http://schemas.microsoft.com/office/drawing/2014/main" id="{25E79B36-DA70-748F-442E-AB6A04F24620}"/>
                </a:ext>
              </a:extLst>
            </p:cNvPr>
            <p:cNvSpPr txBox="1"/>
            <p:nvPr/>
          </p:nvSpPr>
          <p:spPr>
            <a:xfrm>
              <a:off x="11277227" y="4042797"/>
              <a:ext cx="528600" cy="405602"/>
            </a:xfrm>
            <a:prstGeom prst="rect">
              <a:avLst/>
            </a:prstGeom>
            <a:noFill/>
          </p:spPr>
          <p:txBody>
            <a:bodyPr wrap="none" rtlCol="0">
              <a:spAutoFit/>
            </a:bodyPr>
            <a:lstStyle/>
            <a:p>
              <a:pPr algn="ctr"/>
              <a:r>
                <a:rPr lang="en-US" sz="1000" dirty="0"/>
                <a:t>Q4</a:t>
              </a:r>
              <a:endParaRPr lang="en-US" sz="1200" dirty="0"/>
            </a:p>
          </p:txBody>
        </p:sp>
        <p:sp>
          <p:nvSpPr>
            <p:cNvPr id="48" name="TextBox 47">
              <a:extLst>
                <a:ext uri="{FF2B5EF4-FFF2-40B4-BE49-F238E27FC236}">
                  <a16:creationId xmlns:a16="http://schemas.microsoft.com/office/drawing/2014/main" id="{2A790C51-EEC6-C1DA-20F7-1E13B4FA298C}"/>
                </a:ext>
              </a:extLst>
            </p:cNvPr>
            <p:cNvSpPr txBox="1"/>
            <p:nvPr/>
          </p:nvSpPr>
          <p:spPr>
            <a:xfrm>
              <a:off x="10307217" y="4188967"/>
              <a:ext cx="1087789" cy="405602"/>
            </a:xfrm>
            <a:prstGeom prst="rect">
              <a:avLst/>
            </a:prstGeom>
            <a:noFill/>
          </p:spPr>
          <p:txBody>
            <a:bodyPr wrap="none" rtlCol="0">
              <a:spAutoFit/>
            </a:bodyPr>
            <a:lstStyle/>
            <a:p>
              <a:pPr algn="ctr"/>
              <a:r>
                <a:rPr lang="en-US" sz="1000" dirty="0"/>
                <a:t>Ion Pump</a:t>
              </a:r>
            </a:p>
          </p:txBody>
        </p:sp>
        <p:cxnSp>
          <p:nvCxnSpPr>
            <p:cNvPr id="49" name="Straight Arrow Connector 48">
              <a:extLst>
                <a:ext uri="{FF2B5EF4-FFF2-40B4-BE49-F238E27FC236}">
                  <a16:creationId xmlns:a16="http://schemas.microsoft.com/office/drawing/2014/main" id="{804BD865-F6E0-E804-A94D-EF537A1B9906}"/>
                </a:ext>
              </a:extLst>
            </p:cNvPr>
            <p:cNvCxnSpPr>
              <a:cxnSpLocks/>
              <a:stCxn id="39" idx="2"/>
            </p:cNvCxnSpPr>
            <p:nvPr/>
          </p:nvCxnSpPr>
          <p:spPr>
            <a:xfrm flipH="1">
              <a:off x="837181" y="2738962"/>
              <a:ext cx="230872" cy="68108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E68203EC-4207-12EC-4687-E8DFC14D95B3}"/>
                </a:ext>
              </a:extLst>
            </p:cNvPr>
            <p:cNvCxnSpPr>
              <a:cxnSpLocks/>
              <a:stCxn id="38" idx="2"/>
            </p:cNvCxnSpPr>
            <p:nvPr/>
          </p:nvCxnSpPr>
          <p:spPr>
            <a:xfrm flipH="1">
              <a:off x="1530588" y="3015961"/>
              <a:ext cx="286412" cy="6588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530F22B2-C639-878C-F309-A77D6E57DF2D}"/>
                </a:ext>
              </a:extLst>
            </p:cNvPr>
            <p:cNvCxnSpPr>
              <a:cxnSpLocks/>
              <a:stCxn id="40" idx="2"/>
            </p:cNvCxnSpPr>
            <p:nvPr/>
          </p:nvCxnSpPr>
          <p:spPr>
            <a:xfrm flipH="1">
              <a:off x="2338347" y="2977772"/>
              <a:ext cx="226686" cy="39404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1A089309-E4AA-58F5-8F50-75241D674BCB}"/>
                </a:ext>
              </a:extLst>
            </p:cNvPr>
            <p:cNvCxnSpPr>
              <a:cxnSpLocks/>
              <a:stCxn id="41" idx="2"/>
            </p:cNvCxnSpPr>
            <p:nvPr/>
          </p:nvCxnSpPr>
          <p:spPr>
            <a:xfrm flipH="1">
              <a:off x="2972844" y="3112613"/>
              <a:ext cx="366345" cy="3682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274C90EC-8582-C47E-83B2-CB6789AD6930}"/>
                </a:ext>
              </a:extLst>
            </p:cNvPr>
            <p:cNvCxnSpPr>
              <a:cxnSpLocks/>
              <a:stCxn id="42" idx="2"/>
            </p:cNvCxnSpPr>
            <p:nvPr/>
          </p:nvCxnSpPr>
          <p:spPr>
            <a:xfrm flipH="1">
              <a:off x="4207968" y="3536249"/>
              <a:ext cx="149918" cy="4550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6F8C10E-EE0C-6549-2960-C5784BC41FD4}"/>
                </a:ext>
              </a:extLst>
            </p:cNvPr>
            <p:cNvCxnSpPr>
              <a:cxnSpLocks/>
              <a:stCxn id="43" idx="2"/>
            </p:cNvCxnSpPr>
            <p:nvPr/>
          </p:nvCxnSpPr>
          <p:spPr>
            <a:xfrm flipH="1">
              <a:off x="5558210" y="3306721"/>
              <a:ext cx="202347" cy="8388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E9DF29A-EBBA-367D-1069-A28B001FE4B0}"/>
                </a:ext>
              </a:extLst>
            </p:cNvPr>
            <p:cNvCxnSpPr>
              <a:cxnSpLocks/>
              <a:stCxn id="44" idx="2"/>
            </p:cNvCxnSpPr>
            <p:nvPr/>
          </p:nvCxnSpPr>
          <p:spPr>
            <a:xfrm flipH="1">
              <a:off x="6331820" y="3789470"/>
              <a:ext cx="307465" cy="5523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FE2C3721-E231-C7D0-C612-D959AAEAE5FA}"/>
                </a:ext>
              </a:extLst>
            </p:cNvPr>
            <p:cNvCxnSpPr>
              <a:cxnSpLocks/>
              <a:stCxn id="45" idx="2"/>
            </p:cNvCxnSpPr>
            <p:nvPr/>
          </p:nvCxnSpPr>
          <p:spPr>
            <a:xfrm flipH="1">
              <a:off x="7821603" y="4001528"/>
              <a:ext cx="307462" cy="52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AB96745E-3671-F1A1-DD11-8A1929A20F0C}"/>
                </a:ext>
              </a:extLst>
            </p:cNvPr>
            <p:cNvCxnSpPr>
              <a:cxnSpLocks/>
              <a:stCxn id="46" idx="2"/>
            </p:cNvCxnSpPr>
            <p:nvPr/>
          </p:nvCxnSpPr>
          <p:spPr>
            <a:xfrm flipH="1">
              <a:off x="9678167" y="4378769"/>
              <a:ext cx="83208" cy="4613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BD2B5F52-E58D-A353-6F22-018FB39F4014}"/>
                </a:ext>
              </a:extLst>
            </p:cNvPr>
            <p:cNvCxnSpPr>
              <a:cxnSpLocks/>
              <a:stCxn id="48" idx="2"/>
            </p:cNvCxnSpPr>
            <p:nvPr/>
          </p:nvCxnSpPr>
          <p:spPr>
            <a:xfrm>
              <a:off x="10851112" y="4594569"/>
              <a:ext cx="174786" cy="5369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4585323C-FBEE-3DC3-A9C5-09853E3C9CC9}"/>
                </a:ext>
              </a:extLst>
            </p:cNvPr>
            <p:cNvCxnSpPr>
              <a:cxnSpLocks/>
              <a:stCxn id="47" idx="2"/>
            </p:cNvCxnSpPr>
            <p:nvPr/>
          </p:nvCxnSpPr>
          <p:spPr>
            <a:xfrm>
              <a:off x="11541526" y="4448399"/>
              <a:ext cx="44645" cy="65479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7898E763-20BA-EF29-4AE1-6E5787A32F5C}"/>
                </a:ext>
              </a:extLst>
            </p:cNvPr>
            <p:cNvCxnSpPr>
              <a:cxnSpLocks/>
            </p:cNvCxnSpPr>
            <p:nvPr/>
          </p:nvCxnSpPr>
          <p:spPr>
            <a:xfrm>
              <a:off x="1620201" y="4698835"/>
              <a:ext cx="808641" cy="123501"/>
            </a:xfrm>
            <a:prstGeom prst="straightConnector1">
              <a:avLst/>
            </a:prstGeom>
            <a:ln w="76200">
              <a:solidFill>
                <a:srgbClr val="FFFF00"/>
              </a:solidFill>
              <a:tailEnd type="triangle"/>
            </a:ln>
            <a:effectLst>
              <a:glow rad="635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83CC3834-8D97-B1F7-7010-DF68EE0DBA60}"/>
                </a:ext>
              </a:extLst>
            </p:cNvPr>
            <p:cNvSpPr txBox="1"/>
            <p:nvPr/>
          </p:nvSpPr>
          <p:spPr>
            <a:xfrm>
              <a:off x="1679846" y="4773586"/>
              <a:ext cx="513768" cy="329610"/>
            </a:xfrm>
            <a:prstGeom prst="rect">
              <a:avLst/>
            </a:prstGeom>
            <a:noFill/>
          </p:spPr>
          <p:txBody>
            <a:bodyPr wrap="none" rtlCol="0">
              <a:spAutoFit/>
            </a:bodyPr>
            <a:lstStyle/>
            <a:p>
              <a:pPr algn="ctr"/>
              <a:r>
                <a:rPr lang="en-US" sz="1600" b="1" dirty="0"/>
                <a:t>HSR</a:t>
              </a:r>
            </a:p>
          </p:txBody>
        </p:sp>
        <p:cxnSp>
          <p:nvCxnSpPr>
            <p:cNvPr id="63" name="Straight Arrow Connector 62">
              <a:extLst>
                <a:ext uri="{FF2B5EF4-FFF2-40B4-BE49-F238E27FC236}">
                  <a16:creationId xmlns:a16="http://schemas.microsoft.com/office/drawing/2014/main" id="{B4016DB7-375D-BCE8-B546-08744F1065CF}"/>
                </a:ext>
              </a:extLst>
            </p:cNvPr>
            <p:cNvCxnSpPr>
              <a:cxnSpLocks/>
            </p:cNvCxnSpPr>
            <p:nvPr/>
          </p:nvCxnSpPr>
          <p:spPr>
            <a:xfrm>
              <a:off x="8179003" y="5471789"/>
              <a:ext cx="2579375" cy="382805"/>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FB09489-217F-6163-D1CD-B811D376A4D8}"/>
                </a:ext>
              </a:extLst>
            </p:cNvPr>
            <p:cNvCxnSpPr>
              <a:cxnSpLocks/>
            </p:cNvCxnSpPr>
            <p:nvPr/>
          </p:nvCxnSpPr>
          <p:spPr>
            <a:xfrm flipH="1">
              <a:off x="8203393" y="4853004"/>
              <a:ext cx="204756" cy="56631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4885E97-9ECB-C64F-8B9E-1D56B85162FB}"/>
                </a:ext>
              </a:extLst>
            </p:cNvPr>
            <p:cNvCxnSpPr>
              <a:cxnSpLocks/>
            </p:cNvCxnSpPr>
            <p:nvPr/>
          </p:nvCxnSpPr>
          <p:spPr>
            <a:xfrm flipH="1">
              <a:off x="10752195" y="5238946"/>
              <a:ext cx="204756" cy="56631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2" name="Group 71">
            <a:extLst>
              <a:ext uri="{FF2B5EF4-FFF2-40B4-BE49-F238E27FC236}">
                <a16:creationId xmlns:a16="http://schemas.microsoft.com/office/drawing/2014/main" id="{45E5F216-8E6F-D130-539A-5CD53CB5C5AF}"/>
              </a:ext>
            </a:extLst>
          </p:cNvPr>
          <p:cNvGrpSpPr/>
          <p:nvPr/>
        </p:nvGrpSpPr>
        <p:grpSpPr>
          <a:xfrm>
            <a:off x="6720291" y="934221"/>
            <a:ext cx="5409461" cy="3864648"/>
            <a:chOff x="6194589" y="989306"/>
            <a:chExt cx="5009745" cy="3451744"/>
          </a:xfrm>
        </p:grpSpPr>
        <p:pic>
          <p:nvPicPr>
            <p:cNvPr id="5" name="Picture 4" descr="Diagram&#10;&#10;AI-generated content may be incorrect.">
              <a:extLst>
                <a:ext uri="{FF2B5EF4-FFF2-40B4-BE49-F238E27FC236}">
                  <a16:creationId xmlns:a16="http://schemas.microsoft.com/office/drawing/2014/main" id="{F633E916-7BFE-EA97-EFDE-A6EBDC30CB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4589" y="989306"/>
              <a:ext cx="5009745" cy="3316145"/>
            </a:xfrm>
            <a:prstGeom prst="rect">
              <a:avLst/>
            </a:prstGeom>
          </p:spPr>
        </p:pic>
        <p:sp>
          <p:nvSpPr>
            <p:cNvPr id="68" name="TextBox 67">
              <a:extLst>
                <a:ext uri="{FF2B5EF4-FFF2-40B4-BE49-F238E27FC236}">
                  <a16:creationId xmlns:a16="http://schemas.microsoft.com/office/drawing/2014/main" id="{83C645FC-2A56-9A1F-D61F-EFFABFE30D6B}"/>
                </a:ext>
              </a:extLst>
            </p:cNvPr>
            <p:cNvSpPr txBox="1"/>
            <p:nvPr/>
          </p:nvSpPr>
          <p:spPr>
            <a:xfrm>
              <a:off x="8788390" y="1861847"/>
              <a:ext cx="1913260" cy="461665"/>
            </a:xfrm>
            <a:prstGeom prst="rect">
              <a:avLst/>
            </a:prstGeom>
            <a:solidFill>
              <a:schemeClr val="bg1"/>
            </a:solidFill>
          </p:spPr>
          <p:txBody>
            <a:bodyPr wrap="square" rtlCol="0">
              <a:spAutoFit/>
            </a:bodyPr>
            <a:lstStyle/>
            <a:p>
              <a:pPr algn="ctr"/>
              <a:r>
                <a:rPr lang="en-US" sz="1200" dirty="0">
                  <a:solidFill>
                    <a:srgbClr val="0432FF"/>
                  </a:solidFill>
                </a:rPr>
                <a:t>Counting house and polarimeter infrastructure </a:t>
              </a:r>
            </a:p>
          </p:txBody>
        </p:sp>
        <p:sp>
          <p:nvSpPr>
            <p:cNvPr id="69" name="TextBox 68">
              <a:extLst>
                <a:ext uri="{FF2B5EF4-FFF2-40B4-BE49-F238E27FC236}">
                  <a16:creationId xmlns:a16="http://schemas.microsoft.com/office/drawing/2014/main" id="{7F769191-9C15-6472-06D7-206D77688869}"/>
                </a:ext>
              </a:extLst>
            </p:cNvPr>
            <p:cNvSpPr txBox="1"/>
            <p:nvPr/>
          </p:nvSpPr>
          <p:spPr>
            <a:xfrm>
              <a:off x="9207883" y="3979385"/>
              <a:ext cx="1913260" cy="461665"/>
            </a:xfrm>
            <a:prstGeom prst="rect">
              <a:avLst/>
            </a:prstGeom>
            <a:solidFill>
              <a:schemeClr val="bg1"/>
            </a:solidFill>
          </p:spPr>
          <p:txBody>
            <a:bodyPr wrap="square" rtlCol="0">
              <a:spAutoFit/>
            </a:bodyPr>
            <a:lstStyle/>
            <a:p>
              <a:pPr algn="ctr"/>
              <a:r>
                <a:rPr lang="en-US" sz="1200" dirty="0">
                  <a:solidFill>
                    <a:srgbClr val="0432FF"/>
                  </a:solidFill>
                </a:rPr>
                <a:t>IP4 polarimeter </a:t>
              </a:r>
            </a:p>
            <a:p>
              <a:pPr algn="ctr"/>
              <a:r>
                <a:rPr lang="en-US" sz="1200" dirty="0">
                  <a:solidFill>
                    <a:srgbClr val="0432FF"/>
                  </a:solidFill>
                </a:rPr>
                <a:t>section</a:t>
              </a:r>
            </a:p>
          </p:txBody>
        </p:sp>
      </p:grpSp>
      <p:sp>
        <p:nvSpPr>
          <p:cNvPr id="71" name="TextBox 70">
            <a:extLst>
              <a:ext uri="{FF2B5EF4-FFF2-40B4-BE49-F238E27FC236}">
                <a16:creationId xmlns:a16="http://schemas.microsoft.com/office/drawing/2014/main" id="{DE9E2C2B-8005-85C6-E982-2CDC4215E21B}"/>
              </a:ext>
            </a:extLst>
          </p:cNvPr>
          <p:cNvSpPr txBox="1"/>
          <p:nvPr/>
        </p:nvSpPr>
        <p:spPr>
          <a:xfrm>
            <a:off x="482495" y="837486"/>
            <a:ext cx="7250236" cy="2381165"/>
          </a:xfrm>
          <a:prstGeom prst="rect">
            <a:avLst/>
          </a:prstGeom>
          <a:noFill/>
        </p:spPr>
        <p:txBody>
          <a:bodyPr wrap="square">
            <a:spAutoFit/>
          </a:bodyPr>
          <a:lstStyle/>
          <a:p>
            <a:pPr marL="342900" indent="-342900">
              <a:spcBef>
                <a:spcPts val="600"/>
              </a:spcBef>
              <a:spcAft>
                <a:spcPts val="300"/>
              </a:spcAft>
              <a:tabLst>
                <a:tab pos="342900" algn="l"/>
              </a:tabLst>
            </a:pPr>
            <a:r>
              <a:rPr lang="en-US" sz="1600" b="1" dirty="0">
                <a:latin typeface="Arial" panose="020B0604020202020204" pitchFamily="34" charset="0"/>
                <a:ea typeface="Times"/>
                <a:cs typeface="Arial" panose="020B0604020202020204" pitchFamily="34" charset="0"/>
              </a:rPr>
              <a:t>Hadron Polarimetry Systems (6.03.01.11.02) to Detector System (6.03.01)</a:t>
            </a:r>
          </a:p>
          <a:p>
            <a:pPr marL="342900" indent="-342900">
              <a:buNone/>
              <a:tabLst>
                <a:tab pos="342900" algn="l"/>
              </a:tabLst>
            </a:pPr>
            <a:r>
              <a:rPr lang="en-US" sz="1600" b="1" dirty="0">
                <a:effectLst/>
                <a:latin typeface="Arial" panose="020B0604020202020204" pitchFamily="34" charset="0"/>
                <a:ea typeface="SimSun" panose="02010600030101010101" pitchFamily="2" charset="-122"/>
                <a:cs typeface="Arial" panose="020B0604020202020204" pitchFamily="34" charset="0"/>
              </a:rPr>
              <a:t>Overview interface relationships</a:t>
            </a:r>
          </a:p>
          <a:p>
            <a:pPr algn="just">
              <a:lnSpc>
                <a:spcPct val="110000"/>
              </a:lnSpc>
              <a:spcAft>
                <a:spcPts val="600"/>
              </a:spcAft>
            </a:pPr>
            <a:r>
              <a:rPr lang="en-US" sz="1600" dirty="0">
                <a:solidFill>
                  <a:srgbClr val="000000"/>
                </a:solidFill>
                <a:latin typeface="Arial" panose="020B0604020202020204" pitchFamily="34" charset="0"/>
                <a:ea typeface="Calibri" panose="020F0502020204030204" pitchFamily="34" charset="0"/>
                <a:cs typeface="Arial" panose="020B0604020202020204" pitchFamily="34" charset="0"/>
              </a:rPr>
              <a:t>S</a:t>
            </a:r>
            <a:r>
              <a:rPr lang="en-US" sz="1600" dirty="0">
                <a:solidFill>
                  <a:srgbClr val="000000"/>
                </a:solidFill>
                <a:effectLst/>
                <a:latin typeface="Arial" panose="020B0604020202020204" pitchFamily="34" charset="0"/>
                <a:ea typeface="Calibri" panose="020F0502020204030204" pitchFamily="34" charset="0"/>
                <a:cs typeface="Arial" panose="020B0604020202020204" pitchFamily="34" charset="0"/>
              </a:rPr>
              <a:t>ub-systems within Detector System with interfaces to the Hadron Polarimetry Systems.</a:t>
            </a:r>
          </a:p>
          <a:p>
            <a:pPr marL="228600" indent="-228600" algn="just">
              <a:lnSpc>
                <a:spcPct val="110000"/>
              </a:lnSpc>
              <a:spcAft>
                <a:spcPts val="200"/>
              </a:spcAft>
              <a:buFont typeface="Wingdings" pitchFamily="2" charset="2"/>
              <a:buChar char=""/>
              <a:tabLst>
                <a:tab pos="971550" algn="l"/>
              </a:tabLst>
            </a:pPr>
            <a:r>
              <a:rPr lang="en-US" sz="16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DAQ and Computing Systems (DET-DS-COMP): </a:t>
            </a:r>
          </a:p>
          <a:p>
            <a:pPr marL="685800" lvl="1" indent="-228600" algn="just">
              <a:lnSpc>
                <a:spcPct val="110000"/>
              </a:lnSpc>
              <a:spcAft>
                <a:spcPts val="200"/>
              </a:spcAft>
              <a:buFont typeface="Wingdings" pitchFamily="2" charset="2"/>
              <a:buChar char=""/>
              <a:tabLst>
                <a:tab pos="971550" algn="l"/>
              </a:tabLst>
            </a:pPr>
            <a:r>
              <a:rPr lang="en-US" sz="1600" dirty="0">
                <a:solidFill>
                  <a:srgbClr val="000000"/>
                </a:solidFill>
                <a:latin typeface="Arial" panose="020B0604020202020204" pitchFamily="34" charset="0"/>
                <a:ea typeface="Calibri" panose="020F0502020204030204" pitchFamily="34" charset="0"/>
                <a:cs typeface="Arial" panose="020B0604020202020204" pitchFamily="34" charset="0"/>
              </a:rPr>
              <a:t>I</a:t>
            </a:r>
            <a:r>
              <a:rPr lang="en-US" sz="1600" dirty="0">
                <a:solidFill>
                  <a:srgbClr val="000000"/>
                </a:solidFill>
                <a:effectLst/>
                <a:latin typeface="Arial" panose="020B0604020202020204" pitchFamily="34" charset="0"/>
                <a:ea typeface="Calibri" panose="020F0502020204030204" pitchFamily="34" charset="0"/>
                <a:cs typeface="Arial" panose="020B0604020202020204" pitchFamily="34" charset="0"/>
              </a:rPr>
              <a:t>nterface relationship between ICD reference </a:t>
            </a:r>
            <a:r>
              <a:rPr lang="en-US" sz="1600" dirty="0">
                <a:solidFill>
                  <a:srgbClr val="000000"/>
                </a:solidFill>
                <a:latin typeface="Arial" panose="020B0604020202020204" pitchFamily="34" charset="0"/>
                <a:ea typeface="Calibri" panose="020F0502020204030204" pitchFamily="34" charset="0"/>
                <a:cs typeface="Arial" panose="020B0604020202020204" pitchFamily="34" charset="0"/>
              </a:rPr>
              <a:t>&amp; </a:t>
            </a:r>
            <a:r>
              <a:rPr lang="en-US" sz="1600" dirty="0">
                <a:solidFill>
                  <a:srgbClr val="000000"/>
                </a:solidFill>
                <a:effectLst/>
                <a:latin typeface="Arial" panose="020B0604020202020204" pitchFamily="34" charset="0"/>
                <a:ea typeface="Calibri" panose="020F0502020204030204" pitchFamily="34" charset="0"/>
                <a:cs typeface="Arial" panose="020B0604020202020204" pitchFamily="34" charset="0"/>
              </a:rPr>
              <a:t>sub-system</a:t>
            </a:r>
          </a:p>
          <a:p>
            <a:pPr marL="228600" indent="-228600" algn="just">
              <a:lnSpc>
                <a:spcPct val="110000"/>
              </a:lnSpc>
              <a:spcAft>
                <a:spcPts val="200"/>
              </a:spcAft>
              <a:buFont typeface="Wingdings" pitchFamily="2" charset="2"/>
              <a:buChar char=""/>
              <a:tabLst>
                <a:tab pos="971550" algn="l"/>
              </a:tabLst>
            </a:pPr>
            <a:r>
              <a:rPr lang="en-US" sz="16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Electronic Systems (DET-DS-ELEC): </a:t>
            </a:r>
            <a:endParaRPr lang="en-US" sz="1600" b="1" dirty="0">
              <a:solidFill>
                <a:srgbClr val="000000"/>
              </a:solidFill>
              <a:latin typeface="Arial" panose="020B0604020202020204" pitchFamily="34" charset="0"/>
              <a:ea typeface="Calibri" panose="020F0502020204030204" pitchFamily="34" charset="0"/>
              <a:cs typeface="Arial" panose="020B0604020202020204" pitchFamily="34" charset="0"/>
            </a:endParaRPr>
          </a:p>
          <a:p>
            <a:pPr marL="685800" lvl="1" indent="-228600" algn="just">
              <a:lnSpc>
                <a:spcPct val="110000"/>
              </a:lnSpc>
              <a:spcAft>
                <a:spcPts val="200"/>
              </a:spcAft>
              <a:buFont typeface="Wingdings" pitchFamily="2" charset="2"/>
              <a:buChar char=""/>
              <a:tabLst>
                <a:tab pos="971550" algn="l"/>
              </a:tabLst>
            </a:pPr>
            <a:r>
              <a:rPr lang="en-US" sz="1600" dirty="0">
                <a:solidFill>
                  <a:srgbClr val="000000"/>
                </a:solidFill>
                <a:latin typeface="Arial" panose="020B0604020202020204" pitchFamily="34" charset="0"/>
                <a:ea typeface="Calibri" panose="020F0502020204030204" pitchFamily="34" charset="0"/>
                <a:cs typeface="Arial" panose="020B0604020202020204" pitchFamily="34" charset="0"/>
              </a:rPr>
              <a:t>Interface relationship between ICD reference &amp; sub-system</a:t>
            </a:r>
          </a:p>
        </p:txBody>
      </p:sp>
    </p:spTree>
    <p:extLst>
      <p:ext uri="{BB962C8B-B14F-4D97-AF65-F5344CB8AC3E}">
        <p14:creationId xmlns:p14="http://schemas.microsoft.com/office/powerpoint/2010/main" val="878990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EB0C7D-A589-70FB-13C5-1E1F7A203376}"/>
              </a:ext>
            </a:extLst>
          </p:cNvPr>
          <p:cNvSpPr>
            <a:spLocks noGrp="1"/>
          </p:cNvSpPr>
          <p:nvPr>
            <p:ph type="sldNum" sz="quarter" idx="4"/>
          </p:nvPr>
        </p:nvSpPr>
        <p:spPr/>
        <p:txBody>
          <a:bodyPr/>
          <a:lstStyle/>
          <a:p>
            <a:fld id="{933A556B-7C63-244D-9B7C-B0EA8042B330}" type="slidenum">
              <a:rPr lang="en-US" smtClean="0"/>
              <a:pPr/>
              <a:t>19</a:t>
            </a:fld>
            <a:endParaRPr lang="en-US"/>
          </a:p>
        </p:txBody>
      </p:sp>
      <p:sp>
        <p:nvSpPr>
          <p:cNvPr id="3" name="Title 2">
            <a:extLst>
              <a:ext uri="{FF2B5EF4-FFF2-40B4-BE49-F238E27FC236}">
                <a16:creationId xmlns:a16="http://schemas.microsoft.com/office/drawing/2014/main" id="{64BB2C5D-6032-E130-ED27-630BFDAAD7DC}"/>
              </a:ext>
            </a:extLst>
          </p:cNvPr>
          <p:cNvSpPr>
            <a:spLocks noGrp="1"/>
          </p:cNvSpPr>
          <p:nvPr>
            <p:ph type="title"/>
          </p:nvPr>
        </p:nvSpPr>
        <p:spPr/>
        <p:txBody>
          <a:bodyPr>
            <a:normAutofit/>
          </a:bodyPr>
          <a:lstStyle/>
          <a:p>
            <a:r>
              <a:rPr lang="en-US" dirty="0"/>
              <a:t>Example: Interface for  electron polarimeters</a:t>
            </a:r>
            <a:endParaRPr lang="en-US" dirty="0">
              <a:solidFill>
                <a:srgbClr val="FF0000"/>
              </a:solidFill>
            </a:endParaRPr>
          </a:p>
        </p:txBody>
      </p:sp>
      <p:sp>
        <p:nvSpPr>
          <p:cNvPr id="4" name="TextBox 3">
            <a:extLst>
              <a:ext uri="{FF2B5EF4-FFF2-40B4-BE49-F238E27FC236}">
                <a16:creationId xmlns:a16="http://schemas.microsoft.com/office/drawing/2014/main" id="{228A32F0-045A-EC4F-CD36-E567190E1CA5}"/>
              </a:ext>
            </a:extLst>
          </p:cNvPr>
          <p:cNvSpPr txBox="1"/>
          <p:nvPr/>
        </p:nvSpPr>
        <p:spPr>
          <a:xfrm>
            <a:off x="358210" y="878481"/>
            <a:ext cx="8692102" cy="2111732"/>
          </a:xfrm>
          <a:prstGeom prst="rect">
            <a:avLst/>
          </a:prstGeom>
          <a:noFill/>
        </p:spPr>
        <p:txBody>
          <a:bodyPr wrap="square">
            <a:spAutoFit/>
          </a:bodyPr>
          <a:lstStyle/>
          <a:p>
            <a:pPr marL="342900" indent="-342900">
              <a:spcBef>
                <a:spcPts val="600"/>
              </a:spcBef>
              <a:spcAft>
                <a:spcPts val="300"/>
              </a:spcAft>
              <a:tabLst>
                <a:tab pos="342900" algn="l"/>
              </a:tabLst>
            </a:pPr>
            <a:r>
              <a:rPr lang="en-US" sz="1600" b="1" dirty="0">
                <a:latin typeface="Arial" panose="020B0604020202020204" pitchFamily="34" charset="0"/>
                <a:ea typeface="Times"/>
                <a:cs typeface="Arial" panose="020B0604020202020204" pitchFamily="34" charset="0"/>
              </a:rPr>
              <a:t>Electron Polarimetry Systems (6.03.01.11.01) to Detector System (6.03.01)</a:t>
            </a:r>
          </a:p>
          <a:p>
            <a:pPr marL="342900" indent="-342900">
              <a:buNone/>
              <a:tabLst>
                <a:tab pos="342900" algn="l"/>
              </a:tabLst>
            </a:pPr>
            <a:r>
              <a:rPr lang="en-US" sz="1600" b="1" dirty="0">
                <a:effectLst/>
                <a:latin typeface="Arial" panose="020B0604020202020204" pitchFamily="34" charset="0"/>
                <a:ea typeface="SimSun" panose="02010600030101010101" pitchFamily="2" charset="-122"/>
                <a:cs typeface="Arial" panose="020B0604020202020204" pitchFamily="34" charset="0"/>
              </a:rPr>
              <a:t>Overview interface relationships</a:t>
            </a:r>
          </a:p>
          <a:p>
            <a:pPr algn="just">
              <a:lnSpc>
                <a:spcPct val="110000"/>
              </a:lnSpc>
              <a:spcAft>
                <a:spcPts val="600"/>
              </a:spcAft>
            </a:pPr>
            <a:r>
              <a:rPr lang="en-US" sz="1600" dirty="0">
                <a:solidFill>
                  <a:srgbClr val="000000"/>
                </a:solidFill>
                <a:latin typeface="Arial" panose="020B0604020202020204" pitchFamily="34" charset="0"/>
                <a:ea typeface="Calibri" panose="020F0502020204030204" pitchFamily="34" charset="0"/>
                <a:cs typeface="Arial" panose="020B0604020202020204" pitchFamily="34" charset="0"/>
              </a:rPr>
              <a:t>S</a:t>
            </a:r>
            <a:r>
              <a:rPr lang="en-US" sz="1600" dirty="0">
                <a:solidFill>
                  <a:srgbClr val="000000"/>
                </a:solidFill>
                <a:effectLst/>
                <a:latin typeface="Arial" panose="020B0604020202020204" pitchFamily="34" charset="0"/>
                <a:ea typeface="Calibri" panose="020F0502020204030204" pitchFamily="34" charset="0"/>
                <a:cs typeface="Arial" panose="020B0604020202020204" pitchFamily="34" charset="0"/>
              </a:rPr>
              <a:t>ub-systems within Detector System with interfaces to the </a:t>
            </a:r>
            <a:r>
              <a:rPr lang="en-US" sz="1600" dirty="0">
                <a:solidFill>
                  <a:srgbClr val="000000"/>
                </a:solidFill>
                <a:latin typeface="Arial" panose="020B0604020202020204" pitchFamily="34" charset="0"/>
                <a:ea typeface="Calibri" panose="020F0502020204030204" pitchFamily="34" charset="0"/>
                <a:cs typeface="Arial" panose="020B0604020202020204" pitchFamily="34" charset="0"/>
              </a:rPr>
              <a:t>Electron</a:t>
            </a:r>
            <a:r>
              <a:rPr lang="en-US" sz="1600" dirty="0">
                <a:solidFill>
                  <a:srgbClr val="000000"/>
                </a:solidFill>
                <a:effectLst/>
                <a:latin typeface="Arial" panose="020B0604020202020204" pitchFamily="34" charset="0"/>
                <a:ea typeface="Calibri" panose="020F0502020204030204" pitchFamily="34" charset="0"/>
                <a:cs typeface="Arial" panose="020B0604020202020204" pitchFamily="34" charset="0"/>
              </a:rPr>
              <a:t> Polarimetry Systems.</a:t>
            </a:r>
          </a:p>
          <a:p>
            <a:pPr marL="228600" indent="-228600" algn="just">
              <a:lnSpc>
                <a:spcPct val="110000"/>
              </a:lnSpc>
              <a:spcAft>
                <a:spcPts val="200"/>
              </a:spcAft>
              <a:buFont typeface="Wingdings" pitchFamily="2" charset="2"/>
              <a:buChar char=""/>
              <a:tabLst>
                <a:tab pos="971550" algn="l"/>
              </a:tabLst>
            </a:pPr>
            <a:r>
              <a:rPr lang="en-US" sz="16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DAQ and Computing Systems (DET-DS-COMP): </a:t>
            </a:r>
          </a:p>
          <a:p>
            <a:pPr marL="685800" lvl="1" indent="-228600" algn="just">
              <a:lnSpc>
                <a:spcPct val="110000"/>
              </a:lnSpc>
              <a:spcAft>
                <a:spcPts val="200"/>
              </a:spcAft>
              <a:buFont typeface="Wingdings" pitchFamily="2" charset="2"/>
              <a:buChar char=""/>
              <a:tabLst>
                <a:tab pos="971550" algn="l"/>
              </a:tabLst>
            </a:pPr>
            <a:r>
              <a:rPr lang="en-US" sz="1600" dirty="0">
                <a:solidFill>
                  <a:srgbClr val="000000"/>
                </a:solidFill>
                <a:latin typeface="Arial" panose="020B0604020202020204" pitchFamily="34" charset="0"/>
                <a:ea typeface="Calibri" panose="020F0502020204030204" pitchFamily="34" charset="0"/>
                <a:cs typeface="Arial" panose="020B0604020202020204" pitchFamily="34" charset="0"/>
              </a:rPr>
              <a:t>I</a:t>
            </a:r>
            <a:r>
              <a:rPr lang="en-US" sz="1600" dirty="0">
                <a:solidFill>
                  <a:srgbClr val="000000"/>
                </a:solidFill>
                <a:effectLst/>
                <a:latin typeface="Arial" panose="020B0604020202020204" pitchFamily="34" charset="0"/>
                <a:ea typeface="Calibri" panose="020F0502020204030204" pitchFamily="34" charset="0"/>
                <a:cs typeface="Arial" panose="020B0604020202020204" pitchFamily="34" charset="0"/>
              </a:rPr>
              <a:t>nterface relationship between ICD reference </a:t>
            </a:r>
            <a:r>
              <a:rPr lang="en-US" sz="1600" dirty="0">
                <a:solidFill>
                  <a:srgbClr val="000000"/>
                </a:solidFill>
                <a:latin typeface="Arial" panose="020B0604020202020204" pitchFamily="34" charset="0"/>
                <a:ea typeface="Calibri" panose="020F0502020204030204" pitchFamily="34" charset="0"/>
                <a:cs typeface="Arial" panose="020B0604020202020204" pitchFamily="34" charset="0"/>
              </a:rPr>
              <a:t>&amp; </a:t>
            </a:r>
            <a:r>
              <a:rPr lang="en-US" sz="1600" dirty="0">
                <a:solidFill>
                  <a:srgbClr val="000000"/>
                </a:solidFill>
                <a:effectLst/>
                <a:latin typeface="Arial" panose="020B0604020202020204" pitchFamily="34" charset="0"/>
                <a:ea typeface="Calibri" panose="020F0502020204030204" pitchFamily="34" charset="0"/>
                <a:cs typeface="Arial" panose="020B0604020202020204" pitchFamily="34" charset="0"/>
              </a:rPr>
              <a:t>sub-system</a:t>
            </a:r>
          </a:p>
          <a:p>
            <a:pPr marL="228600" indent="-228600" algn="just">
              <a:lnSpc>
                <a:spcPct val="110000"/>
              </a:lnSpc>
              <a:spcAft>
                <a:spcPts val="200"/>
              </a:spcAft>
              <a:buFont typeface="Wingdings" pitchFamily="2" charset="2"/>
              <a:buChar char=""/>
              <a:tabLst>
                <a:tab pos="971550" algn="l"/>
              </a:tabLst>
            </a:pPr>
            <a:r>
              <a:rPr lang="en-US" sz="16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Electronic Systems (DET-DS-ELEC): </a:t>
            </a:r>
            <a:endParaRPr lang="en-US" sz="1600" b="1" dirty="0">
              <a:solidFill>
                <a:srgbClr val="000000"/>
              </a:solidFill>
              <a:latin typeface="Arial" panose="020B0604020202020204" pitchFamily="34" charset="0"/>
              <a:ea typeface="Calibri" panose="020F0502020204030204" pitchFamily="34" charset="0"/>
              <a:cs typeface="Arial" panose="020B0604020202020204" pitchFamily="34" charset="0"/>
            </a:endParaRPr>
          </a:p>
          <a:p>
            <a:pPr marL="685800" lvl="1" indent="-228600" algn="just">
              <a:lnSpc>
                <a:spcPct val="110000"/>
              </a:lnSpc>
              <a:spcAft>
                <a:spcPts val="200"/>
              </a:spcAft>
              <a:buFont typeface="Wingdings" pitchFamily="2" charset="2"/>
              <a:buChar char=""/>
              <a:tabLst>
                <a:tab pos="971550" algn="l"/>
              </a:tabLst>
            </a:pPr>
            <a:r>
              <a:rPr lang="en-US" sz="1600" dirty="0">
                <a:solidFill>
                  <a:srgbClr val="000000"/>
                </a:solidFill>
                <a:latin typeface="Arial" panose="020B0604020202020204" pitchFamily="34" charset="0"/>
                <a:ea typeface="Calibri" panose="020F0502020204030204" pitchFamily="34" charset="0"/>
                <a:cs typeface="Arial" panose="020B0604020202020204" pitchFamily="34" charset="0"/>
              </a:rPr>
              <a:t>Interface relationship between ICD reference &amp; sub-system</a:t>
            </a:r>
          </a:p>
        </p:txBody>
      </p:sp>
      <p:pic>
        <p:nvPicPr>
          <p:cNvPr id="5" name="Picture 4" descr="Graphical user interface&#10;&#10;Description automatically generated">
            <a:extLst>
              <a:ext uri="{FF2B5EF4-FFF2-40B4-BE49-F238E27FC236}">
                <a16:creationId xmlns:a16="http://schemas.microsoft.com/office/drawing/2014/main" id="{D6798C86-87DF-B021-B6CA-50E201E04F40}"/>
              </a:ext>
            </a:extLst>
          </p:cNvPr>
          <p:cNvPicPr>
            <a:picLocks noChangeAspect="1"/>
          </p:cNvPicPr>
          <p:nvPr/>
        </p:nvPicPr>
        <p:blipFill>
          <a:blip r:embed="rId2">
            <a:extLst>
              <a:ext uri="{28A0092B-C50C-407E-A947-70E740481C1C}">
                <a14:useLocalDpi xmlns:a14="http://schemas.microsoft.com/office/drawing/2010/main" val="0"/>
              </a:ext>
            </a:extLst>
          </a:blip>
          <a:srcRect t="41212" b="23940"/>
          <a:stretch/>
        </p:blipFill>
        <p:spPr>
          <a:xfrm>
            <a:off x="403282" y="2988843"/>
            <a:ext cx="11559222" cy="3112712"/>
          </a:xfrm>
          <a:prstGeom prst="rect">
            <a:avLst/>
          </a:prstGeom>
        </p:spPr>
      </p:pic>
      <p:cxnSp>
        <p:nvCxnSpPr>
          <p:cNvPr id="6" name="Straight Arrow Connector 5">
            <a:extLst>
              <a:ext uri="{FF2B5EF4-FFF2-40B4-BE49-F238E27FC236}">
                <a16:creationId xmlns:a16="http://schemas.microsoft.com/office/drawing/2014/main" id="{7CEFF566-305B-FE31-6347-289A9B26E05C}"/>
              </a:ext>
            </a:extLst>
          </p:cNvPr>
          <p:cNvCxnSpPr>
            <a:cxnSpLocks/>
          </p:cNvCxnSpPr>
          <p:nvPr/>
        </p:nvCxnSpPr>
        <p:spPr>
          <a:xfrm>
            <a:off x="6596824" y="3628397"/>
            <a:ext cx="44250" cy="726170"/>
          </a:xfrm>
          <a:prstGeom prst="straightConnector1">
            <a:avLst/>
          </a:prstGeom>
          <a:ln w="31750">
            <a:solidFill>
              <a:srgbClr val="0432FF"/>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AF506C5C-3E3C-1CEC-A4D2-A39337F7025A}"/>
              </a:ext>
            </a:extLst>
          </p:cNvPr>
          <p:cNvSpPr txBox="1"/>
          <p:nvPr/>
        </p:nvSpPr>
        <p:spPr>
          <a:xfrm>
            <a:off x="5815823" y="3043622"/>
            <a:ext cx="1355154" cy="584775"/>
          </a:xfrm>
          <a:prstGeom prst="rect">
            <a:avLst/>
          </a:prstGeom>
          <a:noFill/>
        </p:spPr>
        <p:txBody>
          <a:bodyPr wrap="square" rtlCol="0">
            <a:spAutoFit/>
          </a:bodyPr>
          <a:lstStyle/>
          <a:p>
            <a:pPr algn="ctr"/>
            <a:r>
              <a:rPr lang="en-US" sz="1600" dirty="0"/>
              <a:t>Photon </a:t>
            </a:r>
          </a:p>
          <a:p>
            <a:pPr algn="ctr"/>
            <a:r>
              <a:rPr lang="en-US" sz="1600" dirty="0"/>
              <a:t>detector</a:t>
            </a:r>
          </a:p>
        </p:txBody>
      </p:sp>
      <p:sp>
        <p:nvSpPr>
          <p:cNvPr id="8" name="TextBox 7">
            <a:extLst>
              <a:ext uri="{FF2B5EF4-FFF2-40B4-BE49-F238E27FC236}">
                <a16:creationId xmlns:a16="http://schemas.microsoft.com/office/drawing/2014/main" id="{115DA6F0-A99A-6EFF-0F66-F91CE363265B}"/>
              </a:ext>
            </a:extLst>
          </p:cNvPr>
          <p:cNvSpPr txBox="1"/>
          <p:nvPr/>
        </p:nvSpPr>
        <p:spPr>
          <a:xfrm>
            <a:off x="1933156" y="3519496"/>
            <a:ext cx="1355154" cy="338554"/>
          </a:xfrm>
          <a:prstGeom prst="rect">
            <a:avLst/>
          </a:prstGeom>
          <a:noFill/>
        </p:spPr>
        <p:txBody>
          <a:bodyPr wrap="square" rtlCol="0">
            <a:spAutoFit/>
          </a:bodyPr>
          <a:lstStyle/>
          <a:p>
            <a:pPr algn="ctr"/>
            <a:r>
              <a:rPr lang="en-US" sz="1600"/>
              <a:t>IP6</a:t>
            </a:r>
          </a:p>
        </p:txBody>
      </p:sp>
      <p:cxnSp>
        <p:nvCxnSpPr>
          <p:cNvPr id="9" name="Straight Arrow Connector 8">
            <a:extLst>
              <a:ext uri="{FF2B5EF4-FFF2-40B4-BE49-F238E27FC236}">
                <a16:creationId xmlns:a16="http://schemas.microsoft.com/office/drawing/2014/main" id="{57E9DFAE-DD8F-84B7-94CD-CD0DE9F9DBE5}"/>
              </a:ext>
            </a:extLst>
          </p:cNvPr>
          <p:cNvCxnSpPr>
            <a:cxnSpLocks/>
          </p:cNvCxnSpPr>
          <p:nvPr/>
        </p:nvCxnSpPr>
        <p:spPr>
          <a:xfrm flipH="1">
            <a:off x="717697" y="3689585"/>
            <a:ext cx="1666084" cy="430337"/>
          </a:xfrm>
          <a:prstGeom prst="straightConnector1">
            <a:avLst/>
          </a:prstGeom>
          <a:ln w="31750">
            <a:solidFill>
              <a:srgbClr val="0432FF"/>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975700A8-0378-BB59-7241-EA2E465A4783}"/>
              </a:ext>
            </a:extLst>
          </p:cNvPr>
          <p:cNvSpPr txBox="1"/>
          <p:nvPr/>
        </p:nvSpPr>
        <p:spPr>
          <a:xfrm>
            <a:off x="9901324" y="3043622"/>
            <a:ext cx="1482687" cy="584775"/>
          </a:xfrm>
          <a:prstGeom prst="rect">
            <a:avLst/>
          </a:prstGeom>
          <a:noFill/>
        </p:spPr>
        <p:txBody>
          <a:bodyPr wrap="square" rtlCol="0">
            <a:spAutoFit/>
          </a:bodyPr>
          <a:lstStyle/>
          <a:p>
            <a:pPr algn="ctr"/>
            <a:r>
              <a:rPr lang="en-US" sz="1600" dirty="0"/>
              <a:t>Weak dipoles</a:t>
            </a:r>
          </a:p>
          <a:p>
            <a:pPr algn="ctr"/>
            <a:r>
              <a:rPr lang="en-US" sz="1600" dirty="0" err="1">
                <a:latin typeface="Symbol" pitchFamily="2" charset="2"/>
              </a:rPr>
              <a:t>q</a:t>
            </a:r>
            <a:r>
              <a:rPr lang="en-US" sz="1600" baseline="-25000" dirty="0" err="1"/>
              <a:t>B</a:t>
            </a:r>
            <a:r>
              <a:rPr lang="en-US" sz="1600" dirty="0"/>
              <a:t>=1.5 </a:t>
            </a:r>
            <a:r>
              <a:rPr lang="en-US" sz="1600" dirty="0" err="1"/>
              <a:t>mr</a:t>
            </a:r>
            <a:endParaRPr lang="en-US" sz="1600" dirty="0"/>
          </a:p>
        </p:txBody>
      </p:sp>
      <p:cxnSp>
        <p:nvCxnSpPr>
          <p:cNvPr id="11" name="Straight Arrow Connector 10">
            <a:extLst>
              <a:ext uri="{FF2B5EF4-FFF2-40B4-BE49-F238E27FC236}">
                <a16:creationId xmlns:a16="http://schemas.microsoft.com/office/drawing/2014/main" id="{D04271A2-B821-5CE1-B92C-5344C28C3E4C}"/>
              </a:ext>
            </a:extLst>
          </p:cNvPr>
          <p:cNvCxnSpPr>
            <a:cxnSpLocks/>
          </p:cNvCxnSpPr>
          <p:nvPr/>
        </p:nvCxnSpPr>
        <p:spPr>
          <a:xfrm>
            <a:off x="10578902" y="3628397"/>
            <a:ext cx="542754" cy="669221"/>
          </a:xfrm>
          <a:prstGeom prst="straightConnector1">
            <a:avLst/>
          </a:prstGeom>
          <a:ln w="31750">
            <a:solidFill>
              <a:srgbClr val="0432FF"/>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6BBA2312-CCA5-0C3D-AFED-3035FB5D0381}"/>
              </a:ext>
            </a:extLst>
          </p:cNvPr>
          <p:cNvSpPr txBox="1"/>
          <p:nvPr/>
        </p:nvSpPr>
        <p:spPr>
          <a:xfrm>
            <a:off x="9901325" y="5454968"/>
            <a:ext cx="1355154" cy="338554"/>
          </a:xfrm>
          <a:prstGeom prst="rect">
            <a:avLst/>
          </a:prstGeom>
          <a:noFill/>
        </p:spPr>
        <p:txBody>
          <a:bodyPr wrap="square" rtlCol="0">
            <a:spAutoFit/>
          </a:bodyPr>
          <a:lstStyle/>
          <a:p>
            <a:pPr algn="ctr"/>
            <a:r>
              <a:rPr lang="en-US" sz="1600" dirty="0"/>
              <a:t>Laser IP</a:t>
            </a:r>
          </a:p>
        </p:txBody>
      </p:sp>
      <p:cxnSp>
        <p:nvCxnSpPr>
          <p:cNvPr id="13" name="Straight Arrow Connector 12">
            <a:extLst>
              <a:ext uri="{FF2B5EF4-FFF2-40B4-BE49-F238E27FC236}">
                <a16:creationId xmlns:a16="http://schemas.microsoft.com/office/drawing/2014/main" id="{1DC81411-79FC-682B-6DBD-537B9EC7F847}"/>
              </a:ext>
            </a:extLst>
          </p:cNvPr>
          <p:cNvCxnSpPr>
            <a:cxnSpLocks/>
            <a:stCxn id="12" idx="0"/>
          </p:cNvCxnSpPr>
          <p:nvPr/>
        </p:nvCxnSpPr>
        <p:spPr>
          <a:xfrm flipV="1">
            <a:off x="10578902" y="4500142"/>
            <a:ext cx="0" cy="954826"/>
          </a:xfrm>
          <a:prstGeom prst="straightConnector1">
            <a:avLst/>
          </a:prstGeom>
          <a:ln w="31750">
            <a:solidFill>
              <a:srgbClr val="0432FF"/>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1940FEDC-7995-5CA6-EC56-62D5F789C4C3}"/>
              </a:ext>
            </a:extLst>
          </p:cNvPr>
          <p:cNvCxnSpPr>
            <a:cxnSpLocks/>
          </p:cNvCxnSpPr>
          <p:nvPr/>
        </p:nvCxnSpPr>
        <p:spPr>
          <a:xfrm flipH="1">
            <a:off x="10316547" y="3628397"/>
            <a:ext cx="262355" cy="669221"/>
          </a:xfrm>
          <a:prstGeom prst="straightConnector1">
            <a:avLst/>
          </a:prstGeom>
          <a:ln w="31750">
            <a:solidFill>
              <a:srgbClr val="0432FF"/>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1AE6314-325C-AE01-16DA-D58E52939E32}"/>
              </a:ext>
            </a:extLst>
          </p:cNvPr>
          <p:cNvSpPr txBox="1"/>
          <p:nvPr/>
        </p:nvSpPr>
        <p:spPr>
          <a:xfrm>
            <a:off x="7946635" y="2991583"/>
            <a:ext cx="1355154" cy="584775"/>
          </a:xfrm>
          <a:prstGeom prst="rect">
            <a:avLst/>
          </a:prstGeom>
          <a:noFill/>
        </p:spPr>
        <p:txBody>
          <a:bodyPr wrap="square" rtlCol="0">
            <a:spAutoFit/>
          </a:bodyPr>
          <a:lstStyle/>
          <a:p>
            <a:pPr algn="ctr"/>
            <a:r>
              <a:rPr lang="en-US" sz="1600" dirty="0"/>
              <a:t>Electron </a:t>
            </a:r>
          </a:p>
          <a:p>
            <a:pPr algn="ctr"/>
            <a:r>
              <a:rPr lang="en-US" sz="1600" dirty="0"/>
              <a:t>detector</a:t>
            </a:r>
          </a:p>
        </p:txBody>
      </p:sp>
      <p:cxnSp>
        <p:nvCxnSpPr>
          <p:cNvPr id="16" name="Straight Arrow Connector 15">
            <a:extLst>
              <a:ext uri="{FF2B5EF4-FFF2-40B4-BE49-F238E27FC236}">
                <a16:creationId xmlns:a16="http://schemas.microsoft.com/office/drawing/2014/main" id="{02D3041F-23BE-84FF-F61D-6D67DE66D10F}"/>
              </a:ext>
            </a:extLst>
          </p:cNvPr>
          <p:cNvCxnSpPr>
            <a:cxnSpLocks/>
            <a:stCxn id="15" idx="2"/>
          </p:cNvCxnSpPr>
          <p:nvPr/>
        </p:nvCxnSpPr>
        <p:spPr>
          <a:xfrm>
            <a:off x="8624212" y="3576358"/>
            <a:ext cx="87443" cy="740833"/>
          </a:xfrm>
          <a:prstGeom prst="straightConnector1">
            <a:avLst/>
          </a:prstGeom>
          <a:ln w="31750">
            <a:solidFill>
              <a:srgbClr val="0432FF"/>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0455811C-6796-89B9-542D-4E0D5A080EFE}"/>
              </a:ext>
            </a:extLst>
          </p:cNvPr>
          <p:cNvSpPr txBox="1"/>
          <p:nvPr/>
        </p:nvSpPr>
        <p:spPr>
          <a:xfrm>
            <a:off x="4704261" y="3121162"/>
            <a:ext cx="1355154" cy="338554"/>
          </a:xfrm>
          <a:prstGeom prst="rect">
            <a:avLst/>
          </a:prstGeom>
          <a:noFill/>
        </p:spPr>
        <p:txBody>
          <a:bodyPr wrap="square" rtlCol="0">
            <a:spAutoFit/>
          </a:bodyPr>
          <a:lstStyle/>
          <a:p>
            <a:pPr algn="ctr"/>
            <a:r>
              <a:rPr lang="en-US" sz="1600" dirty="0"/>
              <a:t>Crab Cavity</a:t>
            </a:r>
          </a:p>
        </p:txBody>
      </p:sp>
      <p:cxnSp>
        <p:nvCxnSpPr>
          <p:cNvPr id="18" name="Straight Arrow Connector 17">
            <a:extLst>
              <a:ext uri="{FF2B5EF4-FFF2-40B4-BE49-F238E27FC236}">
                <a16:creationId xmlns:a16="http://schemas.microsoft.com/office/drawing/2014/main" id="{8931ACCE-7E8F-A571-9491-3C547F4444C7}"/>
              </a:ext>
            </a:extLst>
          </p:cNvPr>
          <p:cNvCxnSpPr>
            <a:cxnSpLocks/>
          </p:cNvCxnSpPr>
          <p:nvPr/>
        </p:nvCxnSpPr>
        <p:spPr>
          <a:xfrm>
            <a:off x="5493931" y="3459716"/>
            <a:ext cx="718610" cy="753347"/>
          </a:xfrm>
          <a:prstGeom prst="straightConnector1">
            <a:avLst/>
          </a:prstGeom>
          <a:ln w="31750">
            <a:solidFill>
              <a:srgbClr val="0432FF"/>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85EBCCCA-72A4-B7F4-3325-3772937D406B}"/>
              </a:ext>
            </a:extLst>
          </p:cNvPr>
          <p:cNvSpPr/>
          <p:nvPr/>
        </p:nvSpPr>
        <p:spPr>
          <a:xfrm>
            <a:off x="8452884" y="1010093"/>
            <a:ext cx="3115339" cy="1031358"/>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393D2651-3C35-EAD0-D9FD-3753C0176734}"/>
              </a:ext>
            </a:extLst>
          </p:cNvPr>
          <p:cNvSpPr txBox="1"/>
          <p:nvPr/>
        </p:nvSpPr>
        <p:spPr>
          <a:xfrm>
            <a:off x="8817981" y="1059198"/>
            <a:ext cx="2303675" cy="923330"/>
          </a:xfrm>
          <a:prstGeom prst="rect">
            <a:avLst/>
          </a:prstGeom>
          <a:noFill/>
        </p:spPr>
        <p:txBody>
          <a:bodyPr wrap="square" rtlCol="0">
            <a:spAutoFit/>
          </a:bodyPr>
          <a:lstStyle/>
          <a:p>
            <a:r>
              <a:rPr lang="en-US" dirty="0"/>
              <a:t>Counting House DAQ and slow controls</a:t>
            </a:r>
          </a:p>
        </p:txBody>
      </p:sp>
      <p:cxnSp>
        <p:nvCxnSpPr>
          <p:cNvPr id="24" name="Elbow Connector 23">
            <a:extLst>
              <a:ext uri="{FF2B5EF4-FFF2-40B4-BE49-F238E27FC236}">
                <a16:creationId xmlns:a16="http://schemas.microsoft.com/office/drawing/2014/main" id="{6E773A17-951D-139B-32D8-7BC34B57014D}"/>
              </a:ext>
            </a:extLst>
          </p:cNvPr>
          <p:cNvCxnSpPr>
            <a:cxnSpLocks/>
          </p:cNvCxnSpPr>
          <p:nvPr/>
        </p:nvCxnSpPr>
        <p:spPr>
          <a:xfrm rot="5400000" flipH="1" flipV="1">
            <a:off x="8355970" y="2667708"/>
            <a:ext cx="2088834" cy="1001877"/>
          </a:xfrm>
          <a:prstGeom prst="bentConnector3">
            <a:avLst>
              <a:gd name="adj1" fmla="val 30043"/>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31">
            <a:extLst>
              <a:ext uri="{FF2B5EF4-FFF2-40B4-BE49-F238E27FC236}">
                <a16:creationId xmlns:a16="http://schemas.microsoft.com/office/drawing/2014/main" id="{BCCB20A0-58C6-87ED-AB0E-34C779825D75}"/>
              </a:ext>
            </a:extLst>
          </p:cNvPr>
          <p:cNvCxnSpPr>
            <a:cxnSpLocks/>
          </p:cNvCxnSpPr>
          <p:nvPr/>
        </p:nvCxnSpPr>
        <p:spPr>
          <a:xfrm rot="5400000" flipH="1" flipV="1">
            <a:off x="6736190" y="2270495"/>
            <a:ext cx="2137212" cy="1747924"/>
          </a:xfrm>
          <a:prstGeom prst="bentConnector3">
            <a:avLst>
              <a:gd name="adj1" fmla="val 61442"/>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3748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EFC10E-2ABA-CD6D-B7A6-2208266F6FCA}"/>
              </a:ext>
            </a:extLst>
          </p:cNvPr>
          <p:cNvSpPr>
            <a:spLocks noGrp="1"/>
          </p:cNvSpPr>
          <p:nvPr>
            <p:ph type="sldNum" sz="quarter" idx="4"/>
          </p:nvPr>
        </p:nvSpPr>
        <p:spPr/>
        <p:txBody>
          <a:bodyPr/>
          <a:lstStyle/>
          <a:p>
            <a:fld id="{933A556B-7C63-244D-9B7C-B0EA8042B330}" type="slidenum">
              <a:rPr lang="en-US" smtClean="0"/>
              <a:pPr/>
              <a:t>20</a:t>
            </a:fld>
            <a:endParaRPr lang="en-US"/>
          </a:p>
        </p:txBody>
      </p:sp>
      <p:sp>
        <p:nvSpPr>
          <p:cNvPr id="3" name="Title 2">
            <a:extLst>
              <a:ext uri="{FF2B5EF4-FFF2-40B4-BE49-F238E27FC236}">
                <a16:creationId xmlns:a16="http://schemas.microsoft.com/office/drawing/2014/main" id="{8DE66079-CC2B-B42B-2B00-494E2CF622F9}"/>
              </a:ext>
            </a:extLst>
          </p:cNvPr>
          <p:cNvSpPr>
            <a:spLocks noGrp="1"/>
          </p:cNvSpPr>
          <p:nvPr>
            <p:ph type="title"/>
          </p:nvPr>
        </p:nvSpPr>
        <p:spPr/>
        <p:txBody>
          <a:bodyPr/>
          <a:lstStyle/>
          <a:p>
            <a:r>
              <a:rPr lang="en-US" dirty="0"/>
              <a:t>Quality Assurance</a:t>
            </a:r>
          </a:p>
        </p:txBody>
      </p:sp>
      <p:sp>
        <p:nvSpPr>
          <p:cNvPr id="5" name="TextBox 4">
            <a:extLst>
              <a:ext uri="{FF2B5EF4-FFF2-40B4-BE49-F238E27FC236}">
                <a16:creationId xmlns:a16="http://schemas.microsoft.com/office/drawing/2014/main" id="{817BCE36-D253-57FF-BCFE-02C133ADB8E2}"/>
              </a:ext>
            </a:extLst>
          </p:cNvPr>
          <p:cNvSpPr txBox="1"/>
          <p:nvPr/>
        </p:nvSpPr>
        <p:spPr>
          <a:xfrm>
            <a:off x="620131" y="1779850"/>
            <a:ext cx="11178457" cy="2062103"/>
          </a:xfrm>
          <a:prstGeom prst="rect">
            <a:avLst/>
          </a:prstGeom>
          <a:noFill/>
        </p:spPr>
        <p:txBody>
          <a:bodyPr wrap="square" rtlCol="0" anchor="ctr">
            <a:spAutoFit/>
          </a:bodyPr>
          <a:lstStyle/>
          <a:p>
            <a:r>
              <a:rPr lang="en-US" sz="2000" b="1" dirty="0"/>
              <a:t>Electron polarimeters:</a:t>
            </a:r>
            <a:endParaRPr lang="en-US" sz="1050" dirty="0"/>
          </a:p>
          <a:p>
            <a:pPr lvl="1"/>
            <a:r>
              <a:rPr lang="en-US" b="1" dirty="0"/>
              <a:t>QA: Components requiring quality control</a:t>
            </a:r>
            <a:endParaRPr lang="en-US" dirty="0"/>
          </a:p>
          <a:p>
            <a:pPr marL="800100" lvl="1" indent="-342900">
              <a:buFont typeface="+mj-lt"/>
              <a:buAutoNum type="arabicPeriod"/>
            </a:pPr>
            <a:r>
              <a:rPr lang="en-US" dirty="0"/>
              <a:t>ESR laser </a:t>
            </a:r>
            <a:r>
              <a:rPr lang="en-US" dirty="0">
                <a:sym typeface="Wingdings" pitchFamily="2" charset="2"/>
              </a:rPr>
              <a:t> seed laser, amplifiers, fiber, reflective window</a:t>
            </a:r>
          </a:p>
          <a:p>
            <a:pPr marL="800100" lvl="1" indent="-342900">
              <a:buFont typeface="+mj-lt"/>
              <a:buAutoNum type="arabicPeriod"/>
            </a:pPr>
            <a:r>
              <a:rPr lang="en-US" dirty="0">
                <a:sym typeface="Wingdings" pitchFamily="2" charset="2"/>
              </a:rPr>
              <a:t>RCS laser  laser power and pointing stability</a:t>
            </a:r>
          </a:p>
          <a:p>
            <a:pPr marL="800100" lvl="1" indent="-342900">
              <a:buFont typeface="+mj-lt"/>
              <a:buAutoNum type="arabicPeriod"/>
            </a:pPr>
            <a:r>
              <a:rPr lang="en-US" dirty="0">
                <a:sym typeface="Wingdings" pitchFamily="2" charset="2"/>
              </a:rPr>
              <a:t>Diamond detectors  tests of detectors and FLAT32 with </a:t>
            </a:r>
            <a:r>
              <a:rPr lang="en-US" dirty="0" err="1">
                <a:sym typeface="Wingdings" pitchFamily="2" charset="2"/>
              </a:rPr>
              <a:t>cosmics</a:t>
            </a:r>
            <a:r>
              <a:rPr lang="en-US" dirty="0">
                <a:sym typeface="Wingdings" pitchFamily="2" charset="2"/>
              </a:rPr>
              <a:t> and radioactive sources</a:t>
            </a:r>
          </a:p>
          <a:p>
            <a:pPr marL="800100" lvl="1" indent="-342900">
              <a:buFont typeface="+mj-lt"/>
              <a:buAutoNum type="arabicPeriod"/>
            </a:pPr>
            <a:r>
              <a:rPr lang="en-US" dirty="0">
                <a:sym typeface="Wingdings" pitchFamily="2" charset="2"/>
              </a:rPr>
              <a:t>Photon calorimeters  tests with </a:t>
            </a:r>
            <a:r>
              <a:rPr lang="en-US" dirty="0" err="1">
                <a:sym typeface="Wingdings" pitchFamily="2" charset="2"/>
              </a:rPr>
              <a:t>cosmics</a:t>
            </a:r>
            <a:r>
              <a:rPr lang="en-US" dirty="0">
                <a:sym typeface="Wingdings" pitchFamily="2" charset="2"/>
              </a:rPr>
              <a:t> and sources. Tests in JLab polarimeters possible depending on beam schedule – synergy with forward </a:t>
            </a:r>
            <a:r>
              <a:rPr lang="en-US" dirty="0" err="1">
                <a:sym typeface="Wingdings" pitchFamily="2" charset="2"/>
              </a:rPr>
              <a:t>ecal</a:t>
            </a:r>
            <a:endParaRPr lang="en-US" dirty="0"/>
          </a:p>
        </p:txBody>
      </p:sp>
      <p:sp>
        <p:nvSpPr>
          <p:cNvPr id="6" name="TextBox 5">
            <a:extLst>
              <a:ext uri="{FF2B5EF4-FFF2-40B4-BE49-F238E27FC236}">
                <a16:creationId xmlns:a16="http://schemas.microsoft.com/office/drawing/2014/main" id="{82206017-2810-7622-7417-6303690D3F60}"/>
              </a:ext>
            </a:extLst>
          </p:cNvPr>
          <p:cNvSpPr txBox="1"/>
          <p:nvPr/>
        </p:nvSpPr>
        <p:spPr>
          <a:xfrm>
            <a:off x="620131" y="4047098"/>
            <a:ext cx="11264004" cy="1538883"/>
          </a:xfrm>
          <a:prstGeom prst="rect">
            <a:avLst/>
          </a:prstGeom>
          <a:noFill/>
        </p:spPr>
        <p:txBody>
          <a:bodyPr wrap="square">
            <a:spAutoFit/>
          </a:bodyPr>
          <a:lstStyle/>
          <a:p>
            <a:r>
              <a:rPr lang="en-US" sz="2000" b="1" dirty="0"/>
              <a:t>Hadron polarimeters:</a:t>
            </a:r>
          </a:p>
          <a:p>
            <a:r>
              <a:rPr lang="en-US" sz="2000" b="1" dirty="0"/>
              <a:t>       QA: Components requiring quality control</a:t>
            </a:r>
          </a:p>
          <a:p>
            <a:pPr marL="800100" lvl="1" indent="-342900">
              <a:buFont typeface="+mj-lt"/>
              <a:buAutoNum type="arabicPeriod"/>
            </a:pPr>
            <a:r>
              <a:rPr lang="en-US" dirty="0"/>
              <a:t>HJET plus Breit-Rabi polarimeter with modified holding field</a:t>
            </a:r>
          </a:p>
          <a:p>
            <a:pPr marL="800100" lvl="1" indent="-342900">
              <a:buFont typeface="+mj-lt"/>
              <a:buAutoNum type="arabicPeriod"/>
            </a:pPr>
            <a:r>
              <a:rPr lang="en-US" dirty="0"/>
              <a:t>QMA to scan atomic beam profile to determine unpolarized H</a:t>
            </a:r>
            <a:r>
              <a:rPr lang="en-US" baseline="-25000" dirty="0"/>
              <a:t>2</a:t>
            </a:r>
            <a:r>
              <a:rPr lang="en-US" dirty="0"/>
              <a:t> fraction</a:t>
            </a:r>
          </a:p>
          <a:p>
            <a:pPr marL="800100" lvl="1" indent="-342900">
              <a:buFont typeface="+mj-lt"/>
              <a:buAutoNum type="arabicPeriod"/>
            </a:pPr>
            <a:r>
              <a:rPr lang="en-US" dirty="0"/>
              <a:t>Recoil detector system and electronics readout for 11 ns bunch spacing</a:t>
            </a:r>
          </a:p>
        </p:txBody>
      </p:sp>
      <p:sp>
        <p:nvSpPr>
          <p:cNvPr id="4" name="object 11">
            <a:extLst>
              <a:ext uri="{FF2B5EF4-FFF2-40B4-BE49-F238E27FC236}">
                <a16:creationId xmlns:a16="http://schemas.microsoft.com/office/drawing/2014/main" id="{3F01D620-49A4-BFDC-30EF-014321087B9C}"/>
              </a:ext>
            </a:extLst>
          </p:cNvPr>
          <p:cNvSpPr txBox="1"/>
          <p:nvPr/>
        </p:nvSpPr>
        <p:spPr>
          <a:xfrm>
            <a:off x="10250424" y="404229"/>
            <a:ext cx="1693921"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#1,5</a:t>
            </a:r>
            <a:endParaRPr sz="2001" dirty="0">
              <a:solidFill>
                <a:srgbClr val="FF0000"/>
              </a:solidFill>
              <a:latin typeface="Arial Narrow"/>
              <a:cs typeface="Arial Narrow"/>
            </a:endParaRPr>
          </a:p>
        </p:txBody>
      </p:sp>
      <p:sp>
        <p:nvSpPr>
          <p:cNvPr id="7" name="TextBox 6">
            <a:extLst>
              <a:ext uri="{FF2B5EF4-FFF2-40B4-BE49-F238E27FC236}">
                <a16:creationId xmlns:a16="http://schemas.microsoft.com/office/drawing/2014/main" id="{92DEF307-588B-7B4E-A6C5-409318FCA2C8}"/>
              </a:ext>
            </a:extLst>
          </p:cNvPr>
          <p:cNvSpPr txBox="1"/>
          <p:nvPr/>
        </p:nvSpPr>
        <p:spPr>
          <a:xfrm>
            <a:off x="620131" y="991273"/>
            <a:ext cx="9913291" cy="646331"/>
          </a:xfrm>
          <a:prstGeom prst="rect">
            <a:avLst/>
          </a:prstGeom>
          <a:noFill/>
        </p:spPr>
        <p:txBody>
          <a:bodyPr wrap="none" rtlCol="0">
            <a:spAutoFit/>
          </a:bodyPr>
          <a:lstStyle/>
          <a:p>
            <a:r>
              <a:rPr lang="en-US" dirty="0"/>
              <a:t>Described in Quality Control Plan</a:t>
            </a:r>
          </a:p>
          <a:p>
            <a:r>
              <a:rPr lang="en-US" dirty="0">
                <a:sym typeface="Wingdings" pitchFamily="2" charset="2"/>
              </a:rPr>
              <a:t> </a:t>
            </a:r>
            <a:r>
              <a:rPr lang="en-US" dirty="0">
                <a:sym typeface="Wingdings" pitchFamily="2" charset="2"/>
                <a:hlinkClick r:id="rId2"/>
              </a:rPr>
              <a:t>https://eic.jlab.org/Documents/DET/Quality/References/Detector-6.10-QualityControlPlan.pdf</a:t>
            </a:r>
            <a:endParaRPr lang="en-US" dirty="0"/>
          </a:p>
        </p:txBody>
      </p:sp>
    </p:spTree>
    <p:extLst>
      <p:ext uri="{BB962C8B-B14F-4D97-AF65-F5344CB8AC3E}">
        <p14:creationId xmlns:p14="http://schemas.microsoft.com/office/powerpoint/2010/main" val="1606009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CDF4F66-A63A-3B49-20F4-15AA4C2D3D61}"/>
              </a:ext>
            </a:extLst>
          </p:cNvPr>
          <p:cNvSpPr>
            <a:spLocks noGrp="1"/>
          </p:cNvSpPr>
          <p:nvPr>
            <p:ph type="sldNum" sz="quarter" idx="4"/>
          </p:nvPr>
        </p:nvSpPr>
        <p:spPr/>
        <p:txBody>
          <a:bodyPr/>
          <a:lstStyle/>
          <a:p>
            <a:fld id="{933A556B-7C63-244D-9B7C-B0EA8042B330}" type="slidenum">
              <a:rPr lang="en-US" smtClean="0"/>
              <a:pPr/>
              <a:t>21</a:t>
            </a:fld>
            <a:endParaRPr lang="en-US" dirty="0"/>
          </a:p>
        </p:txBody>
      </p:sp>
      <p:sp>
        <p:nvSpPr>
          <p:cNvPr id="2" name="Title 1">
            <a:extLst>
              <a:ext uri="{FF2B5EF4-FFF2-40B4-BE49-F238E27FC236}">
                <a16:creationId xmlns:a16="http://schemas.microsoft.com/office/drawing/2014/main" id="{F9FEF226-97F9-0960-7D39-A0F53C6D390C}"/>
              </a:ext>
            </a:extLst>
          </p:cNvPr>
          <p:cNvSpPr>
            <a:spLocks noGrp="1"/>
          </p:cNvSpPr>
          <p:nvPr>
            <p:ph type="title"/>
          </p:nvPr>
        </p:nvSpPr>
        <p:spPr/>
        <p:txBody>
          <a:bodyPr/>
          <a:lstStyle/>
          <a:p>
            <a:r>
              <a:rPr lang="en-US" dirty="0"/>
              <a:t>Major Acquisition Planning</a:t>
            </a:r>
          </a:p>
        </p:txBody>
      </p:sp>
      <p:sp>
        <p:nvSpPr>
          <p:cNvPr id="10" name="Content Placeholder 9">
            <a:extLst>
              <a:ext uri="{FF2B5EF4-FFF2-40B4-BE49-F238E27FC236}">
                <a16:creationId xmlns:a16="http://schemas.microsoft.com/office/drawing/2014/main" id="{0BFF2D2E-8EED-66B6-5E29-95BD9E904468}"/>
              </a:ext>
            </a:extLst>
          </p:cNvPr>
          <p:cNvSpPr>
            <a:spLocks noGrp="1"/>
          </p:cNvSpPr>
          <p:nvPr>
            <p:ph idx="1"/>
          </p:nvPr>
        </p:nvSpPr>
        <p:spPr>
          <a:xfrm>
            <a:off x="462579" y="975365"/>
            <a:ext cx="11640521" cy="4865858"/>
          </a:xfrm>
        </p:spPr>
        <p:txBody>
          <a:bodyPr>
            <a:normAutofit/>
          </a:bodyPr>
          <a:lstStyle/>
          <a:p>
            <a:r>
              <a:rPr lang="en-US" dirty="0"/>
              <a:t>Polarimetry has a total of around $4.3M in materials requisitions. </a:t>
            </a:r>
          </a:p>
          <a:p>
            <a:endParaRPr lang="en-US" dirty="0"/>
          </a:p>
          <a:p>
            <a:r>
              <a:rPr lang="en-US" dirty="0"/>
              <a:t>There are six “Significant” procurements </a:t>
            </a:r>
            <a:r>
              <a:rPr lang="en-US" sz="2000" dirty="0"/>
              <a:t>(&gt; $250K</a:t>
            </a:r>
            <a:r>
              <a:rPr lang="en-US" dirty="0"/>
              <a:t>). The remainder are Standard </a:t>
            </a:r>
            <a:r>
              <a:rPr lang="en-US" sz="2000" dirty="0"/>
              <a:t>(&lt; $250K</a:t>
            </a:r>
            <a:r>
              <a:rPr lang="en-US" dirty="0"/>
              <a:t>) or Basic </a:t>
            </a:r>
            <a:r>
              <a:rPr lang="en-US" sz="2000" dirty="0"/>
              <a:t>(&lt; $25K</a:t>
            </a:r>
            <a:r>
              <a:rPr lang="en-US" dirty="0"/>
              <a:t>) procurements. </a:t>
            </a:r>
          </a:p>
          <a:p>
            <a:endParaRPr lang="en-US" dirty="0"/>
          </a:p>
          <a:p>
            <a:r>
              <a:rPr lang="en-US" sz="2000" dirty="0"/>
              <a:t>Significant Procurements include:</a:t>
            </a:r>
          </a:p>
          <a:p>
            <a:pPr lvl="1"/>
            <a:r>
              <a:rPr lang="en-US" sz="1800" dirty="0"/>
              <a:t>Vacuum system for HJET (1 procurement)</a:t>
            </a:r>
          </a:p>
          <a:p>
            <a:pPr lvl="1"/>
            <a:r>
              <a:rPr lang="en-US" sz="1800" dirty="0" err="1"/>
              <a:t>pC</a:t>
            </a:r>
            <a:r>
              <a:rPr lang="en-US" sz="1800" dirty="0"/>
              <a:t> polarimeter target loading station (1 procurement)</a:t>
            </a:r>
          </a:p>
          <a:p>
            <a:pPr lvl="1"/>
            <a:r>
              <a:rPr lang="en-US" sz="1800" dirty="0"/>
              <a:t>Metallization of the ESR and RCS diamond position sensitive detectors (2 procurements)</a:t>
            </a:r>
          </a:p>
          <a:p>
            <a:pPr lvl="1"/>
            <a:r>
              <a:rPr lang="en-US" sz="1800" dirty="0"/>
              <a:t>ASIC design and production for diamond readout (2 procurements)</a:t>
            </a:r>
          </a:p>
          <a:p>
            <a:pPr lvl="1"/>
            <a:endParaRPr lang="en-US" sz="1800" dirty="0"/>
          </a:p>
          <a:p>
            <a:r>
              <a:rPr lang="en-US" sz="2100" dirty="0"/>
              <a:t>Likely that ASIC development can be used synergistically with minor configuration changes</a:t>
            </a:r>
          </a:p>
          <a:p>
            <a:endParaRPr lang="en-US" dirty="0"/>
          </a:p>
          <a:p>
            <a:pPr marL="0" indent="0">
              <a:buNone/>
            </a:pPr>
            <a:endParaRPr lang="en-US" dirty="0"/>
          </a:p>
        </p:txBody>
      </p:sp>
      <p:sp>
        <p:nvSpPr>
          <p:cNvPr id="8" name="object 11">
            <a:extLst>
              <a:ext uri="{FF2B5EF4-FFF2-40B4-BE49-F238E27FC236}">
                <a16:creationId xmlns:a16="http://schemas.microsoft.com/office/drawing/2014/main" id="{6E618C3F-5BA9-BD02-AADE-E50929591EA1}"/>
              </a:ext>
            </a:extLst>
          </p:cNvPr>
          <p:cNvSpPr txBox="1"/>
          <p:nvPr/>
        </p:nvSpPr>
        <p:spPr>
          <a:xfrm>
            <a:off x="9939529" y="404229"/>
            <a:ext cx="1865376"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#2,3,5</a:t>
            </a:r>
            <a:endParaRPr sz="2001" dirty="0">
              <a:solidFill>
                <a:srgbClr val="FF0000"/>
              </a:solidFill>
              <a:latin typeface="Arial Narrow"/>
              <a:cs typeface="Arial Narrow"/>
            </a:endParaRPr>
          </a:p>
        </p:txBody>
      </p:sp>
    </p:spTree>
    <p:extLst>
      <p:ext uri="{BB962C8B-B14F-4D97-AF65-F5344CB8AC3E}">
        <p14:creationId xmlns:p14="http://schemas.microsoft.com/office/powerpoint/2010/main" val="2962344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6EC73577-3FF2-F895-E794-8679C9B56F58}"/>
              </a:ext>
            </a:extLst>
          </p:cNvPr>
          <p:cNvSpPr>
            <a:spLocks noGrp="1"/>
          </p:cNvSpPr>
          <p:nvPr>
            <p:ph type="title"/>
          </p:nvPr>
        </p:nvSpPr>
        <p:spPr>
          <a:xfrm>
            <a:off x="462579" y="0"/>
            <a:ext cx="6327835" cy="825178"/>
          </a:xfrm>
        </p:spPr>
        <p:txBody>
          <a:bodyPr/>
          <a:lstStyle/>
          <a:p>
            <a:r>
              <a:rPr lang="en-US" dirty="0"/>
              <a:t>Schedule</a:t>
            </a:r>
          </a:p>
        </p:txBody>
      </p:sp>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18434D7E-04F6-8676-68B3-432845FA5389}"/>
                  </a:ext>
                </a:extLst>
              </p:cNvPr>
              <p:cNvSpPr>
                <a:spLocks noGrp="1"/>
              </p:cNvSpPr>
              <p:nvPr>
                <p:ph sz="half" idx="1"/>
              </p:nvPr>
            </p:nvSpPr>
            <p:spPr>
              <a:xfrm>
                <a:off x="1152863" y="4374945"/>
                <a:ext cx="9434456" cy="797690"/>
              </a:xfrm>
            </p:spPr>
            <p:txBody>
              <a:bodyPr>
                <a:normAutofit/>
              </a:bodyPr>
              <a:lstStyle/>
              <a:p>
                <a:r>
                  <a:rPr lang="en-US" sz="1800" dirty="0"/>
                  <a:t>Polarimeters are required before detector </a:t>
                </a:r>
                <a14:m>
                  <m:oMath xmlns:m="http://schemas.openxmlformats.org/officeDocument/2006/math">
                    <m:r>
                      <a:rPr lang="en-US" sz="1800" i="1" dirty="0" smtClean="0">
                        <a:latin typeface="Cambria Math" panose="02040503050406030204" pitchFamily="18" charset="0"/>
                        <a:ea typeface="Cambria Math" panose="02040503050406030204" pitchFamily="18" charset="0"/>
                      </a:rPr>
                      <m:t>→</m:t>
                    </m:r>
                  </m:oMath>
                </a14:m>
                <a:r>
                  <a:rPr lang="en-US" sz="1800" dirty="0"/>
                  <a:t> needed for initial beam checks and setup</a:t>
                </a:r>
              </a:p>
              <a:p>
                <a:r>
                  <a:rPr lang="en-US" sz="1800" dirty="0"/>
                  <a:t>Polarimetry readiness consistent with accelerator schedule</a:t>
                </a:r>
              </a:p>
              <a:p>
                <a:pPr lvl="1"/>
                <a:endParaRPr lang="en-US" sz="1600" dirty="0"/>
              </a:p>
            </p:txBody>
          </p:sp>
        </mc:Choice>
        <mc:Fallback xmlns="">
          <p:sp>
            <p:nvSpPr>
              <p:cNvPr id="2" name="Content Placeholder 2">
                <a:extLst>
                  <a:ext uri="{FF2B5EF4-FFF2-40B4-BE49-F238E27FC236}">
                    <a16:creationId xmlns:a16="http://schemas.microsoft.com/office/drawing/2014/main" id="{18434D7E-04F6-8676-68B3-432845FA5389}"/>
                  </a:ext>
                </a:extLst>
              </p:cNvPr>
              <p:cNvSpPr>
                <a:spLocks noGrp="1" noRot="1" noChangeAspect="1" noMove="1" noResize="1" noEditPoints="1" noAdjustHandles="1" noChangeArrowheads="1" noChangeShapeType="1" noTextEdit="1"/>
              </p:cNvSpPr>
              <p:nvPr>
                <p:ph sz="half" idx="1"/>
              </p:nvPr>
            </p:nvSpPr>
            <p:spPr>
              <a:xfrm>
                <a:off x="1152863" y="4374945"/>
                <a:ext cx="9434456" cy="797690"/>
              </a:xfrm>
              <a:blipFill>
                <a:blip r:embed="rId2"/>
                <a:stretch>
                  <a:fillRect l="-403" t="-7813" b="-1563"/>
                </a:stretch>
              </a:blipFill>
            </p:spPr>
            <p:txBody>
              <a:bodyPr/>
              <a:lstStyle/>
              <a:p>
                <a:r>
                  <a:rPr lang="en-US">
                    <a:noFill/>
                  </a:rPr>
                  <a:t> </a:t>
                </a:r>
              </a:p>
            </p:txBody>
          </p:sp>
        </mc:Fallback>
      </mc:AlternateContent>
      <p:sp>
        <p:nvSpPr>
          <p:cNvPr id="3" name="object 11">
            <a:extLst>
              <a:ext uri="{FF2B5EF4-FFF2-40B4-BE49-F238E27FC236}">
                <a16:creationId xmlns:a16="http://schemas.microsoft.com/office/drawing/2014/main" id="{5947198F-CF2C-8A6C-DC21-46946005D69C}"/>
              </a:ext>
            </a:extLst>
          </p:cNvPr>
          <p:cNvSpPr txBox="1"/>
          <p:nvPr/>
        </p:nvSpPr>
        <p:spPr>
          <a:xfrm>
            <a:off x="10416794" y="404229"/>
            <a:ext cx="1527551"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#3</a:t>
            </a:r>
            <a:endParaRPr sz="2001" dirty="0">
              <a:solidFill>
                <a:srgbClr val="FF0000"/>
              </a:solidFill>
              <a:latin typeface="Arial Narrow"/>
              <a:cs typeface="Arial Narrow"/>
            </a:endParaRPr>
          </a:p>
        </p:txBody>
      </p:sp>
      <p:sp>
        <p:nvSpPr>
          <p:cNvPr id="4" name="Slide Number Placeholder 4">
            <a:extLst>
              <a:ext uri="{FF2B5EF4-FFF2-40B4-BE49-F238E27FC236}">
                <a16:creationId xmlns:a16="http://schemas.microsoft.com/office/drawing/2014/main" id="{BAFF30FA-4206-7827-7872-CC490DA7E500}"/>
              </a:ext>
            </a:extLst>
          </p:cNvPr>
          <p:cNvSpPr>
            <a:spLocks noGrp="1"/>
          </p:cNvSpPr>
          <p:nvPr>
            <p:ph type="sldNum" sz="quarter" idx="4"/>
          </p:nvPr>
        </p:nvSpPr>
        <p:spPr>
          <a:xfrm>
            <a:off x="11451649" y="6533724"/>
            <a:ext cx="432486" cy="294041"/>
          </a:xfrm>
        </p:spPr>
        <p:txBody>
          <a:bodyPr/>
          <a:lstStyle/>
          <a:p>
            <a:fld id="{933A556B-7C63-244D-9B7C-B0EA8042B330}" type="slidenum">
              <a:rPr lang="en-US" smtClean="0"/>
              <a:pPr/>
              <a:t>22</a:t>
            </a:fld>
            <a:endParaRPr lang="en-US" dirty="0"/>
          </a:p>
        </p:txBody>
      </p:sp>
      <p:pic>
        <p:nvPicPr>
          <p:cNvPr id="1028" name="Picture 4" descr="Timeline&#10;&#10;AI-generated content may be incorrect.">
            <a:extLst>
              <a:ext uri="{FF2B5EF4-FFF2-40B4-BE49-F238E27FC236}">
                <a16:creationId xmlns:a16="http://schemas.microsoft.com/office/drawing/2014/main" id="{ACC653DF-4D7E-692D-0465-7764F10A64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 y="1049859"/>
            <a:ext cx="11412071" cy="28663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CF5A585E-4DE2-2D81-4858-0F7AA3CE2A42}"/>
              </a:ext>
            </a:extLst>
          </p:cNvPr>
          <p:cNvSpPr>
            <a:spLocks noGrp="1"/>
          </p:cNvSpPr>
          <p:nvPr>
            <p:ph type="title"/>
          </p:nvPr>
        </p:nvSpPr>
        <p:spPr/>
        <p:txBody>
          <a:bodyPr/>
          <a:lstStyle/>
          <a:p>
            <a:r>
              <a:rPr lang="en-US" dirty="0"/>
              <a:t>Costs: Budget at Completion</a:t>
            </a:r>
          </a:p>
        </p:txBody>
      </p:sp>
      <p:sp>
        <p:nvSpPr>
          <p:cNvPr id="2" name="object 11">
            <a:extLst>
              <a:ext uri="{FF2B5EF4-FFF2-40B4-BE49-F238E27FC236}">
                <a16:creationId xmlns:a16="http://schemas.microsoft.com/office/drawing/2014/main" id="{814A6659-8012-6247-A07B-C2E2F6F46261}"/>
              </a:ext>
            </a:extLst>
          </p:cNvPr>
          <p:cNvSpPr txBox="1"/>
          <p:nvPr/>
        </p:nvSpPr>
        <p:spPr>
          <a:xfrm>
            <a:off x="10416794" y="404229"/>
            <a:ext cx="1527551"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#3</a:t>
            </a:r>
            <a:endParaRPr sz="2001" dirty="0">
              <a:solidFill>
                <a:srgbClr val="FF0000"/>
              </a:solidFill>
              <a:latin typeface="Arial Narrow"/>
              <a:cs typeface="Arial Narrow"/>
            </a:endParaRPr>
          </a:p>
        </p:txBody>
      </p:sp>
      <p:sp>
        <p:nvSpPr>
          <p:cNvPr id="3" name="Slide Number Placeholder 4">
            <a:extLst>
              <a:ext uri="{FF2B5EF4-FFF2-40B4-BE49-F238E27FC236}">
                <a16:creationId xmlns:a16="http://schemas.microsoft.com/office/drawing/2014/main" id="{2A1A0BA5-0FD0-0325-2D4C-B7F421A75699}"/>
              </a:ext>
            </a:extLst>
          </p:cNvPr>
          <p:cNvSpPr>
            <a:spLocks noGrp="1"/>
          </p:cNvSpPr>
          <p:nvPr>
            <p:ph type="sldNum" sz="quarter" idx="4"/>
          </p:nvPr>
        </p:nvSpPr>
        <p:spPr>
          <a:xfrm>
            <a:off x="11451649" y="6533724"/>
            <a:ext cx="432486" cy="294041"/>
          </a:xfrm>
        </p:spPr>
        <p:txBody>
          <a:bodyPr/>
          <a:lstStyle/>
          <a:p>
            <a:fld id="{933A556B-7C63-244D-9B7C-B0EA8042B330}" type="slidenum">
              <a:rPr lang="en-US" smtClean="0"/>
              <a:pPr/>
              <a:t>23</a:t>
            </a:fld>
            <a:endParaRPr lang="en-US" dirty="0"/>
          </a:p>
        </p:txBody>
      </p:sp>
      <p:sp>
        <p:nvSpPr>
          <p:cNvPr id="6" name="TextBox 5">
            <a:extLst>
              <a:ext uri="{FF2B5EF4-FFF2-40B4-BE49-F238E27FC236}">
                <a16:creationId xmlns:a16="http://schemas.microsoft.com/office/drawing/2014/main" id="{837E9128-6BA9-72FE-1B2D-857E50D780C6}"/>
              </a:ext>
            </a:extLst>
          </p:cNvPr>
          <p:cNvSpPr txBox="1"/>
          <p:nvPr/>
        </p:nvSpPr>
        <p:spPr>
          <a:xfrm>
            <a:off x="967146" y="3948953"/>
            <a:ext cx="6256841" cy="646331"/>
          </a:xfrm>
          <a:prstGeom prst="rect">
            <a:avLst/>
          </a:prstGeom>
          <a:noFill/>
        </p:spPr>
        <p:txBody>
          <a:bodyPr wrap="none" rtlCol="0">
            <a:spAutoFit/>
          </a:bodyPr>
          <a:lstStyle/>
          <a:p>
            <a:pPr marL="285750" indent="-285750">
              <a:buFont typeface="Arial" panose="020B0604020202020204" pitchFamily="34" charset="0"/>
              <a:buChar char="•"/>
            </a:pPr>
            <a:r>
              <a:rPr lang="en-US" dirty="0"/>
              <a:t>Budget for electron and hadron polarimeters comparable</a:t>
            </a:r>
          </a:p>
          <a:p>
            <a:pPr marL="285750" indent="-285750">
              <a:buFont typeface="Arial" panose="020B0604020202020204" pitchFamily="34" charset="0"/>
              <a:buChar char="•"/>
            </a:pPr>
            <a:r>
              <a:rPr lang="en-US" dirty="0"/>
              <a:t>No in-kind contributions</a:t>
            </a:r>
          </a:p>
        </p:txBody>
      </p:sp>
      <p:pic>
        <p:nvPicPr>
          <p:cNvPr id="2050" name="Picture 2">
            <a:extLst>
              <a:ext uri="{FF2B5EF4-FFF2-40B4-BE49-F238E27FC236}">
                <a16:creationId xmlns:a16="http://schemas.microsoft.com/office/drawing/2014/main" id="{CB66778A-0100-EE87-4AEE-3F83CC8F04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533" y="1143191"/>
            <a:ext cx="11448971" cy="17739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5">
            <a:extLst>
              <a:ext uri="{FF2B5EF4-FFF2-40B4-BE49-F238E27FC236}">
                <a16:creationId xmlns:a16="http://schemas.microsoft.com/office/drawing/2014/main" id="{76A498DD-E9DD-3AA4-DDE2-45EEB25DC7EE}"/>
              </a:ext>
            </a:extLst>
          </p:cNvPr>
          <p:cNvSpPr>
            <a:spLocks noGrp="1"/>
          </p:cNvSpPr>
          <p:nvPr>
            <p:ph type="title"/>
          </p:nvPr>
        </p:nvSpPr>
        <p:spPr>
          <a:xfrm>
            <a:off x="461963" y="0"/>
            <a:ext cx="11499850" cy="825500"/>
          </a:xfrm>
        </p:spPr>
        <p:txBody>
          <a:bodyPr/>
          <a:lstStyle/>
          <a:p>
            <a:r>
              <a:rPr lang="en-US" dirty="0"/>
              <a:t>Costs: Budget Profile</a:t>
            </a:r>
          </a:p>
        </p:txBody>
      </p:sp>
      <p:sp>
        <p:nvSpPr>
          <p:cNvPr id="2" name="object 11">
            <a:extLst>
              <a:ext uri="{FF2B5EF4-FFF2-40B4-BE49-F238E27FC236}">
                <a16:creationId xmlns:a16="http://schemas.microsoft.com/office/drawing/2014/main" id="{958819E3-9A12-2B8D-0CCD-149651317011}"/>
              </a:ext>
            </a:extLst>
          </p:cNvPr>
          <p:cNvSpPr txBox="1"/>
          <p:nvPr/>
        </p:nvSpPr>
        <p:spPr>
          <a:xfrm>
            <a:off x="10416794" y="404229"/>
            <a:ext cx="1527551"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#3</a:t>
            </a:r>
            <a:endParaRPr sz="2001" dirty="0">
              <a:solidFill>
                <a:srgbClr val="FF0000"/>
              </a:solidFill>
              <a:latin typeface="Arial Narrow"/>
              <a:cs typeface="Arial Narrow"/>
            </a:endParaRPr>
          </a:p>
        </p:txBody>
      </p:sp>
      <p:sp>
        <p:nvSpPr>
          <p:cNvPr id="3" name="Slide Number Placeholder 4">
            <a:extLst>
              <a:ext uri="{FF2B5EF4-FFF2-40B4-BE49-F238E27FC236}">
                <a16:creationId xmlns:a16="http://schemas.microsoft.com/office/drawing/2014/main" id="{0D3DACB2-F876-A51A-B101-C514C32E74BF}"/>
              </a:ext>
            </a:extLst>
          </p:cNvPr>
          <p:cNvSpPr>
            <a:spLocks noGrp="1"/>
          </p:cNvSpPr>
          <p:nvPr>
            <p:ph type="sldNum" sz="quarter" idx="4"/>
          </p:nvPr>
        </p:nvSpPr>
        <p:spPr>
          <a:xfrm>
            <a:off x="11451649" y="6533724"/>
            <a:ext cx="432486" cy="294041"/>
          </a:xfrm>
        </p:spPr>
        <p:txBody>
          <a:bodyPr/>
          <a:lstStyle/>
          <a:p>
            <a:fld id="{933A556B-7C63-244D-9B7C-B0EA8042B330}" type="slidenum">
              <a:rPr lang="en-US" smtClean="0"/>
              <a:pPr/>
              <a:t>24</a:t>
            </a:fld>
            <a:endParaRPr lang="en-US" dirty="0"/>
          </a:p>
        </p:txBody>
      </p:sp>
      <p:sp>
        <p:nvSpPr>
          <p:cNvPr id="4" name="TextBox 3">
            <a:extLst>
              <a:ext uri="{FF2B5EF4-FFF2-40B4-BE49-F238E27FC236}">
                <a16:creationId xmlns:a16="http://schemas.microsoft.com/office/drawing/2014/main" id="{56A5B74F-BA42-0A8B-FF30-9481131F044B}"/>
              </a:ext>
            </a:extLst>
          </p:cNvPr>
          <p:cNvSpPr txBox="1"/>
          <p:nvPr/>
        </p:nvSpPr>
        <p:spPr>
          <a:xfrm>
            <a:off x="1837764" y="5404807"/>
            <a:ext cx="5468164" cy="369332"/>
          </a:xfrm>
          <a:prstGeom prst="rect">
            <a:avLst/>
          </a:prstGeom>
          <a:noFill/>
        </p:spPr>
        <p:txBody>
          <a:bodyPr wrap="none" rtlCol="0">
            <a:spAutoFit/>
          </a:bodyPr>
          <a:lstStyle/>
          <a:p>
            <a:r>
              <a:rPr lang="en-US" dirty="0"/>
              <a:t>Bulk of the procurements will be carried out in FY29</a:t>
            </a:r>
          </a:p>
        </p:txBody>
      </p:sp>
      <p:pic>
        <p:nvPicPr>
          <p:cNvPr id="3074" name="Picture 2">
            <a:extLst>
              <a:ext uri="{FF2B5EF4-FFF2-40B4-BE49-F238E27FC236}">
                <a16:creationId xmlns:a16="http://schemas.microsoft.com/office/drawing/2014/main" id="{AC84CF53-7DB9-E023-6F7B-20CF37EE22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0288" y="906185"/>
            <a:ext cx="8644163" cy="42410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FE9BBA3-977D-2AE4-3C4C-B0EEB85129DB}"/>
              </a:ext>
            </a:extLst>
          </p:cNvPr>
          <p:cNvSpPr>
            <a:spLocks noGrp="1"/>
          </p:cNvSpPr>
          <p:nvPr>
            <p:ph type="title"/>
          </p:nvPr>
        </p:nvSpPr>
        <p:spPr/>
        <p:txBody>
          <a:bodyPr/>
          <a:lstStyle/>
          <a:p>
            <a:r>
              <a:rPr lang="en-US" dirty="0"/>
              <a:t>Staffing and Organization</a:t>
            </a:r>
          </a:p>
        </p:txBody>
      </p:sp>
      <p:sp>
        <p:nvSpPr>
          <p:cNvPr id="2" name="object 11">
            <a:extLst>
              <a:ext uri="{FF2B5EF4-FFF2-40B4-BE49-F238E27FC236}">
                <a16:creationId xmlns:a16="http://schemas.microsoft.com/office/drawing/2014/main" id="{AF2E6D8B-BCE2-DC86-7096-665FD8410CFF}"/>
              </a:ext>
            </a:extLst>
          </p:cNvPr>
          <p:cNvSpPr txBox="1"/>
          <p:nvPr/>
        </p:nvSpPr>
        <p:spPr>
          <a:xfrm>
            <a:off x="10416794" y="404229"/>
            <a:ext cx="1527551"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#3</a:t>
            </a:r>
            <a:endParaRPr sz="2001" dirty="0">
              <a:solidFill>
                <a:srgbClr val="FF0000"/>
              </a:solidFill>
              <a:latin typeface="Arial Narrow"/>
              <a:cs typeface="Arial Narrow"/>
            </a:endParaRPr>
          </a:p>
        </p:txBody>
      </p:sp>
      <p:sp>
        <p:nvSpPr>
          <p:cNvPr id="4" name="Slide Number Placeholder 4">
            <a:extLst>
              <a:ext uri="{FF2B5EF4-FFF2-40B4-BE49-F238E27FC236}">
                <a16:creationId xmlns:a16="http://schemas.microsoft.com/office/drawing/2014/main" id="{04B8717E-0831-54D2-831D-CE0628230457}"/>
              </a:ext>
            </a:extLst>
          </p:cNvPr>
          <p:cNvSpPr>
            <a:spLocks noGrp="1"/>
          </p:cNvSpPr>
          <p:nvPr>
            <p:ph type="sldNum" sz="quarter" idx="4"/>
          </p:nvPr>
        </p:nvSpPr>
        <p:spPr>
          <a:xfrm>
            <a:off x="11451649" y="6533724"/>
            <a:ext cx="432486" cy="294041"/>
          </a:xfrm>
        </p:spPr>
        <p:txBody>
          <a:bodyPr/>
          <a:lstStyle/>
          <a:p>
            <a:fld id="{933A556B-7C63-244D-9B7C-B0EA8042B330}" type="slidenum">
              <a:rPr lang="en-US" smtClean="0"/>
              <a:pPr/>
              <a:t>25</a:t>
            </a:fld>
            <a:endParaRPr lang="en-US" dirty="0"/>
          </a:p>
        </p:txBody>
      </p:sp>
      <p:sp>
        <p:nvSpPr>
          <p:cNvPr id="5" name="TextBox 4">
            <a:extLst>
              <a:ext uri="{FF2B5EF4-FFF2-40B4-BE49-F238E27FC236}">
                <a16:creationId xmlns:a16="http://schemas.microsoft.com/office/drawing/2014/main" id="{2C71D36A-7D45-430B-5C06-2BF7D61F0524}"/>
              </a:ext>
            </a:extLst>
          </p:cNvPr>
          <p:cNvSpPr txBox="1"/>
          <p:nvPr/>
        </p:nvSpPr>
        <p:spPr>
          <a:xfrm>
            <a:off x="1961951" y="4678605"/>
            <a:ext cx="8268097" cy="1354217"/>
          </a:xfrm>
          <a:prstGeom prst="rect">
            <a:avLst/>
          </a:prstGeom>
          <a:noFill/>
        </p:spPr>
        <p:txBody>
          <a:bodyPr wrap="none" rtlCol="0">
            <a:spAutoFit/>
          </a:bodyPr>
          <a:lstStyle/>
          <a:p>
            <a:r>
              <a:rPr lang="en-US" sz="1600" b="1" dirty="0"/>
              <a:t>Trends:</a:t>
            </a:r>
          </a:p>
          <a:p>
            <a:pPr marL="285750" indent="-285750">
              <a:buFont typeface="Arial" panose="020B0604020202020204" pitchFamily="34" charset="0"/>
              <a:buChar char="•"/>
            </a:pPr>
            <a:r>
              <a:rPr lang="en-US" dirty="0"/>
              <a:t>Costed labor per year varies to match workforce and experience needed​</a:t>
            </a:r>
          </a:p>
          <a:p>
            <a:pPr marL="742950" lvl="1" indent="-285750">
              <a:buFont typeface="Arial" panose="020B0604020202020204" pitchFamily="34" charset="0"/>
              <a:buChar char="•"/>
            </a:pPr>
            <a:r>
              <a:rPr lang="en-US" sz="1600" dirty="0"/>
              <a:t>Extraction of HJET polarimeter from IP12 and set up in high bay 510, in progress</a:t>
            </a:r>
          </a:p>
          <a:p>
            <a:pPr marL="742950" lvl="1" indent="-285750">
              <a:buFont typeface="Arial" panose="020B0604020202020204" pitchFamily="34" charset="0"/>
              <a:buChar char="•"/>
            </a:pPr>
            <a:r>
              <a:rPr lang="en-US" sz="1600" dirty="0"/>
              <a:t>Extraction of </a:t>
            </a:r>
            <a:r>
              <a:rPr lang="en-US" sz="1600" dirty="0" err="1"/>
              <a:t>pC</a:t>
            </a:r>
            <a:r>
              <a:rPr lang="en-US" sz="1600" dirty="0"/>
              <a:t> polarimeters from IP12, in progress</a:t>
            </a:r>
          </a:p>
          <a:p>
            <a:pPr marL="742950" lvl="1" indent="-285750">
              <a:buFont typeface="Arial" panose="020B0604020202020204" pitchFamily="34" charset="0"/>
              <a:buChar char="•"/>
            </a:pPr>
            <a:r>
              <a:rPr lang="en-US" sz="1600" dirty="0"/>
              <a:t>Refurbishment of HJET and design of new components, in progress </a:t>
            </a:r>
          </a:p>
        </p:txBody>
      </p:sp>
      <p:pic>
        <p:nvPicPr>
          <p:cNvPr id="4098" name="Picture 2">
            <a:extLst>
              <a:ext uri="{FF2B5EF4-FFF2-40B4-BE49-F238E27FC236}">
                <a16:creationId xmlns:a16="http://schemas.microsoft.com/office/drawing/2014/main" id="{124504F1-D40B-821C-2CB5-212D144929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0885" y="825178"/>
            <a:ext cx="6990229" cy="35479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DDE1C180-E2DD-FAE3-A80E-0CAAC61D34FF}"/>
              </a:ext>
            </a:extLst>
          </p:cNvPr>
          <p:cNvSpPr>
            <a:spLocks noGrp="1"/>
          </p:cNvSpPr>
          <p:nvPr>
            <p:ph type="title"/>
          </p:nvPr>
        </p:nvSpPr>
        <p:spPr/>
        <p:txBody>
          <a:bodyPr/>
          <a:lstStyle/>
          <a:p>
            <a:r>
              <a:rPr lang="en-US" dirty="0"/>
              <a:t>Risks</a:t>
            </a:r>
          </a:p>
        </p:txBody>
      </p:sp>
      <p:sp>
        <p:nvSpPr>
          <p:cNvPr id="3" name="object 11">
            <a:extLst>
              <a:ext uri="{FF2B5EF4-FFF2-40B4-BE49-F238E27FC236}">
                <a16:creationId xmlns:a16="http://schemas.microsoft.com/office/drawing/2014/main" id="{FB7F61A4-A3F9-93AF-4B49-ECEE1BB9C0B3}"/>
              </a:ext>
            </a:extLst>
          </p:cNvPr>
          <p:cNvSpPr txBox="1"/>
          <p:nvPr/>
        </p:nvSpPr>
        <p:spPr>
          <a:xfrm>
            <a:off x="10416794" y="404229"/>
            <a:ext cx="1527551"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#3</a:t>
            </a:r>
            <a:endParaRPr sz="2001" dirty="0">
              <a:solidFill>
                <a:srgbClr val="FF0000"/>
              </a:solidFill>
              <a:latin typeface="Arial Narrow"/>
              <a:cs typeface="Arial Narrow"/>
            </a:endParaRPr>
          </a:p>
        </p:txBody>
      </p:sp>
      <p:sp>
        <p:nvSpPr>
          <p:cNvPr id="6" name="TextBox 5">
            <a:extLst>
              <a:ext uri="{FF2B5EF4-FFF2-40B4-BE49-F238E27FC236}">
                <a16:creationId xmlns:a16="http://schemas.microsoft.com/office/drawing/2014/main" id="{A4608C24-6E58-EA49-C3E1-D1DAC40BEA35}"/>
              </a:ext>
            </a:extLst>
          </p:cNvPr>
          <p:cNvSpPr txBox="1"/>
          <p:nvPr/>
        </p:nvSpPr>
        <p:spPr>
          <a:xfrm>
            <a:off x="681669" y="3647157"/>
            <a:ext cx="11262676" cy="1979966"/>
          </a:xfrm>
          <a:prstGeom prst="rect">
            <a:avLst/>
          </a:prstGeom>
          <a:noFill/>
        </p:spPr>
        <p:txBody>
          <a:bodyPr wrap="square">
            <a:spAutoFit/>
          </a:bodyPr>
          <a:lstStyle/>
          <a:p>
            <a:pPr>
              <a:lnSpc>
                <a:spcPct val="150000"/>
              </a:lnSpc>
              <a:buNone/>
            </a:pPr>
            <a:r>
              <a:rPr lang="en-US" b="1" dirty="0"/>
              <a:t>Clarification of above risk assessment</a:t>
            </a:r>
          </a:p>
          <a:p>
            <a:pPr marL="285750" indent="-285750">
              <a:buFont typeface="Arial" panose="020B0604020202020204" pitchFamily="34" charset="0"/>
              <a:buChar char="•"/>
            </a:pPr>
            <a:r>
              <a:rPr lang="en-US" dirty="0"/>
              <a:t>The hadron polarimeter technology as a whole is applicable to the EIC.</a:t>
            </a:r>
          </a:p>
          <a:p>
            <a:pPr marL="285750" indent="-285750">
              <a:buFont typeface="Arial" panose="020B0604020202020204" pitchFamily="34" charset="0"/>
              <a:buChar char="•"/>
            </a:pPr>
            <a:r>
              <a:rPr lang="en-US" dirty="0"/>
              <a:t>Increased bunch repetition frequency will be addressed with modern, fast detector readout.</a:t>
            </a:r>
          </a:p>
          <a:p>
            <a:pPr marL="285750" indent="-285750">
              <a:buFont typeface="Arial" panose="020B0604020202020204" pitchFamily="34" charset="0"/>
              <a:buChar char="•"/>
            </a:pPr>
            <a:r>
              <a:rPr lang="en-US" dirty="0"/>
              <a:t>C target-related risks are further reduced, as was shown, by the larger beam size at IP4 compared to IP12.</a:t>
            </a:r>
          </a:p>
          <a:p>
            <a:pPr marL="285750" indent="-285750">
              <a:buFont typeface="Arial" panose="020B0604020202020204" pitchFamily="34" charset="0"/>
              <a:buChar char="•"/>
            </a:pPr>
            <a:r>
              <a:rPr lang="en-US" dirty="0"/>
              <a:t>With these mitigation paths, the associated risk can be updated to low.</a:t>
            </a:r>
          </a:p>
          <a:p>
            <a:pPr>
              <a:lnSpc>
                <a:spcPct val="150000"/>
              </a:lnSpc>
            </a:pPr>
            <a:r>
              <a:rPr lang="en-US" b="1" dirty="0"/>
              <a:t>Overall, the previously identified risks in the above ID should be considered to low.</a:t>
            </a:r>
          </a:p>
        </p:txBody>
      </p:sp>
      <p:sp>
        <p:nvSpPr>
          <p:cNvPr id="2" name="Slide Number Placeholder 4">
            <a:extLst>
              <a:ext uri="{FF2B5EF4-FFF2-40B4-BE49-F238E27FC236}">
                <a16:creationId xmlns:a16="http://schemas.microsoft.com/office/drawing/2014/main" id="{13548CEC-5CA8-D9CB-D94B-0DC96729762C}"/>
              </a:ext>
            </a:extLst>
          </p:cNvPr>
          <p:cNvSpPr>
            <a:spLocks noGrp="1"/>
          </p:cNvSpPr>
          <p:nvPr>
            <p:ph type="sldNum" sz="quarter" idx="4"/>
          </p:nvPr>
        </p:nvSpPr>
        <p:spPr>
          <a:xfrm>
            <a:off x="11451649" y="6533724"/>
            <a:ext cx="432486" cy="294041"/>
          </a:xfrm>
        </p:spPr>
        <p:txBody>
          <a:bodyPr/>
          <a:lstStyle/>
          <a:p>
            <a:fld id="{933A556B-7C63-244D-9B7C-B0EA8042B330}" type="slidenum">
              <a:rPr lang="en-US" smtClean="0"/>
              <a:pPr/>
              <a:t>26</a:t>
            </a:fld>
            <a:endParaRPr lang="en-US" dirty="0"/>
          </a:p>
        </p:txBody>
      </p:sp>
      <p:pic>
        <p:nvPicPr>
          <p:cNvPr id="3074" name="Picture 2">
            <a:extLst>
              <a:ext uri="{FF2B5EF4-FFF2-40B4-BE49-F238E27FC236}">
                <a16:creationId xmlns:a16="http://schemas.microsoft.com/office/drawing/2014/main" id="{AAE9D259-A510-4090-43CE-13032A0C1A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669" y="1029337"/>
            <a:ext cx="11041226" cy="218150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17"/>
          <p:cNvSpPr txBox="1"/>
          <p:nvPr/>
        </p:nvSpPr>
        <p:spPr>
          <a:xfrm>
            <a:off x="10430749" y="438977"/>
            <a:ext cx="1527551" cy="335123"/>
          </a:xfrm>
          <a:prstGeom prst="rect">
            <a:avLst/>
          </a:prstGeom>
          <a:solidFill>
            <a:srgbClr val="CCCCCC"/>
          </a:solidFill>
          <a:ln w="10470">
            <a:solidFill>
              <a:srgbClr val="1A2A5B"/>
            </a:solidFill>
          </a:ln>
        </p:spPr>
        <p:txBody>
          <a:bodyPr vert="horz" wrap="square" lIns="0" tIns="26955" rIns="0" bIns="0" rtlCol="0">
            <a:spAutoFit/>
          </a:bodyPr>
          <a:lstStyle/>
          <a:p>
            <a:pPr marL="253757">
              <a:spcBef>
                <a:spcPts val="212"/>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82" dirty="0">
                <a:solidFill>
                  <a:srgbClr val="1A2A5B"/>
                </a:solidFill>
                <a:latin typeface="Arial Narrow"/>
                <a:cs typeface="Arial Narrow"/>
              </a:rPr>
              <a:t>#3</a:t>
            </a:r>
            <a:endParaRPr sz="2001" dirty="0">
              <a:latin typeface="Arial Narrow"/>
              <a:cs typeface="Arial Narrow"/>
            </a:endParaRPr>
          </a:p>
        </p:txBody>
      </p:sp>
      <p:sp>
        <p:nvSpPr>
          <p:cNvPr id="20" name="Title 19">
            <a:extLst>
              <a:ext uri="{FF2B5EF4-FFF2-40B4-BE49-F238E27FC236}">
                <a16:creationId xmlns:a16="http://schemas.microsoft.com/office/drawing/2014/main" id="{839F0A96-D5F4-17C3-4162-DD17142DBE3B}"/>
              </a:ext>
            </a:extLst>
          </p:cNvPr>
          <p:cNvSpPr>
            <a:spLocks noGrp="1"/>
          </p:cNvSpPr>
          <p:nvPr>
            <p:ph type="title"/>
          </p:nvPr>
        </p:nvSpPr>
        <p:spPr/>
        <p:txBody>
          <a:bodyPr/>
          <a:lstStyle/>
          <a:p>
            <a:r>
              <a:rPr lang="en-US" dirty="0"/>
              <a:t>Basis of Estimate</a:t>
            </a:r>
          </a:p>
        </p:txBody>
      </p:sp>
      <p:sp>
        <p:nvSpPr>
          <p:cNvPr id="2" name="Slide Number Placeholder 4">
            <a:extLst>
              <a:ext uri="{FF2B5EF4-FFF2-40B4-BE49-F238E27FC236}">
                <a16:creationId xmlns:a16="http://schemas.microsoft.com/office/drawing/2014/main" id="{8DA58327-9B62-CB5F-8F7A-EBBF797413B7}"/>
              </a:ext>
            </a:extLst>
          </p:cNvPr>
          <p:cNvSpPr>
            <a:spLocks noGrp="1"/>
          </p:cNvSpPr>
          <p:nvPr>
            <p:ph type="sldNum" sz="quarter" idx="4"/>
          </p:nvPr>
        </p:nvSpPr>
        <p:spPr>
          <a:xfrm>
            <a:off x="11451649" y="6533724"/>
            <a:ext cx="432486" cy="294041"/>
          </a:xfrm>
        </p:spPr>
        <p:txBody>
          <a:bodyPr/>
          <a:lstStyle/>
          <a:p>
            <a:fld id="{933A556B-7C63-244D-9B7C-B0EA8042B330}" type="slidenum">
              <a:rPr lang="en-US" smtClean="0"/>
              <a:pPr/>
              <a:t>27</a:t>
            </a:fld>
            <a:endParaRPr lang="en-US" dirty="0"/>
          </a:p>
        </p:txBody>
      </p:sp>
      <p:sp>
        <p:nvSpPr>
          <p:cNvPr id="4" name="TextBox 3">
            <a:extLst>
              <a:ext uri="{FF2B5EF4-FFF2-40B4-BE49-F238E27FC236}">
                <a16:creationId xmlns:a16="http://schemas.microsoft.com/office/drawing/2014/main" id="{742467C9-9716-4672-0B49-9F75C46CF7EE}"/>
              </a:ext>
            </a:extLst>
          </p:cNvPr>
          <p:cNvSpPr txBox="1"/>
          <p:nvPr/>
        </p:nvSpPr>
        <p:spPr>
          <a:xfrm>
            <a:off x="1592163" y="5240744"/>
            <a:ext cx="6286721" cy="646331"/>
          </a:xfrm>
          <a:prstGeom prst="rect">
            <a:avLst/>
          </a:prstGeom>
          <a:noFill/>
        </p:spPr>
        <p:txBody>
          <a:bodyPr wrap="none" rtlCol="0">
            <a:spAutoFit/>
          </a:bodyPr>
          <a:lstStyle/>
          <a:p>
            <a:pPr marL="285750" indent="-285750">
              <a:buFont typeface="Arial" panose="020B0604020202020204" pitchFamily="34" charset="0"/>
              <a:buChar char="•"/>
            </a:pPr>
            <a:r>
              <a:rPr lang="en-US" dirty="0"/>
              <a:t>Labor and nonlabor roughly equal</a:t>
            </a:r>
          </a:p>
          <a:p>
            <a:pPr marL="285750" indent="-285750">
              <a:buFont typeface="Arial" panose="020B0604020202020204" pitchFamily="34" charset="0"/>
              <a:buChar char="•"/>
            </a:pPr>
            <a:r>
              <a:rPr lang="en-US" dirty="0"/>
              <a:t>Most of BOE based on prior experience at BNL and JLab</a:t>
            </a:r>
          </a:p>
        </p:txBody>
      </p:sp>
      <p:pic>
        <p:nvPicPr>
          <p:cNvPr id="5122" name="Picture 2">
            <a:extLst>
              <a:ext uri="{FF2B5EF4-FFF2-40B4-BE49-F238E27FC236}">
                <a16:creationId xmlns:a16="http://schemas.microsoft.com/office/drawing/2014/main" id="{4F0FE388-13D5-9800-9D83-68FE275DC9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5717" y="970925"/>
            <a:ext cx="9000565" cy="41205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2CF0DC-FCCB-F2FF-61F9-62AC92361448}"/>
              </a:ext>
            </a:extLst>
          </p:cNvPr>
          <p:cNvSpPr>
            <a:spLocks noGrp="1"/>
          </p:cNvSpPr>
          <p:nvPr>
            <p:ph type="sldNum" sz="quarter" idx="4"/>
          </p:nvPr>
        </p:nvSpPr>
        <p:spPr/>
        <p:txBody>
          <a:bodyPr/>
          <a:lstStyle/>
          <a:p>
            <a:fld id="{933A556B-7C63-244D-9B7C-B0EA8042B330}" type="slidenum">
              <a:rPr lang="en-US" smtClean="0"/>
              <a:pPr/>
              <a:t>28</a:t>
            </a:fld>
            <a:endParaRPr lang="en-US"/>
          </a:p>
        </p:txBody>
      </p:sp>
      <p:sp>
        <p:nvSpPr>
          <p:cNvPr id="5" name="Title 22">
            <a:extLst>
              <a:ext uri="{FF2B5EF4-FFF2-40B4-BE49-F238E27FC236}">
                <a16:creationId xmlns:a16="http://schemas.microsoft.com/office/drawing/2014/main" id="{B6D85A3B-D510-8BE5-315F-90FAB6AECAE7}"/>
              </a:ext>
            </a:extLst>
          </p:cNvPr>
          <p:cNvSpPr txBox="1">
            <a:spLocks/>
          </p:cNvSpPr>
          <p:nvPr/>
        </p:nvSpPr>
        <p:spPr>
          <a:xfrm>
            <a:off x="462579" y="0"/>
            <a:ext cx="9837867" cy="82517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000" b="1" u="none" kern="1200">
                <a:solidFill>
                  <a:schemeClr val="tx1"/>
                </a:solidFill>
                <a:latin typeface="+mn-lt"/>
                <a:ea typeface="+mj-ea"/>
                <a:cs typeface="+mj-cs"/>
              </a:defRPr>
            </a:lvl1pPr>
          </a:lstStyle>
          <a:p>
            <a:r>
              <a:rPr lang="en-US" dirty="0"/>
              <a:t>Cost Trace (Hadron Polarimetry)</a:t>
            </a:r>
          </a:p>
        </p:txBody>
      </p:sp>
      <p:sp>
        <p:nvSpPr>
          <p:cNvPr id="4" name="object 14">
            <a:extLst>
              <a:ext uri="{FF2B5EF4-FFF2-40B4-BE49-F238E27FC236}">
                <a16:creationId xmlns:a16="http://schemas.microsoft.com/office/drawing/2014/main" id="{DEA35251-CFEF-DA19-CDDF-9110FFD152DE}"/>
              </a:ext>
            </a:extLst>
          </p:cNvPr>
          <p:cNvSpPr txBox="1"/>
          <p:nvPr/>
        </p:nvSpPr>
        <p:spPr>
          <a:xfrm>
            <a:off x="10443883" y="364326"/>
            <a:ext cx="1527551" cy="335123"/>
          </a:xfrm>
          <a:prstGeom prst="rect">
            <a:avLst/>
          </a:prstGeom>
          <a:solidFill>
            <a:srgbClr val="CCCCCC"/>
          </a:solidFill>
          <a:ln w="10470">
            <a:solidFill>
              <a:srgbClr val="1A2A5B"/>
            </a:solidFill>
          </a:ln>
        </p:spPr>
        <p:txBody>
          <a:bodyPr vert="horz" wrap="square" lIns="0" tIns="26955" rIns="0" bIns="0" rtlCol="0">
            <a:spAutoFit/>
          </a:bodyPr>
          <a:lstStyle/>
          <a:p>
            <a:pPr marL="253757">
              <a:spcBef>
                <a:spcPts val="212"/>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82" dirty="0">
                <a:solidFill>
                  <a:srgbClr val="1A2A5B"/>
                </a:solidFill>
                <a:latin typeface="Arial Narrow"/>
                <a:cs typeface="Arial Narrow"/>
              </a:rPr>
              <a:t>#3</a:t>
            </a:r>
            <a:endParaRPr sz="2001" dirty="0">
              <a:latin typeface="Arial Narrow"/>
              <a:cs typeface="Arial Narrow"/>
            </a:endParaRPr>
          </a:p>
        </p:txBody>
      </p:sp>
      <p:sp>
        <p:nvSpPr>
          <p:cNvPr id="8" name="TextBox 7">
            <a:extLst>
              <a:ext uri="{FF2B5EF4-FFF2-40B4-BE49-F238E27FC236}">
                <a16:creationId xmlns:a16="http://schemas.microsoft.com/office/drawing/2014/main" id="{78B02B72-748E-E223-F117-107DEB30BC11}"/>
              </a:ext>
            </a:extLst>
          </p:cNvPr>
          <p:cNvSpPr txBox="1"/>
          <p:nvPr/>
        </p:nvSpPr>
        <p:spPr>
          <a:xfrm>
            <a:off x="462579" y="884721"/>
            <a:ext cx="6008594" cy="830997"/>
          </a:xfrm>
          <a:prstGeom prst="rect">
            <a:avLst/>
          </a:prstGeom>
          <a:noFill/>
        </p:spPr>
        <p:txBody>
          <a:bodyPr wrap="square" rtlCol="0">
            <a:spAutoFit/>
          </a:bodyPr>
          <a:lstStyle/>
          <a:p>
            <a:r>
              <a:rPr lang="en-US" sz="1600" b="1" dirty="0"/>
              <a:t>WBS:</a:t>
            </a:r>
            <a:r>
              <a:rPr lang="en-US" sz="1600" dirty="0"/>
              <a:t> 6.03.01.11.02.01 E1014_05360</a:t>
            </a:r>
            <a:br>
              <a:rPr lang="en-US" sz="1600" dirty="0"/>
            </a:br>
            <a:r>
              <a:rPr lang="en-US" sz="1600" b="1" dirty="0"/>
              <a:t>Item:</a:t>
            </a:r>
            <a:r>
              <a:rPr lang="en-US" sz="1600" dirty="0"/>
              <a:t> HJET vacuum system - 19 pumps with controllers - RCV</a:t>
            </a:r>
            <a:br>
              <a:rPr lang="en-US" sz="1600" dirty="0"/>
            </a:br>
            <a:r>
              <a:rPr lang="en-US" sz="1600" b="1" dirty="0"/>
              <a:t>Estimated Total: $500,000</a:t>
            </a:r>
            <a:endParaRPr lang="en-US" sz="1600" dirty="0"/>
          </a:p>
        </p:txBody>
      </p:sp>
      <p:pic>
        <p:nvPicPr>
          <p:cNvPr id="6149" name="Picture 5">
            <a:extLst>
              <a:ext uri="{FF2B5EF4-FFF2-40B4-BE49-F238E27FC236}">
                <a16:creationId xmlns:a16="http://schemas.microsoft.com/office/drawing/2014/main" id="{D8082B13-53D5-B2EC-49DB-242678D640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2708" y="3357457"/>
            <a:ext cx="3381427" cy="264878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49CF04CE-31CA-0999-5309-009AAF7AAC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31291" y="1374063"/>
            <a:ext cx="2336601" cy="303126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6147" name="Picture 3">
            <a:extLst>
              <a:ext uri="{FF2B5EF4-FFF2-40B4-BE49-F238E27FC236}">
                <a16:creationId xmlns:a16="http://schemas.microsoft.com/office/drawing/2014/main" id="{816D99BB-E261-BAA1-1CE4-6F3BDE6E68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15554" y="1000286"/>
            <a:ext cx="2307258" cy="299319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7860C37-476A-3F2A-F61A-94CC2F571BCC}"/>
                  </a:ext>
                </a:extLst>
              </p:cNvPr>
              <p:cNvSpPr txBox="1"/>
              <p:nvPr/>
            </p:nvSpPr>
            <p:spPr>
              <a:xfrm>
                <a:off x="524108" y="1712055"/>
                <a:ext cx="7308867" cy="1569660"/>
              </a:xfrm>
              <a:prstGeom prst="rect">
                <a:avLst/>
              </a:prstGeom>
              <a:noFill/>
              <a:ln>
                <a:solidFill>
                  <a:schemeClr val="tx1"/>
                </a:solidFill>
              </a:ln>
            </p:spPr>
            <p:txBody>
              <a:bodyPr wrap="square" rtlCol="0">
                <a:spAutoFit/>
              </a:bodyPr>
              <a:lstStyle/>
              <a:p>
                <a:r>
                  <a:rPr lang="en-US" sz="1200" b="1" dirty="0"/>
                  <a:t>Basis of Estimate: </a:t>
                </a:r>
                <a:r>
                  <a:rPr lang="en-US" sz="1200" dirty="0"/>
                  <a:t>HJET vacuum system requires replacement of high-vacuum turbo molecular pumps that maintain required vacuum levels in target chamber and beamline sections. System will utilize existing rack controllers where possible, with new controllers provided only for pump stations where existing units are incompatible or have failed. </a:t>
                </a:r>
                <a:r>
                  <a:rPr lang="en-US" sz="1200" dirty="0" err="1"/>
                  <a:t>TriScroll</a:t>
                </a:r>
                <a:r>
                  <a:rPr lang="en-US" sz="1200" dirty="0"/>
                  <a:t> backing pumps will be replaced partially based on condition assessment.</a:t>
                </a:r>
              </a:p>
              <a:p>
                <a:pPr marL="171450" indent="-171450">
                  <a:buFont typeface="Arial" panose="020B0604020202020204" pitchFamily="34" charset="0"/>
                  <a:buChar char="•"/>
                </a:pPr>
                <a:r>
                  <a:rPr lang="en-US" sz="1200" dirty="0"/>
                  <a:t>Recent offer from Agilent (2025) lists turbo pump replacements and scroll pump replacements. </a:t>
                </a:r>
              </a:p>
              <a:p>
                <a:pPr marL="171450" indent="-171450">
                  <a:buFont typeface="Arial" panose="020B0604020202020204" pitchFamily="34" charset="0"/>
                  <a:buChar char="•"/>
                </a:pPr>
                <a:r>
                  <a:rPr lang="en-US" sz="1200" dirty="0"/>
                  <a:t>Existing rack controllers can control newer turbo pumps </a:t>
                </a:r>
                <a14:m>
                  <m:oMath xmlns:m="http://schemas.openxmlformats.org/officeDocument/2006/math">
                    <m:r>
                      <a:rPr lang="en-US" sz="1200" i="1" smtClean="0">
                        <a:latin typeface="Cambria Math" panose="02040503050406030204" pitchFamily="18" charset="0"/>
                        <a:ea typeface="Cambria Math" panose="02040503050406030204" pitchFamily="18" charset="0"/>
                      </a:rPr>
                      <m:t>→</m:t>
                    </m:r>
                  </m:oMath>
                </a14:m>
                <a:r>
                  <a:rPr lang="en-US" sz="1200" dirty="0"/>
                  <a:t> not all controllers need to be replaced. </a:t>
                </a:r>
              </a:p>
              <a:p>
                <a:pPr marL="171450" indent="-171450">
                  <a:buFont typeface="Arial" panose="020B0604020202020204" pitchFamily="34" charset="0"/>
                  <a:buChar char="•"/>
                </a:pPr>
                <a:r>
                  <a:rPr lang="en-US" sz="1200" dirty="0" err="1"/>
                  <a:t>TriScroll</a:t>
                </a:r>
                <a:r>
                  <a:rPr lang="en-US" sz="1200" dirty="0"/>
                  <a:t> pumps need to be replaced partially.</a:t>
                </a:r>
              </a:p>
            </p:txBody>
          </p:sp>
        </mc:Choice>
        <mc:Fallback xmlns="">
          <p:sp>
            <p:nvSpPr>
              <p:cNvPr id="17" name="TextBox 16">
                <a:extLst>
                  <a:ext uri="{FF2B5EF4-FFF2-40B4-BE49-F238E27FC236}">
                    <a16:creationId xmlns:a16="http://schemas.microsoft.com/office/drawing/2014/main" id="{D7860C37-476A-3F2A-F61A-94CC2F571BCC}"/>
                  </a:ext>
                </a:extLst>
              </p:cNvPr>
              <p:cNvSpPr txBox="1">
                <a:spLocks noRot="1" noChangeAspect="1" noMove="1" noResize="1" noEditPoints="1" noAdjustHandles="1" noChangeArrowheads="1" noChangeShapeType="1" noTextEdit="1"/>
              </p:cNvSpPr>
              <p:nvPr/>
            </p:nvSpPr>
            <p:spPr>
              <a:xfrm>
                <a:off x="524108" y="1712055"/>
                <a:ext cx="7308867" cy="1569660"/>
              </a:xfrm>
              <a:prstGeom prst="rect">
                <a:avLst/>
              </a:prstGeom>
              <a:blipFill>
                <a:blip r:embed="rId6"/>
                <a:stretch>
                  <a:fillRect b="-1600"/>
                </a:stretch>
              </a:blipFill>
              <a:ln>
                <a:solidFill>
                  <a:schemeClr val="tx1"/>
                </a:solidFill>
              </a:ln>
            </p:spPr>
            <p:txBody>
              <a:bodyPr/>
              <a:lstStyle/>
              <a:p>
                <a:r>
                  <a:rPr lang="en-US">
                    <a:noFill/>
                  </a:rPr>
                  <a:t> </a:t>
                </a:r>
              </a:p>
            </p:txBody>
          </p:sp>
        </mc:Fallback>
      </mc:AlternateContent>
      <p:graphicFrame>
        <p:nvGraphicFramePr>
          <p:cNvPr id="20" name="Table 19">
            <a:extLst>
              <a:ext uri="{FF2B5EF4-FFF2-40B4-BE49-F238E27FC236}">
                <a16:creationId xmlns:a16="http://schemas.microsoft.com/office/drawing/2014/main" id="{3B025BC6-3B90-BD00-B329-A5700394F5E5}"/>
              </a:ext>
            </a:extLst>
          </p:cNvPr>
          <p:cNvGraphicFramePr>
            <a:graphicFrameLocks noGrp="1"/>
          </p:cNvGraphicFramePr>
          <p:nvPr>
            <p:extLst>
              <p:ext uri="{D42A27DB-BD31-4B8C-83A1-F6EECF244321}">
                <p14:modId xmlns:p14="http://schemas.microsoft.com/office/powerpoint/2010/main" val="3643622949"/>
              </p:ext>
            </p:extLst>
          </p:nvPr>
        </p:nvGraphicFramePr>
        <p:xfrm>
          <a:off x="524108" y="3730174"/>
          <a:ext cx="7185520" cy="2295489"/>
        </p:xfrm>
        <a:graphic>
          <a:graphicData uri="http://schemas.openxmlformats.org/drawingml/2006/table">
            <a:tbl>
              <a:tblPr firstRow="1" bandRow="1">
                <a:tableStyleId>{8EC20E35-A176-4012-BC5E-935CFFF8708E}</a:tableStyleId>
              </a:tblPr>
              <a:tblGrid>
                <a:gridCol w="3632488">
                  <a:extLst>
                    <a:ext uri="{9D8B030D-6E8A-4147-A177-3AD203B41FA5}">
                      <a16:colId xmlns:a16="http://schemas.microsoft.com/office/drawing/2014/main" val="2406695169"/>
                    </a:ext>
                  </a:extLst>
                </a:gridCol>
                <a:gridCol w="862717">
                  <a:extLst>
                    <a:ext uri="{9D8B030D-6E8A-4147-A177-3AD203B41FA5}">
                      <a16:colId xmlns:a16="http://schemas.microsoft.com/office/drawing/2014/main" val="2600762587"/>
                    </a:ext>
                  </a:extLst>
                </a:gridCol>
                <a:gridCol w="1702730">
                  <a:extLst>
                    <a:ext uri="{9D8B030D-6E8A-4147-A177-3AD203B41FA5}">
                      <a16:colId xmlns:a16="http://schemas.microsoft.com/office/drawing/2014/main" val="3727508170"/>
                    </a:ext>
                  </a:extLst>
                </a:gridCol>
                <a:gridCol w="987585">
                  <a:extLst>
                    <a:ext uri="{9D8B030D-6E8A-4147-A177-3AD203B41FA5}">
                      <a16:colId xmlns:a16="http://schemas.microsoft.com/office/drawing/2014/main" val="733341825"/>
                    </a:ext>
                  </a:extLst>
                </a:gridCol>
              </a:tblGrid>
              <a:tr h="254123">
                <a:tc>
                  <a:txBody>
                    <a:bodyPr/>
                    <a:lstStyle/>
                    <a:p>
                      <a:pPr>
                        <a:buNone/>
                      </a:pPr>
                      <a:r>
                        <a:rPr lang="en-US" sz="1200">
                          <a:solidFill>
                            <a:schemeClr val="tx1"/>
                          </a:solidFill>
                        </a:rPr>
                        <a:t>Item</a:t>
                      </a:r>
                    </a:p>
                  </a:txBody>
                  <a:tcPr anchor="ctr">
                    <a:noFill/>
                  </a:tcPr>
                </a:tc>
                <a:tc>
                  <a:txBody>
                    <a:bodyPr/>
                    <a:lstStyle/>
                    <a:p>
                      <a:pPr>
                        <a:buNone/>
                      </a:pPr>
                      <a:r>
                        <a:rPr lang="en-US" sz="1200" dirty="0">
                          <a:solidFill>
                            <a:schemeClr val="tx1"/>
                          </a:solidFill>
                        </a:rPr>
                        <a:t>Qty</a:t>
                      </a:r>
                    </a:p>
                  </a:txBody>
                  <a:tcPr anchor="ctr">
                    <a:noFill/>
                  </a:tcPr>
                </a:tc>
                <a:tc>
                  <a:txBody>
                    <a:bodyPr/>
                    <a:lstStyle/>
                    <a:p>
                      <a:pPr>
                        <a:buNone/>
                      </a:pPr>
                      <a:r>
                        <a:rPr lang="en-US" sz="1200">
                          <a:solidFill>
                            <a:schemeClr val="tx1"/>
                          </a:solidFill>
                        </a:rPr>
                        <a:t>Unit Price</a:t>
                      </a:r>
                    </a:p>
                  </a:txBody>
                  <a:tcPr anchor="ctr">
                    <a:noFill/>
                  </a:tcPr>
                </a:tc>
                <a:tc>
                  <a:txBody>
                    <a:bodyPr/>
                    <a:lstStyle/>
                    <a:p>
                      <a:pPr>
                        <a:buNone/>
                      </a:pPr>
                      <a:r>
                        <a:rPr lang="en-US" sz="1200">
                          <a:solidFill>
                            <a:schemeClr val="tx1"/>
                          </a:solidFill>
                        </a:rPr>
                        <a:t>Total</a:t>
                      </a:r>
                    </a:p>
                  </a:txBody>
                  <a:tcPr anchor="ctr">
                    <a:noFill/>
                  </a:tcPr>
                </a:tc>
                <a:extLst>
                  <a:ext uri="{0D108BD9-81ED-4DB2-BD59-A6C34878D82A}">
                    <a16:rowId xmlns:a16="http://schemas.microsoft.com/office/drawing/2014/main" val="2934020976"/>
                  </a:ext>
                </a:extLst>
              </a:tr>
              <a:tr h="254123">
                <a:tc>
                  <a:txBody>
                    <a:bodyPr/>
                    <a:lstStyle/>
                    <a:p>
                      <a:pPr>
                        <a:buNone/>
                      </a:pPr>
                      <a:r>
                        <a:rPr lang="en-US" sz="1200">
                          <a:solidFill>
                            <a:schemeClr val="tx1"/>
                          </a:solidFill>
                        </a:rPr>
                        <a:t>TURBO-V1001 pumps</a:t>
                      </a:r>
                    </a:p>
                  </a:txBody>
                  <a:tcPr anchor="ctr">
                    <a:noFill/>
                  </a:tcPr>
                </a:tc>
                <a:tc>
                  <a:txBody>
                    <a:bodyPr/>
                    <a:lstStyle/>
                    <a:p>
                      <a:pPr>
                        <a:buNone/>
                      </a:pPr>
                      <a:r>
                        <a:rPr lang="en-US" sz="1200">
                          <a:solidFill>
                            <a:schemeClr val="tx1"/>
                          </a:solidFill>
                        </a:rPr>
                        <a:t>19</a:t>
                      </a:r>
                    </a:p>
                  </a:txBody>
                  <a:tcPr anchor="ctr">
                    <a:noFill/>
                  </a:tcPr>
                </a:tc>
                <a:tc>
                  <a:txBody>
                    <a:bodyPr/>
                    <a:lstStyle/>
                    <a:p>
                      <a:pPr>
                        <a:buNone/>
                      </a:pPr>
                      <a:r>
                        <a:rPr lang="en-US" sz="1200">
                          <a:solidFill>
                            <a:schemeClr val="tx1"/>
                          </a:solidFill>
                        </a:rPr>
                        <a:t>$19,225</a:t>
                      </a:r>
                    </a:p>
                  </a:txBody>
                  <a:tcPr anchor="ctr">
                    <a:noFill/>
                  </a:tcPr>
                </a:tc>
                <a:tc>
                  <a:txBody>
                    <a:bodyPr/>
                    <a:lstStyle/>
                    <a:p>
                      <a:pPr>
                        <a:buNone/>
                      </a:pPr>
                      <a:r>
                        <a:rPr lang="en-US" sz="1200">
                          <a:solidFill>
                            <a:schemeClr val="tx1"/>
                          </a:solidFill>
                        </a:rPr>
                        <a:t>$365,276</a:t>
                      </a:r>
                    </a:p>
                  </a:txBody>
                  <a:tcPr anchor="ctr">
                    <a:noFill/>
                  </a:tcPr>
                </a:tc>
                <a:extLst>
                  <a:ext uri="{0D108BD9-81ED-4DB2-BD59-A6C34878D82A}">
                    <a16:rowId xmlns:a16="http://schemas.microsoft.com/office/drawing/2014/main" val="1283069754"/>
                  </a:ext>
                </a:extLst>
              </a:tr>
              <a:tr h="254123">
                <a:tc>
                  <a:txBody>
                    <a:bodyPr/>
                    <a:lstStyle/>
                    <a:p>
                      <a:pPr>
                        <a:buNone/>
                      </a:pPr>
                      <a:r>
                        <a:rPr lang="en-US" sz="1200">
                          <a:solidFill>
                            <a:schemeClr val="tx1"/>
                          </a:solidFill>
                        </a:rPr>
                        <a:t>Turbo 1001 rack controllers</a:t>
                      </a:r>
                    </a:p>
                  </a:txBody>
                  <a:tcPr anchor="ctr">
                    <a:noFill/>
                  </a:tcPr>
                </a:tc>
                <a:tc>
                  <a:txBody>
                    <a:bodyPr/>
                    <a:lstStyle/>
                    <a:p>
                      <a:pPr>
                        <a:buNone/>
                      </a:pPr>
                      <a:r>
                        <a:rPr lang="en-US" sz="1200" dirty="0">
                          <a:solidFill>
                            <a:schemeClr val="tx1"/>
                          </a:solidFill>
                        </a:rPr>
                        <a:t>5</a:t>
                      </a:r>
                    </a:p>
                  </a:txBody>
                  <a:tcPr anchor="ctr">
                    <a:noFill/>
                  </a:tcPr>
                </a:tc>
                <a:tc>
                  <a:txBody>
                    <a:bodyPr/>
                    <a:lstStyle/>
                    <a:p>
                      <a:pPr>
                        <a:buNone/>
                      </a:pPr>
                      <a:r>
                        <a:rPr lang="en-US" sz="1200">
                          <a:solidFill>
                            <a:schemeClr val="tx1"/>
                          </a:solidFill>
                        </a:rPr>
                        <a:t>$4,675</a:t>
                      </a:r>
                    </a:p>
                  </a:txBody>
                  <a:tcPr anchor="ctr">
                    <a:noFill/>
                  </a:tcPr>
                </a:tc>
                <a:tc>
                  <a:txBody>
                    <a:bodyPr/>
                    <a:lstStyle/>
                    <a:p>
                      <a:pPr>
                        <a:buNone/>
                      </a:pPr>
                      <a:r>
                        <a:rPr lang="en-US" sz="1200">
                          <a:solidFill>
                            <a:schemeClr val="tx1"/>
                          </a:solidFill>
                        </a:rPr>
                        <a:t>$23,374</a:t>
                      </a:r>
                    </a:p>
                  </a:txBody>
                  <a:tcPr anchor="ctr">
                    <a:noFill/>
                  </a:tcPr>
                </a:tc>
                <a:extLst>
                  <a:ext uri="{0D108BD9-81ED-4DB2-BD59-A6C34878D82A}">
                    <a16:rowId xmlns:a16="http://schemas.microsoft.com/office/drawing/2014/main" val="1975934275"/>
                  </a:ext>
                </a:extLst>
              </a:tr>
              <a:tr h="254123">
                <a:tc>
                  <a:txBody>
                    <a:bodyPr/>
                    <a:lstStyle/>
                    <a:p>
                      <a:pPr>
                        <a:buNone/>
                      </a:pPr>
                      <a:r>
                        <a:rPr lang="en-US" sz="1200">
                          <a:solidFill>
                            <a:schemeClr val="tx1"/>
                          </a:solidFill>
                        </a:rPr>
                        <a:t>TRISCROLL 600 backing pumps</a:t>
                      </a:r>
                    </a:p>
                  </a:txBody>
                  <a:tcPr anchor="ctr">
                    <a:noFill/>
                  </a:tcPr>
                </a:tc>
                <a:tc>
                  <a:txBody>
                    <a:bodyPr/>
                    <a:lstStyle/>
                    <a:p>
                      <a:pPr>
                        <a:buNone/>
                      </a:pPr>
                      <a:r>
                        <a:rPr lang="en-US" sz="1200">
                          <a:solidFill>
                            <a:schemeClr val="tx1"/>
                          </a:solidFill>
                        </a:rPr>
                        <a:t>5</a:t>
                      </a:r>
                    </a:p>
                  </a:txBody>
                  <a:tcPr anchor="ctr">
                    <a:noFill/>
                  </a:tcPr>
                </a:tc>
                <a:tc>
                  <a:txBody>
                    <a:bodyPr/>
                    <a:lstStyle/>
                    <a:p>
                      <a:pPr>
                        <a:buNone/>
                      </a:pPr>
                      <a:r>
                        <a:rPr lang="en-US" sz="1200" dirty="0">
                          <a:solidFill>
                            <a:schemeClr val="tx1"/>
                          </a:solidFill>
                        </a:rPr>
                        <a:t>$9,400</a:t>
                      </a:r>
                    </a:p>
                  </a:txBody>
                  <a:tcPr anchor="ctr">
                    <a:noFill/>
                  </a:tcPr>
                </a:tc>
                <a:tc>
                  <a:txBody>
                    <a:bodyPr/>
                    <a:lstStyle/>
                    <a:p>
                      <a:pPr>
                        <a:buNone/>
                      </a:pPr>
                      <a:r>
                        <a:rPr lang="en-US" sz="1200">
                          <a:solidFill>
                            <a:schemeClr val="tx1"/>
                          </a:solidFill>
                        </a:rPr>
                        <a:t>$47,000</a:t>
                      </a:r>
                    </a:p>
                  </a:txBody>
                  <a:tcPr anchor="ctr">
                    <a:noFill/>
                  </a:tcPr>
                </a:tc>
                <a:extLst>
                  <a:ext uri="{0D108BD9-81ED-4DB2-BD59-A6C34878D82A}">
                    <a16:rowId xmlns:a16="http://schemas.microsoft.com/office/drawing/2014/main" val="2871056253"/>
                  </a:ext>
                </a:extLst>
              </a:tr>
              <a:tr h="254123">
                <a:tc>
                  <a:txBody>
                    <a:bodyPr/>
                    <a:lstStyle/>
                    <a:p>
                      <a:pPr>
                        <a:buNone/>
                      </a:pPr>
                      <a:r>
                        <a:rPr lang="en-US" sz="1200" dirty="0">
                          <a:solidFill>
                            <a:schemeClr val="tx1"/>
                          </a:solidFill>
                        </a:rPr>
                        <a:t>Accessories (cables, screens, cooling kits)</a:t>
                      </a:r>
                    </a:p>
                  </a:txBody>
                  <a:tcPr anchor="ctr">
                    <a:noFill/>
                  </a:tcPr>
                </a:tc>
                <a:tc>
                  <a:txBody>
                    <a:bodyPr/>
                    <a:lstStyle/>
                    <a:p>
                      <a:pPr>
                        <a:buNone/>
                      </a:pPr>
                      <a:r>
                        <a:rPr lang="en-US" sz="1200">
                          <a:solidFill>
                            <a:schemeClr val="tx1"/>
                          </a:solidFill>
                        </a:rPr>
                        <a:t>19 sets</a:t>
                      </a:r>
                    </a:p>
                  </a:txBody>
                  <a:tcPr anchor="ctr">
                    <a:noFill/>
                  </a:tcPr>
                </a:tc>
                <a:tc>
                  <a:txBody>
                    <a:bodyPr/>
                    <a:lstStyle/>
                    <a:p>
                      <a:pPr>
                        <a:buNone/>
                      </a:pPr>
                      <a:r>
                        <a:rPr lang="en-US" sz="1200">
                          <a:solidFill>
                            <a:schemeClr val="tx1"/>
                          </a:solidFill>
                        </a:rPr>
                        <a:t>~$1,060</a:t>
                      </a:r>
                    </a:p>
                  </a:txBody>
                  <a:tcPr anchor="ctr">
                    <a:noFill/>
                  </a:tcPr>
                </a:tc>
                <a:tc>
                  <a:txBody>
                    <a:bodyPr/>
                    <a:lstStyle/>
                    <a:p>
                      <a:pPr>
                        <a:buNone/>
                      </a:pPr>
                      <a:r>
                        <a:rPr lang="en-US" sz="1200">
                          <a:solidFill>
                            <a:schemeClr val="tx1"/>
                          </a:solidFill>
                        </a:rPr>
                        <a:t>$20,124</a:t>
                      </a:r>
                    </a:p>
                  </a:txBody>
                  <a:tcPr anchor="ctr">
                    <a:noFill/>
                  </a:tcPr>
                </a:tc>
                <a:extLst>
                  <a:ext uri="{0D108BD9-81ED-4DB2-BD59-A6C34878D82A}">
                    <a16:rowId xmlns:a16="http://schemas.microsoft.com/office/drawing/2014/main" val="954785784"/>
                  </a:ext>
                </a:extLst>
              </a:tr>
              <a:tr h="254123">
                <a:tc>
                  <a:txBody>
                    <a:bodyPr/>
                    <a:lstStyle/>
                    <a:p>
                      <a:pPr>
                        <a:buNone/>
                      </a:pPr>
                      <a:r>
                        <a:rPr lang="en-US" sz="1200" b="1" dirty="0">
                          <a:solidFill>
                            <a:schemeClr val="tx1"/>
                          </a:solidFill>
                        </a:rPr>
                        <a:t>Hardware Subtotal</a:t>
                      </a:r>
                      <a:endParaRPr lang="en-US" sz="1200" dirty="0">
                        <a:solidFill>
                          <a:schemeClr val="tx1"/>
                        </a:solidFill>
                      </a:endParaRPr>
                    </a:p>
                  </a:txBody>
                  <a:tcPr anchor="ctr">
                    <a:noFill/>
                  </a:tcPr>
                </a:tc>
                <a:tc>
                  <a:txBody>
                    <a:bodyPr/>
                    <a:lstStyle/>
                    <a:p>
                      <a:pPr>
                        <a:buNone/>
                      </a:pPr>
                      <a:endParaRPr lang="en-US" sz="1200">
                        <a:solidFill>
                          <a:schemeClr val="tx1"/>
                        </a:solidFill>
                      </a:endParaRPr>
                    </a:p>
                  </a:txBody>
                  <a:tcPr anchor="ctr">
                    <a:noFill/>
                  </a:tcPr>
                </a:tc>
                <a:tc>
                  <a:txBody>
                    <a:bodyPr/>
                    <a:lstStyle/>
                    <a:p>
                      <a:pPr>
                        <a:buNone/>
                      </a:pPr>
                      <a:endParaRPr lang="en-US" sz="1200">
                        <a:solidFill>
                          <a:schemeClr val="tx1"/>
                        </a:solidFill>
                      </a:endParaRPr>
                    </a:p>
                  </a:txBody>
                  <a:tcPr anchor="ctr">
                    <a:noFill/>
                  </a:tcPr>
                </a:tc>
                <a:tc>
                  <a:txBody>
                    <a:bodyPr/>
                    <a:lstStyle/>
                    <a:p>
                      <a:pPr>
                        <a:buNone/>
                      </a:pPr>
                      <a:r>
                        <a:rPr lang="en-US" sz="1200" b="1">
                          <a:solidFill>
                            <a:schemeClr val="tx1"/>
                          </a:solidFill>
                        </a:rPr>
                        <a:t>$455,774</a:t>
                      </a:r>
                      <a:endParaRPr lang="en-US" sz="1200">
                        <a:solidFill>
                          <a:schemeClr val="tx1"/>
                        </a:solidFill>
                      </a:endParaRPr>
                    </a:p>
                  </a:txBody>
                  <a:tcPr anchor="ctr">
                    <a:noFill/>
                  </a:tcPr>
                </a:tc>
                <a:extLst>
                  <a:ext uri="{0D108BD9-81ED-4DB2-BD59-A6C34878D82A}">
                    <a16:rowId xmlns:a16="http://schemas.microsoft.com/office/drawing/2014/main" val="3222762406"/>
                  </a:ext>
                </a:extLst>
              </a:tr>
              <a:tr h="254123">
                <a:tc>
                  <a:txBody>
                    <a:bodyPr/>
                    <a:lstStyle/>
                    <a:p>
                      <a:pPr>
                        <a:buNone/>
                      </a:pPr>
                      <a:r>
                        <a:rPr lang="en-US" sz="1200" dirty="0">
                          <a:solidFill>
                            <a:schemeClr val="tx1"/>
                          </a:solidFill>
                        </a:rPr>
                        <a:t>Installation, commissioning</a:t>
                      </a:r>
                    </a:p>
                  </a:txBody>
                  <a:tcPr anchor="ctr">
                    <a:noFill/>
                  </a:tcPr>
                </a:tc>
                <a:tc>
                  <a:txBody>
                    <a:bodyPr/>
                    <a:lstStyle/>
                    <a:p>
                      <a:pPr>
                        <a:buNone/>
                      </a:pPr>
                      <a:endParaRPr lang="en-US" sz="1200">
                        <a:solidFill>
                          <a:schemeClr val="tx1"/>
                        </a:solidFill>
                      </a:endParaRPr>
                    </a:p>
                  </a:txBody>
                  <a:tcPr anchor="ctr">
                    <a:noFill/>
                  </a:tcPr>
                </a:tc>
                <a:tc>
                  <a:txBody>
                    <a:bodyPr/>
                    <a:lstStyle/>
                    <a:p>
                      <a:pPr>
                        <a:buNone/>
                      </a:pPr>
                      <a:endParaRPr lang="en-US" sz="1200">
                        <a:solidFill>
                          <a:schemeClr val="tx1"/>
                        </a:solidFill>
                      </a:endParaRPr>
                    </a:p>
                  </a:txBody>
                  <a:tcPr anchor="ctr">
                    <a:noFill/>
                  </a:tcPr>
                </a:tc>
                <a:tc>
                  <a:txBody>
                    <a:bodyPr/>
                    <a:lstStyle/>
                    <a:p>
                      <a:pPr>
                        <a:buNone/>
                      </a:pPr>
                      <a:r>
                        <a:rPr lang="en-US" sz="1200" dirty="0">
                          <a:solidFill>
                            <a:schemeClr val="tx1"/>
                          </a:solidFill>
                        </a:rPr>
                        <a:t>$44,226</a:t>
                      </a:r>
                    </a:p>
                  </a:txBody>
                  <a:tcPr anchor="ctr">
                    <a:noFill/>
                  </a:tcPr>
                </a:tc>
                <a:extLst>
                  <a:ext uri="{0D108BD9-81ED-4DB2-BD59-A6C34878D82A}">
                    <a16:rowId xmlns:a16="http://schemas.microsoft.com/office/drawing/2014/main" val="2746908025"/>
                  </a:ext>
                </a:extLst>
              </a:tr>
              <a:tr h="375249">
                <a:tc>
                  <a:txBody>
                    <a:bodyPr/>
                    <a:lstStyle/>
                    <a:p>
                      <a:pPr>
                        <a:buNone/>
                      </a:pPr>
                      <a:r>
                        <a:rPr lang="en-US" sz="1200" b="1">
                          <a:solidFill>
                            <a:schemeClr val="tx1"/>
                          </a:solidFill>
                        </a:rPr>
                        <a:t>Total Estimated Cost</a:t>
                      </a:r>
                      <a:endParaRPr lang="en-US" sz="1200">
                        <a:solidFill>
                          <a:schemeClr val="tx1"/>
                        </a:solidFill>
                      </a:endParaRPr>
                    </a:p>
                  </a:txBody>
                  <a:tcPr anchor="ctr">
                    <a:noFill/>
                  </a:tcPr>
                </a:tc>
                <a:tc>
                  <a:txBody>
                    <a:bodyPr/>
                    <a:lstStyle/>
                    <a:p>
                      <a:pPr>
                        <a:buNone/>
                      </a:pPr>
                      <a:endParaRPr lang="en-US" sz="1200">
                        <a:solidFill>
                          <a:schemeClr val="tx1"/>
                        </a:solidFill>
                      </a:endParaRPr>
                    </a:p>
                  </a:txBody>
                  <a:tcPr anchor="ctr">
                    <a:noFill/>
                  </a:tcPr>
                </a:tc>
                <a:tc>
                  <a:txBody>
                    <a:bodyPr/>
                    <a:lstStyle/>
                    <a:p>
                      <a:pPr>
                        <a:buNone/>
                      </a:pPr>
                      <a:endParaRPr lang="en-US" sz="1200">
                        <a:solidFill>
                          <a:schemeClr val="tx1"/>
                        </a:solidFill>
                      </a:endParaRPr>
                    </a:p>
                  </a:txBody>
                  <a:tcPr anchor="ctr">
                    <a:noFill/>
                  </a:tcPr>
                </a:tc>
                <a:tc>
                  <a:txBody>
                    <a:bodyPr/>
                    <a:lstStyle/>
                    <a:p>
                      <a:pPr>
                        <a:buNone/>
                      </a:pPr>
                      <a:r>
                        <a:rPr lang="en-US" sz="1200" b="1" dirty="0">
                          <a:solidFill>
                            <a:schemeClr val="tx1"/>
                          </a:solidFill>
                        </a:rPr>
                        <a:t>$500,000</a:t>
                      </a:r>
                      <a:endParaRPr lang="en-US" sz="1200" dirty="0">
                        <a:solidFill>
                          <a:schemeClr val="tx1"/>
                        </a:solidFill>
                      </a:endParaRPr>
                    </a:p>
                  </a:txBody>
                  <a:tcPr anchor="ctr">
                    <a:noFill/>
                  </a:tcPr>
                </a:tc>
                <a:extLst>
                  <a:ext uri="{0D108BD9-81ED-4DB2-BD59-A6C34878D82A}">
                    <a16:rowId xmlns:a16="http://schemas.microsoft.com/office/drawing/2014/main" val="1537363629"/>
                  </a:ext>
                </a:extLst>
              </a:tr>
            </a:tbl>
          </a:graphicData>
        </a:graphic>
      </p:graphicFrame>
      <p:sp>
        <p:nvSpPr>
          <p:cNvPr id="22" name="TextBox 21">
            <a:extLst>
              <a:ext uri="{FF2B5EF4-FFF2-40B4-BE49-F238E27FC236}">
                <a16:creationId xmlns:a16="http://schemas.microsoft.com/office/drawing/2014/main" id="{606113AA-A6D0-5604-339D-840967ABED0B}"/>
              </a:ext>
            </a:extLst>
          </p:cNvPr>
          <p:cNvSpPr txBox="1"/>
          <p:nvPr/>
        </p:nvSpPr>
        <p:spPr>
          <a:xfrm>
            <a:off x="524108" y="3422397"/>
            <a:ext cx="6214303" cy="307777"/>
          </a:xfrm>
          <a:prstGeom prst="rect">
            <a:avLst/>
          </a:prstGeom>
          <a:noFill/>
        </p:spPr>
        <p:txBody>
          <a:bodyPr wrap="square">
            <a:spAutoFit/>
          </a:bodyPr>
          <a:lstStyle/>
          <a:p>
            <a:pPr>
              <a:buNone/>
            </a:pPr>
            <a:r>
              <a:rPr lang="en-US" sz="1400" b="1" dirty="0"/>
              <a:t>Cost Breakdown from Agilent Quote #6447918 (November 26, 2025):</a:t>
            </a:r>
          </a:p>
        </p:txBody>
      </p:sp>
    </p:spTree>
    <p:extLst>
      <p:ext uri="{BB962C8B-B14F-4D97-AF65-F5344CB8AC3E}">
        <p14:creationId xmlns:p14="http://schemas.microsoft.com/office/powerpoint/2010/main" val="17906271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p:nvPr/>
        </p:nvSpPr>
        <p:spPr>
          <a:xfrm>
            <a:off x="10443883" y="364326"/>
            <a:ext cx="1527551" cy="335123"/>
          </a:xfrm>
          <a:prstGeom prst="rect">
            <a:avLst/>
          </a:prstGeom>
          <a:solidFill>
            <a:srgbClr val="CCCCCC"/>
          </a:solidFill>
          <a:ln w="10470">
            <a:solidFill>
              <a:srgbClr val="1A2A5B"/>
            </a:solidFill>
          </a:ln>
        </p:spPr>
        <p:txBody>
          <a:bodyPr vert="horz" wrap="square" lIns="0" tIns="26955" rIns="0" bIns="0" rtlCol="0">
            <a:spAutoFit/>
          </a:bodyPr>
          <a:lstStyle/>
          <a:p>
            <a:pPr marL="253757">
              <a:spcBef>
                <a:spcPts val="212"/>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82" dirty="0">
                <a:solidFill>
                  <a:srgbClr val="1A2A5B"/>
                </a:solidFill>
                <a:latin typeface="Arial Narrow"/>
                <a:cs typeface="Arial Narrow"/>
              </a:rPr>
              <a:t>#3</a:t>
            </a:r>
            <a:endParaRPr sz="2001" dirty="0">
              <a:latin typeface="Arial Narrow"/>
              <a:cs typeface="Arial Narrow"/>
            </a:endParaRPr>
          </a:p>
        </p:txBody>
      </p:sp>
      <p:sp>
        <p:nvSpPr>
          <p:cNvPr id="22" name="Title 21">
            <a:extLst>
              <a:ext uri="{FF2B5EF4-FFF2-40B4-BE49-F238E27FC236}">
                <a16:creationId xmlns:a16="http://schemas.microsoft.com/office/drawing/2014/main" id="{883E69C5-9ED2-624F-0C14-1A8352188789}"/>
              </a:ext>
            </a:extLst>
          </p:cNvPr>
          <p:cNvSpPr>
            <a:spLocks noGrp="1"/>
          </p:cNvSpPr>
          <p:nvPr>
            <p:ph type="title"/>
          </p:nvPr>
        </p:nvSpPr>
        <p:spPr/>
        <p:txBody>
          <a:bodyPr/>
          <a:lstStyle/>
          <a:p>
            <a:r>
              <a:rPr lang="en-US" dirty="0"/>
              <a:t>Cost Trace (ESR Laser System)</a:t>
            </a:r>
          </a:p>
        </p:txBody>
      </p:sp>
      <p:pic>
        <p:nvPicPr>
          <p:cNvPr id="3" name="Picture 2" descr="Graphical user interface, table&#10;&#10;AI-generated content may be incorrect.">
            <a:extLst>
              <a:ext uri="{FF2B5EF4-FFF2-40B4-BE49-F238E27FC236}">
                <a16:creationId xmlns:a16="http://schemas.microsoft.com/office/drawing/2014/main" id="{1225A154-EBF2-EB9F-E823-660896A615E0}"/>
              </a:ext>
            </a:extLst>
          </p:cNvPr>
          <p:cNvPicPr>
            <a:picLocks noChangeAspect="1"/>
          </p:cNvPicPr>
          <p:nvPr/>
        </p:nvPicPr>
        <p:blipFill>
          <a:blip r:embed="rId2"/>
          <a:stretch>
            <a:fillRect/>
          </a:stretch>
        </p:blipFill>
        <p:spPr>
          <a:xfrm>
            <a:off x="660340" y="936063"/>
            <a:ext cx="5488403" cy="4496771"/>
          </a:xfrm>
          <a:prstGeom prst="rect">
            <a:avLst/>
          </a:prstGeom>
        </p:spPr>
      </p:pic>
      <p:pic>
        <p:nvPicPr>
          <p:cNvPr id="5" name="Picture 4" descr="Table&#10;&#10;AI-generated content may be incorrect.">
            <a:extLst>
              <a:ext uri="{FF2B5EF4-FFF2-40B4-BE49-F238E27FC236}">
                <a16:creationId xmlns:a16="http://schemas.microsoft.com/office/drawing/2014/main" id="{31253ECD-F6F7-CCD6-F984-9DB6C29EE461}"/>
              </a:ext>
            </a:extLst>
          </p:cNvPr>
          <p:cNvPicPr>
            <a:picLocks noChangeAspect="1"/>
          </p:cNvPicPr>
          <p:nvPr/>
        </p:nvPicPr>
        <p:blipFill>
          <a:blip r:embed="rId3"/>
          <a:stretch>
            <a:fillRect/>
          </a:stretch>
        </p:blipFill>
        <p:spPr>
          <a:xfrm>
            <a:off x="6339912" y="914919"/>
            <a:ext cx="3590897" cy="3350087"/>
          </a:xfrm>
          <a:prstGeom prst="rect">
            <a:avLst/>
          </a:prstGeom>
          <a:ln>
            <a:solidFill>
              <a:schemeClr val="tx1"/>
            </a:solidFill>
          </a:ln>
        </p:spPr>
      </p:pic>
      <p:sp>
        <p:nvSpPr>
          <p:cNvPr id="7" name="TextBox 6">
            <a:extLst>
              <a:ext uri="{FF2B5EF4-FFF2-40B4-BE49-F238E27FC236}">
                <a16:creationId xmlns:a16="http://schemas.microsoft.com/office/drawing/2014/main" id="{88CE8676-070C-2609-692B-582216710A16}"/>
              </a:ext>
            </a:extLst>
          </p:cNvPr>
          <p:cNvSpPr txBox="1"/>
          <p:nvPr/>
        </p:nvSpPr>
        <p:spPr>
          <a:xfrm>
            <a:off x="6422066" y="4280717"/>
            <a:ext cx="1967205" cy="369332"/>
          </a:xfrm>
          <a:prstGeom prst="rect">
            <a:avLst/>
          </a:prstGeom>
          <a:noFill/>
        </p:spPr>
        <p:txBody>
          <a:bodyPr wrap="none" rtlCol="0">
            <a:spAutoFit/>
          </a:bodyPr>
          <a:lstStyle/>
          <a:p>
            <a:r>
              <a:rPr lang="en-US" dirty="0"/>
              <a:t>ERD 26 Proposal</a:t>
            </a:r>
          </a:p>
        </p:txBody>
      </p:sp>
      <p:pic>
        <p:nvPicPr>
          <p:cNvPr id="9" name="Picture 8">
            <a:extLst>
              <a:ext uri="{FF2B5EF4-FFF2-40B4-BE49-F238E27FC236}">
                <a16:creationId xmlns:a16="http://schemas.microsoft.com/office/drawing/2014/main" id="{B3083EE5-FF21-2A3F-4CB7-B15618C2690D}"/>
              </a:ext>
            </a:extLst>
          </p:cNvPr>
          <p:cNvPicPr>
            <a:picLocks noChangeAspect="1"/>
          </p:cNvPicPr>
          <p:nvPr/>
        </p:nvPicPr>
        <p:blipFill>
          <a:blip r:embed="rId4"/>
          <a:stretch>
            <a:fillRect/>
          </a:stretch>
        </p:blipFill>
        <p:spPr>
          <a:xfrm>
            <a:off x="8623420" y="3104707"/>
            <a:ext cx="3339084" cy="2948144"/>
          </a:xfrm>
          <a:prstGeom prst="rect">
            <a:avLst/>
          </a:prstGeom>
        </p:spPr>
      </p:pic>
      <p:sp>
        <p:nvSpPr>
          <p:cNvPr id="10" name="TextBox 9">
            <a:extLst>
              <a:ext uri="{FF2B5EF4-FFF2-40B4-BE49-F238E27FC236}">
                <a16:creationId xmlns:a16="http://schemas.microsoft.com/office/drawing/2014/main" id="{7B626DD2-DA85-A9EF-9ED2-FE9B21E862A9}"/>
              </a:ext>
            </a:extLst>
          </p:cNvPr>
          <p:cNvSpPr txBox="1"/>
          <p:nvPr/>
        </p:nvSpPr>
        <p:spPr>
          <a:xfrm>
            <a:off x="9930809" y="1943631"/>
            <a:ext cx="2090637" cy="646331"/>
          </a:xfrm>
          <a:prstGeom prst="rect">
            <a:avLst/>
          </a:prstGeom>
          <a:noFill/>
        </p:spPr>
        <p:txBody>
          <a:bodyPr wrap="none" rtlCol="0">
            <a:spAutoFit/>
          </a:bodyPr>
          <a:lstStyle/>
          <a:p>
            <a:r>
              <a:rPr lang="en-US" dirty="0"/>
              <a:t>Remote motion</a:t>
            </a:r>
          </a:p>
          <a:p>
            <a:r>
              <a:rPr lang="en-US" dirty="0">
                <a:sym typeface="Wingdings" pitchFamily="2" charset="2"/>
              </a:rPr>
              <a:t> vendor web site</a:t>
            </a:r>
            <a:endParaRPr lang="en-US" dirty="0"/>
          </a:p>
        </p:txBody>
      </p:sp>
      <p:sp>
        <p:nvSpPr>
          <p:cNvPr id="2" name="Slide Number Placeholder 4">
            <a:extLst>
              <a:ext uri="{FF2B5EF4-FFF2-40B4-BE49-F238E27FC236}">
                <a16:creationId xmlns:a16="http://schemas.microsoft.com/office/drawing/2014/main" id="{57B0B3DB-DB04-FED8-F679-E78FF136C474}"/>
              </a:ext>
            </a:extLst>
          </p:cNvPr>
          <p:cNvSpPr>
            <a:spLocks noGrp="1"/>
          </p:cNvSpPr>
          <p:nvPr>
            <p:ph type="sldNum" sz="quarter" idx="4"/>
          </p:nvPr>
        </p:nvSpPr>
        <p:spPr>
          <a:xfrm>
            <a:off x="11451649" y="6533724"/>
            <a:ext cx="432486" cy="294041"/>
          </a:xfrm>
        </p:spPr>
        <p:txBody>
          <a:bodyPr/>
          <a:lstStyle/>
          <a:p>
            <a:fld id="{933A556B-7C63-244D-9B7C-B0EA8042B330}" type="slidenum">
              <a:rPr lang="en-US" smtClean="0"/>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082A3C-07F6-52DE-2EA7-3EF5A89A6E59}"/>
              </a:ext>
            </a:extLst>
          </p:cNvPr>
          <p:cNvSpPr>
            <a:spLocks noGrp="1"/>
          </p:cNvSpPr>
          <p:nvPr>
            <p:ph type="sldNum" sz="quarter" idx="4"/>
          </p:nvPr>
        </p:nvSpPr>
        <p:spPr/>
        <p:txBody>
          <a:bodyPr/>
          <a:lstStyle/>
          <a:p>
            <a:fld id="{933A556B-7C63-244D-9B7C-B0EA8042B330}" type="slidenum">
              <a:rPr lang="en-US" smtClean="0"/>
              <a:pPr/>
              <a:t>30</a:t>
            </a:fld>
            <a:endParaRPr lang="en-US"/>
          </a:p>
        </p:txBody>
      </p:sp>
      <p:sp>
        <p:nvSpPr>
          <p:cNvPr id="3" name="Title 2">
            <a:extLst>
              <a:ext uri="{FF2B5EF4-FFF2-40B4-BE49-F238E27FC236}">
                <a16:creationId xmlns:a16="http://schemas.microsoft.com/office/drawing/2014/main" id="{21FF8D57-85E1-E26F-38B2-911D928317D8}"/>
              </a:ext>
            </a:extLst>
          </p:cNvPr>
          <p:cNvSpPr>
            <a:spLocks noGrp="1"/>
          </p:cNvSpPr>
          <p:nvPr>
            <p:ph type="title"/>
          </p:nvPr>
        </p:nvSpPr>
        <p:spPr/>
        <p:txBody>
          <a:bodyPr/>
          <a:lstStyle/>
          <a:p>
            <a:r>
              <a:rPr lang="en-US" dirty="0"/>
              <a:t>Preliminary Design Review on Polarimetry</a:t>
            </a:r>
          </a:p>
        </p:txBody>
      </p:sp>
      <p:pic>
        <p:nvPicPr>
          <p:cNvPr id="8" name="Picture 7" descr="Graphical user interface, text, application&#10;&#10;AI-generated content may be incorrect.">
            <a:extLst>
              <a:ext uri="{FF2B5EF4-FFF2-40B4-BE49-F238E27FC236}">
                <a16:creationId xmlns:a16="http://schemas.microsoft.com/office/drawing/2014/main" id="{8054B462-7FB2-005A-E589-0A2B535ABD95}"/>
              </a:ext>
            </a:extLst>
          </p:cNvPr>
          <p:cNvPicPr>
            <a:picLocks noChangeAspect="1"/>
          </p:cNvPicPr>
          <p:nvPr/>
        </p:nvPicPr>
        <p:blipFill>
          <a:blip r:embed="rId2"/>
          <a:stretch>
            <a:fillRect/>
          </a:stretch>
        </p:blipFill>
        <p:spPr>
          <a:xfrm>
            <a:off x="7184189" y="946532"/>
            <a:ext cx="4758098" cy="5209905"/>
          </a:xfrm>
          <a:prstGeom prst="rect">
            <a:avLst/>
          </a:prstGeom>
        </p:spPr>
      </p:pic>
      <p:sp>
        <p:nvSpPr>
          <p:cNvPr id="10" name="TextBox 9">
            <a:extLst>
              <a:ext uri="{FF2B5EF4-FFF2-40B4-BE49-F238E27FC236}">
                <a16:creationId xmlns:a16="http://schemas.microsoft.com/office/drawing/2014/main" id="{5B79E1F2-60F9-88A4-9E51-46AF9FB1AB54}"/>
              </a:ext>
            </a:extLst>
          </p:cNvPr>
          <p:cNvSpPr txBox="1"/>
          <p:nvPr/>
        </p:nvSpPr>
        <p:spPr>
          <a:xfrm>
            <a:off x="766611" y="2716965"/>
            <a:ext cx="6222467" cy="2893100"/>
          </a:xfrm>
          <a:prstGeom prst="rect">
            <a:avLst/>
          </a:prstGeom>
          <a:noFill/>
          <a:ln w="25400">
            <a:solidFill>
              <a:schemeClr val="accent5"/>
            </a:solidFill>
          </a:ln>
        </p:spPr>
        <p:txBody>
          <a:bodyPr wrap="square">
            <a:spAutoFit/>
          </a:bodyPr>
          <a:lstStyle/>
          <a:p>
            <a:pPr>
              <a:buNone/>
            </a:pPr>
            <a:r>
              <a:rPr lang="en-US" sz="2000" b="1">
                <a:solidFill>
                  <a:srgbClr val="000000"/>
                </a:solidFill>
                <a:effectLst/>
                <a:latin typeface="Helvetica" pitchFamily="2" charset="0"/>
              </a:rPr>
              <a:t>Review Committee</a:t>
            </a:r>
            <a:r>
              <a:rPr lang="en-US" sz="2000" b="1" dirty="0">
                <a:solidFill>
                  <a:srgbClr val="000000"/>
                </a:solidFill>
                <a:effectLst/>
                <a:latin typeface="Helvetica" pitchFamily="2" charset="0"/>
              </a:rPr>
              <a:t>:</a:t>
            </a:r>
          </a:p>
          <a:p>
            <a:pPr>
              <a:buNone/>
            </a:pPr>
            <a:endParaRPr lang="en-US" dirty="0">
              <a:solidFill>
                <a:srgbClr val="000000"/>
              </a:solidFill>
              <a:effectLst/>
              <a:latin typeface="Helvetica" pitchFamily="2" charset="0"/>
            </a:endParaRPr>
          </a:p>
          <a:p>
            <a:pPr>
              <a:buNone/>
            </a:pPr>
            <a:r>
              <a:rPr lang="en-US" dirty="0">
                <a:solidFill>
                  <a:srgbClr val="000000"/>
                </a:solidFill>
                <a:effectLst/>
                <a:latin typeface="Helvetica" pitchFamily="2" charset="0"/>
              </a:rPr>
              <a:t>Electrons:</a:t>
            </a:r>
          </a:p>
          <a:p>
            <a:pPr marL="742950" lvl="1" indent="-285750">
              <a:buFont typeface="Arial" panose="020B0604020202020204" pitchFamily="34" charset="0"/>
              <a:buChar char="•"/>
            </a:pPr>
            <a:r>
              <a:rPr lang="en-US" dirty="0" err="1">
                <a:solidFill>
                  <a:srgbClr val="000000"/>
                </a:solidFill>
                <a:effectLst/>
                <a:latin typeface="Helvetica" pitchFamily="2" charset="0"/>
              </a:rPr>
              <a:t>Dipangkar</a:t>
            </a:r>
            <a:r>
              <a:rPr lang="en-US" dirty="0">
                <a:solidFill>
                  <a:srgbClr val="000000"/>
                </a:solidFill>
                <a:effectLst/>
                <a:latin typeface="Helvetica" pitchFamily="2" charset="0"/>
              </a:rPr>
              <a:t> Dutta (Mississippi State University, USA)</a:t>
            </a:r>
          </a:p>
          <a:p>
            <a:pPr marL="742950" lvl="1" indent="-285750">
              <a:buFont typeface="Arial" panose="020B0604020202020204" pitchFamily="34" charset="0"/>
              <a:buChar char="•"/>
            </a:pPr>
            <a:r>
              <a:rPr lang="en-US" dirty="0">
                <a:solidFill>
                  <a:srgbClr val="000000"/>
                </a:solidFill>
                <a:effectLst/>
                <a:latin typeface="Helvetica" pitchFamily="2" charset="0"/>
              </a:rPr>
              <a:t>Aurélien Martens (Université Paris-</a:t>
            </a:r>
            <a:r>
              <a:rPr lang="en-US" dirty="0" err="1">
                <a:solidFill>
                  <a:srgbClr val="000000"/>
                </a:solidFill>
                <a:effectLst/>
                <a:latin typeface="Helvetica" pitchFamily="2" charset="0"/>
              </a:rPr>
              <a:t>Saclay</a:t>
            </a:r>
            <a:r>
              <a:rPr lang="en-US" dirty="0">
                <a:solidFill>
                  <a:srgbClr val="000000"/>
                </a:solidFill>
                <a:effectLst/>
                <a:latin typeface="Helvetica" pitchFamily="2" charset="0"/>
              </a:rPr>
              <a:t>, France)</a:t>
            </a:r>
          </a:p>
          <a:p>
            <a:pPr marL="285750" indent="-285750">
              <a:buFont typeface="Arial" panose="020B0604020202020204" pitchFamily="34" charset="0"/>
              <a:buChar char="•"/>
            </a:pPr>
            <a:endParaRPr lang="en-US" dirty="0">
              <a:solidFill>
                <a:srgbClr val="000000"/>
              </a:solidFill>
              <a:effectLst/>
              <a:latin typeface="Helvetica" pitchFamily="2" charset="0"/>
            </a:endParaRPr>
          </a:p>
          <a:p>
            <a:pPr>
              <a:buNone/>
            </a:pPr>
            <a:r>
              <a:rPr lang="en-US" dirty="0">
                <a:solidFill>
                  <a:srgbClr val="000000"/>
                </a:solidFill>
                <a:effectLst/>
                <a:latin typeface="Helvetica" pitchFamily="2" charset="0"/>
              </a:rPr>
              <a:t>Hadrons:</a:t>
            </a:r>
          </a:p>
          <a:p>
            <a:pPr marL="742950" lvl="1" indent="-285750">
              <a:buFont typeface="Arial" panose="020B0604020202020204" pitchFamily="34" charset="0"/>
              <a:buChar char="•"/>
            </a:pPr>
            <a:r>
              <a:rPr lang="en-US" dirty="0">
                <a:solidFill>
                  <a:srgbClr val="000000"/>
                </a:solidFill>
                <a:effectLst/>
                <a:latin typeface="Helvetica" pitchFamily="2" charset="0"/>
              </a:rPr>
              <a:t>Ralf Gebel (</a:t>
            </a:r>
            <a:r>
              <a:rPr lang="en-US" dirty="0" err="1">
                <a:solidFill>
                  <a:srgbClr val="000000"/>
                </a:solidFill>
                <a:effectLst/>
                <a:latin typeface="Helvetica" pitchFamily="2" charset="0"/>
              </a:rPr>
              <a:t>Forschungszentrum</a:t>
            </a:r>
            <a:r>
              <a:rPr lang="en-US" dirty="0">
                <a:solidFill>
                  <a:srgbClr val="000000"/>
                </a:solidFill>
                <a:effectLst/>
                <a:latin typeface="Helvetica" pitchFamily="2" charset="0"/>
              </a:rPr>
              <a:t> Jülich, Germany)</a:t>
            </a:r>
          </a:p>
          <a:p>
            <a:pPr marL="742950" lvl="1" indent="-285750">
              <a:buFont typeface="Arial" panose="020B0604020202020204" pitchFamily="34" charset="0"/>
              <a:buChar char="•"/>
            </a:pPr>
            <a:r>
              <a:rPr lang="en-US" dirty="0"/>
              <a:t>Paolo Lenisa (University of Ferrara, Italy)</a:t>
            </a:r>
          </a:p>
          <a:p>
            <a:pPr>
              <a:buNone/>
            </a:pPr>
            <a:endParaRPr lang="en-US" dirty="0">
              <a:solidFill>
                <a:srgbClr val="000000"/>
              </a:solidFill>
              <a:effectLst/>
              <a:latin typeface="Helvetica" pitchFamily="2" charset="0"/>
            </a:endParaRPr>
          </a:p>
        </p:txBody>
      </p:sp>
      <p:pic>
        <p:nvPicPr>
          <p:cNvPr id="6" name="Picture 5" descr="Graphical user interface, text&#10;&#10;AI-generated content may be incorrect.">
            <a:extLst>
              <a:ext uri="{FF2B5EF4-FFF2-40B4-BE49-F238E27FC236}">
                <a16:creationId xmlns:a16="http://schemas.microsoft.com/office/drawing/2014/main" id="{D6625488-08FA-873E-166F-46092C806C9F}"/>
              </a:ext>
            </a:extLst>
          </p:cNvPr>
          <p:cNvPicPr>
            <a:picLocks noChangeAspect="1"/>
          </p:cNvPicPr>
          <p:nvPr/>
        </p:nvPicPr>
        <p:blipFill>
          <a:blip r:embed="rId3"/>
          <a:srcRect l="1120" t="8982" r="15293"/>
          <a:stretch>
            <a:fillRect/>
          </a:stretch>
        </p:blipFill>
        <p:spPr>
          <a:xfrm>
            <a:off x="571500" y="947015"/>
            <a:ext cx="8755380" cy="1223578"/>
          </a:xfrm>
          <a:prstGeom prst="rect">
            <a:avLst/>
          </a:prstGeom>
          <a:ln w="25400">
            <a:solidFill>
              <a:schemeClr val="bg1"/>
            </a:solidFill>
          </a:ln>
        </p:spPr>
      </p:pic>
    </p:spTree>
    <p:extLst>
      <p:ext uri="{BB962C8B-B14F-4D97-AF65-F5344CB8AC3E}">
        <p14:creationId xmlns:p14="http://schemas.microsoft.com/office/powerpoint/2010/main" val="14248723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B7F4-78FC-581A-76A1-F5EB15B85B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BC2C36-E443-7B49-9C97-DEF6AA09B98C}"/>
              </a:ext>
            </a:extLst>
          </p:cNvPr>
          <p:cNvSpPr>
            <a:spLocks noGrp="1"/>
          </p:cNvSpPr>
          <p:nvPr>
            <p:ph type="sldNum" sz="quarter" idx="4"/>
          </p:nvPr>
        </p:nvSpPr>
        <p:spPr/>
        <p:txBody>
          <a:bodyPr/>
          <a:lstStyle/>
          <a:p>
            <a:fld id="{933A556B-7C63-244D-9B7C-B0EA8042B330}" type="slidenum">
              <a:rPr lang="en-US" smtClean="0"/>
              <a:pPr/>
              <a:t>31</a:t>
            </a:fld>
            <a:endParaRPr lang="en-US"/>
          </a:p>
        </p:txBody>
      </p:sp>
      <p:sp>
        <p:nvSpPr>
          <p:cNvPr id="3" name="Title 2">
            <a:extLst>
              <a:ext uri="{FF2B5EF4-FFF2-40B4-BE49-F238E27FC236}">
                <a16:creationId xmlns:a16="http://schemas.microsoft.com/office/drawing/2014/main" id="{A10867B5-3412-BBCE-BD55-AED67CAD8E40}"/>
              </a:ext>
            </a:extLst>
          </p:cNvPr>
          <p:cNvSpPr>
            <a:spLocks noGrp="1"/>
          </p:cNvSpPr>
          <p:nvPr>
            <p:ph type="title"/>
          </p:nvPr>
        </p:nvSpPr>
        <p:spPr/>
        <p:txBody>
          <a:bodyPr/>
          <a:lstStyle/>
          <a:p>
            <a:r>
              <a:rPr lang="en-US" dirty="0"/>
              <a:t>Summary</a:t>
            </a:r>
          </a:p>
        </p:txBody>
      </p:sp>
      <p:sp>
        <p:nvSpPr>
          <p:cNvPr id="8" name="Rectangle 2">
            <a:extLst>
              <a:ext uri="{FF2B5EF4-FFF2-40B4-BE49-F238E27FC236}">
                <a16:creationId xmlns:a16="http://schemas.microsoft.com/office/drawing/2014/main" id="{4C7428F8-FAD0-0513-9E27-3BF587C19735}"/>
              </a:ext>
            </a:extLst>
          </p:cNvPr>
          <p:cNvSpPr>
            <a:spLocks noGrp="1" noChangeArrowheads="1"/>
          </p:cNvSpPr>
          <p:nvPr>
            <p:ph idx="1"/>
          </p:nvPr>
        </p:nvSpPr>
        <p:spPr bwMode="auto">
          <a:xfrm>
            <a:off x="579754" y="891362"/>
            <a:ext cx="11193853" cy="4716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Technically mature designs: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lvl="1"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Electron polarimetry:</a:t>
            </a:r>
            <a:r>
              <a:rPr kumimoji="0" lang="en-US" altLang="en-US" sz="1800" b="0" i="0" u="none" strike="noStrike" cap="none" normalizeH="0" baseline="0" dirty="0">
                <a:ln>
                  <a:noFill/>
                </a:ln>
                <a:solidFill>
                  <a:schemeClr val="tx1"/>
                </a:solidFill>
                <a:effectLst/>
                <a:latin typeface="Arial" panose="020B0604020202020204" pitchFamily="34" charset="0"/>
              </a:rPr>
              <a:t> Compton polarimeters in RCS and ESR using fiber amplifier laser systems and diamond strip detectors with custom FLAT32 ASIC readout </a:t>
            </a:r>
          </a:p>
          <a:p>
            <a:pPr lvl="1"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Hadron polarimetry:</a:t>
            </a:r>
            <a:r>
              <a:rPr kumimoji="0" lang="en-US" altLang="en-US" sz="1800" b="0" i="0" u="none" strike="noStrike" cap="none" normalizeH="0" baseline="0" dirty="0">
                <a:ln>
                  <a:noFill/>
                </a:ln>
                <a:solidFill>
                  <a:schemeClr val="tx1"/>
                </a:solidFill>
                <a:effectLst/>
                <a:latin typeface="Arial" panose="020B0604020202020204" pitchFamily="34" charset="0"/>
              </a:rPr>
              <a:t> HJET polarimeter for absolute measurements plus carbon fiber target polarimeters for fast relative measurements and transverse profile </a:t>
            </a:r>
          </a:p>
          <a:p>
            <a:pPr lvl="1" eaLnBrk="0" fontAlgn="base" hangingPunct="0">
              <a:lnSpc>
                <a:spcPct val="100000"/>
              </a:lnSpc>
              <a:spcBef>
                <a:spcPct val="0"/>
              </a:spcBef>
              <a:spcAft>
                <a:spcPct val="0"/>
              </a:spcAft>
            </a:pPr>
            <a:r>
              <a:rPr lang="en-US" sz="1800" b="1" dirty="0"/>
              <a:t>Preliminary Design Review on Polarimetry February 18, 2025</a:t>
            </a: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EIC-specific challenges resolved:</a:t>
            </a:r>
            <a:r>
              <a:rPr kumimoji="0" lang="en-US" altLang="en-US" sz="1800" b="0" i="0" u="none" strike="noStrike" cap="none" normalizeH="0" baseline="0" dirty="0">
                <a:ln>
                  <a:noFill/>
                </a:ln>
                <a:solidFill>
                  <a:schemeClr val="tx1"/>
                </a:solidFill>
                <a:effectLst/>
                <a:latin typeface="Arial" panose="020B0604020202020204" pitchFamily="34" charset="0"/>
              </a:rPr>
              <a:t> </a:t>
            </a:r>
          </a:p>
          <a:p>
            <a:pPr lvl="1"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Electron:</a:t>
            </a:r>
            <a:r>
              <a:rPr kumimoji="0" lang="en-US" altLang="en-US" sz="1800" b="0" i="0" u="none" strike="noStrike" cap="none" normalizeH="0" baseline="0" dirty="0">
                <a:ln>
                  <a:noFill/>
                </a:ln>
                <a:solidFill>
                  <a:schemeClr val="tx1"/>
                </a:solidFill>
                <a:effectLst/>
                <a:latin typeface="Arial" panose="020B0604020202020204" pitchFamily="34" charset="0"/>
              </a:rPr>
              <a:t> 10 ns bunch timing requirements met with FLAT32 ASIC (developed for MOLLER) </a:t>
            </a:r>
          </a:p>
          <a:p>
            <a:pPr lvl="1"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Hadron:</a:t>
            </a:r>
            <a:r>
              <a:rPr kumimoji="0" lang="en-US" altLang="en-US" sz="1800" b="0" i="0" u="none" strike="noStrike" cap="none" normalizeH="0" baseline="0" dirty="0">
                <a:ln>
                  <a:noFill/>
                </a:ln>
                <a:solidFill>
                  <a:schemeClr val="tx1"/>
                </a:solidFill>
                <a:effectLst/>
                <a:latin typeface="Arial" panose="020B0604020202020204" pitchFamily="34" charset="0"/>
              </a:rPr>
              <a:t> Bunch-induced depolarization avoided with 400 </a:t>
            </a:r>
            <a:r>
              <a:rPr kumimoji="0" lang="en-US" altLang="en-US" sz="1800" b="0" i="0" u="none" strike="noStrike" cap="none" normalizeH="0" baseline="0" dirty="0" err="1">
                <a:ln>
                  <a:noFill/>
                </a:ln>
                <a:solidFill>
                  <a:schemeClr val="tx1"/>
                </a:solidFill>
                <a:effectLst/>
                <a:latin typeface="Arial" panose="020B0604020202020204" pitchFamily="34" charset="0"/>
              </a:rPr>
              <a:t>mT</a:t>
            </a:r>
            <a:r>
              <a:rPr kumimoji="0" lang="en-US" altLang="en-US" sz="1800" b="0" i="0" u="none" strike="noStrike" cap="none" normalizeH="0" baseline="0" dirty="0">
                <a:ln>
                  <a:noFill/>
                </a:ln>
                <a:solidFill>
                  <a:schemeClr val="tx1"/>
                </a:solidFill>
                <a:effectLst/>
                <a:latin typeface="Arial" panose="020B0604020202020204" pitchFamily="34" charset="0"/>
              </a:rPr>
              <a:t> HJET operation; carbon target heating acceptable at realistic EIC beam sizes; dielectric target holders minimize wake field power; quadrupole mass spectrometer for molecular hydrogen background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Scope complete:</a:t>
            </a:r>
            <a:r>
              <a:rPr kumimoji="0" lang="en-US" altLang="en-US" sz="1800" b="0" i="0" u="none" strike="noStrike" cap="none" normalizeH="0" baseline="0" dirty="0">
                <a:ln>
                  <a:noFill/>
                </a:ln>
                <a:solidFill>
                  <a:schemeClr val="tx1"/>
                </a:solidFill>
                <a:effectLst/>
                <a:latin typeface="Arial" panose="020B0604020202020204" pitchFamily="34" charset="0"/>
              </a:rPr>
              <a:t> $10.2M total ($4.9M electron, $5.4M hadron). No internal dependencies. Interfaces identified and documented. Schedule aligned with accelerator needs (ready FY2030-2031)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Requirements met:</a:t>
            </a:r>
            <a:r>
              <a:rPr kumimoji="0" lang="en-US" altLang="en-US" sz="1800" b="0" i="0" u="none" strike="noStrike" cap="none" normalizeH="0" baseline="0" dirty="0">
                <a:ln>
                  <a:noFill/>
                </a:ln>
                <a:solidFill>
                  <a:schemeClr val="tx1"/>
                </a:solidFill>
                <a:effectLst/>
                <a:latin typeface="Arial" panose="020B0604020202020204" pitchFamily="34" charset="0"/>
              </a:rPr>
              <a:t> Both systems achieve ΔP/P ≈ 1% systematic uncertainty for ESR and HSR with bunch-by-bunch capability </a:t>
            </a:r>
          </a:p>
        </p:txBody>
      </p:sp>
      <p:sp>
        <p:nvSpPr>
          <p:cNvPr id="11" name="TextBox 10">
            <a:extLst>
              <a:ext uri="{FF2B5EF4-FFF2-40B4-BE49-F238E27FC236}">
                <a16:creationId xmlns:a16="http://schemas.microsoft.com/office/drawing/2014/main" id="{B6CA35FB-6A93-88EE-2BBA-70C0EA77CF6C}"/>
              </a:ext>
            </a:extLst>
          </p:cNvPr>
          <p:cNvSpPr txBox="1"/>
          <p:nvPr/>
        </p:nvSpPr>
        <p:spPr>
          <a:xfrm>
            <a:off x="2209800" y="5674221"/>
            <a:ext cx="7772400" cy="461665"/>
          </a:xfrm>
          <a:prstGeom prst="rect">
            <a:avLst/>
          </a:prstGeom>
          <a:noFill/>
        </p:spPr>
        <p:txBody>
          <a:bodyPr wrap="square">
            <a:spAutoFit/>
          </a:bodyPr>
          <a:lstStyle/>
          <a:p>
            <a:pPr algn="ctr"/>
            <a:r>
              <a:rPr lang="en-US" sz="2400" dirty="0"/>
              <a:t>Polarimetry is ready for CD-2 baseline establishment</a:t>
            </a:r>
          </a:p>
        </p:txBody>
      </p:sp>
    </p:spTree>
    <p:extLst>
      <p:ext uri="{BB962C8B-B14F-4D97-AF65-F5344CB8AC3E}">
        <p14:creationId xmlns:p14="http://schemas.microsoft.com/office/powerpoint/2010/main" val="19047901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4AB9FF-D4FF-25C0-7FE7-58250A868151}"/>
              </a:ext>
            </a:extLst>
          </p:cNvPr>
          <p:cNvSpPr>
            <a:spLocks noGrp="1"/>
          </p:cNvSpPr>
          <p:nvPr>
            <p:ph type="sldNum" sz="quarter" idx="4"/>
          </p:nvPr>
        </p:nvSpPr>
        <p:spPr/>
        <p:txBody>
          <a:bodyPr/>
          <a:lstStyle/>
          <a:p>
            <a:fld id="{933A556B-7C63-244D-9B7C-B0EA8042B330}" type="slidenum">
              <a:rPr lang="en-US" smtClean="0"/>
              <a:pPr/>
              <a:t>32</a:t>
            </a:fld>
            <a:endParaRPr lang="en-US"/>
          </a:p>
        </p:txBody>
      </p:sp>
      <p:sp>
        <p:nvSpPr>
          <p:cNvPr id="3" name="Title 2">
            <a:extLst>
              <a:ext uri="{FF2B5EF4-FFF2-40B4-BE49-F238E27FC236}">
                <a16:creationId xmlns:a16="http://schemas.microsoft.com/office/drawing/2014/main" id="{3566E5A7-2EE8-C278-E358-9D5338BE1A3C}"/>
              </a:ext>
            </a:extLst>
          </p:cNvPr>
          <p:cNvSpPr>
            <a:spLocks noGrp="1"/>
          </p:cNvSpPr>
          <p:nvPr>
            <p:ph type="title"/>
          </p:nvPr>
        </p:nvSpPr>
        <p:spPr/>
        <p:txBody>
          <a:bodyPr/>
          <a:lstStyle/>
          <a:p>
            <a:r>
              <a:rPr lang="en-US" dirty="0"/>
              <a:t>Backup</a:t>
            </a:r>
          </a:p>
        </p:txBody>
      </p:sp>
    </p:spTree>
    <p:extLst>
      <p:ext uri="{BB962C8B-B14F-4D97-AF65-F5344CB8AC3E}">
        <p14:creationId xmlns:p14="http://schemas.microsoft.com/office/powerpoint/2010/main" val="27506443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1806B-2927-D44D-6D5C-ABFE7BD6B59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D375E2-A400-2718-95C8-238C8CF1F844}"/>
              </a:ext>
            </a:extLst>
          </p:cNvPr>
          <p:cNvSpPr>
            <a:spLocks noGrp="1"/>
          </p:cNvSpPr>
          <p:nvPr>
            <p:ph type="sldNum" sz="quarter" idx="4"/>
          </p:nvPr>
        </p:nvSpPr>
        <p:spPr/>
        <p:txBody>
          <a:bodyPr/>
          <a:lstStyle/>
          <a:p>
            <a:fld id="{933A556B-7C63-244D-9B7C-B0EA8042B330}" type="slidenum">
              <a:rPr lang="en-US" smtClean="0"/>
              <a:pPr/>
              <a:t>33</a:t>
            </a:fld>
            <a:endParaRPr lang="en-US"/>
          </a:p>
        </p:txBody>
      </p:sp>
      <p:sp>
        <p:nvSpPr>
          <p:cNvPr id="3" name="Title 2">
            <a:extLst>
              <a:ext uri="{FF2B5EF4-FFF2-40B4-BE49-F238E27FC236}">
                <a16:creationId xmlns:a16="http://schemas.microsoft.com/office/drawing/2014/main" id="{9DBFCDEC-06F3-ED39-4386-3B43D50D842A}"/>
              </a:ext>
            </a:extLst>
          </p:cNvPr>
          <p:cNvSpPr>
            <a:spLocks noGrp="1"/>
          </p:cNvSpPr>
          <p:nvPr>
            <p:ph type="title"/>
          </p:nvPr>
        </p:nvSpPr>
        <p:spPr/>
        <p:txBody>
          <a:bodyPr/>
          <a:lstStyle/>
          <a:p>
            <a:r>
              <a:rPr lang="en-US" dirty="0"/>
              <a:t>Electron Polarimeters</a:t>
            </a:r>
          </a:p>
        </p:txBody>
      </p:sp>
      <p:sp>
        <p:nvSpPr>
          <p:cNvPr id="6" name="TextBox 5">
            <a:extLst>
              <a:ext uri="{FF2B5EF4-FFF2-40B4-BE49-F238E27FC236}">
                <a16:creationId xmlns:a16="http://schemas.microsoft.com/office/drawing/2014/main" id="{C9B41D91-2588-7142-1CB3-898F07E5BC80}"/>
              </a:ext>
            </a:extLst>
          </p:cNvPr>
          <p:cNvSpPr txBox="1"/>
          <p:nvPr/>
        </p:nvSpPr>
        <p:spPr>
          <a:xfrm>
            <a:off x="440451" y="1064300"/>
            <a:ext cx="5642047" cy="1969770"/>
          </a:xfrm>
          <a:prstGeom prst="rect">
            <a:avLst/>
          </a:prstGeom>
          <a:noFill/>
        </p:spPr>
        <p:txBody>
          <a:bodyPr wrap="square" rtlCol="0">
            <a:spAutoFit/>
          </a:bodyPr>
          <a:lstStyle/>
          <a:p>
            <a:pPr>
              <a:spcAft>
                <a:spcPts val="600"/>
              </a:spcAft>
            </a:pPr>
            <a:r>
              <a:rPr lang="en-US" b="1" dirty="0"/>
              <a:t>ESR Polarimeter Components:</a:t>
            </a:r>
          </a:p>
          <a:p>
            <a:pPr marL="342900" indent="-342900">
              <a:spcAft>
                <a:spcPts val="600"/>
              </a:spcAft>
              <a:buAutoNum type="arabicPeriod"/>
            </a:pPr>
            <a:r>
              <a:rPr lang="en-US" sz="1600" dirty="0"/>
              <a:t>RF-pulsed laser system (under development)</a:t>
            </a:r>
          </a:p>
          <a:p>
            <a:pPr marL="342900" indent="-342900">
              <a:spcAft>
                <a:spcPts val="600"/>
              </a:spcAft>
              <a:buAutoNum type="arabicPeriod"/>
            </a:pPr>
            <a:r>
              <a:rPr lang="en-US" sz="1600" dirty="0"/>
              <a:t>Position sensitive detectors (diamond strips) for scattered electrons and backscattered photons</a:t>
            </a:r>
          </a:p>
          <a:p>
            <a:pPr marL="342900" indent="-342900">
              <a:spcAft>
                <a:spcPts val="600"/>
              </a:spcAft>
              <a:buAutoNum type="arabicPeriod"/>
            </a:pPr>
            <a:r>
              <a:rPr lang="en-US" sz="1600" dirty="0"/>
              <a:t>Calorimeter for backscattered photons</a:t>
            </a:r>
          </a:p>
          <a:p>
            <a:pPr>
              <a:spcAft>
                <a:spcPts val="600"/>
              </a:spcAft>
            </a:pPr>
            <a:r>
              <a:rPr lang="en-US" sz="1600" b="1" i="1" dirty="0"/>
              <a:t>Will operate in single-photon mode</a:t>
            </a:r>
          </a:p>
        </p:txBody>
      </p:sp>
      <p:grpSp>
        <p:nvGrpSpPr>
          <p:cNvPr id="4" name="Group 3">
            <a:extLst>
              <a:ext uri="{FF2B5EF4-FFF2-40B4-BE49-F238E27FC236}">
                <a16:creationId xmlns:a16="http://schemas.microsoft.com/office/drawing/2014/main" id="{0CAAC4F4-CA7D-CBAE-3186-75C27305D4CA}"/>
              </a:ext>
            </a:extLst>
          </p:cNvPr>
          <p:cNvGrpSpPr/>
          <p:nvPr/>
        </p:nvGrpSpPr>
        <p:grpSpPr>
          <a:xfrm>
            <a:off x="5689006" y="995820"/>
            <a:ext cx="5978886" cy="2092881"/>
            <a:chOff x="1548253" y="711882"/>
            <a:chExt cx="9814625" cy="4088715"/>
          </a:xfrm>
        </p:grpSpPr>
        <p:pic>
          <p:nvPicPr>
            <p:cNvPr id="5" name="Picture 4" descr="A long red blue and yellow object&#10;&#10;Description automatically generated">
              <a:extLst>
                <a:ext uri="{FF2B5EF4-FFF2-40B4-BE49-F238E27FC236}">
                  <a16:creationId xmlns:a16="http://schemas.microsoft.com/office/drawing/2014/main" id="{835961B0-7330-F775-80AE-5DB00AC3247E}"/>
                </a:ext>
              </a:extLst>
            </p:cNvPr>
            <p:cNvPicPr>
              <a:picLocks noChangeAspect="1"/>
            </p:cNvPicPr>
            <p:nvPr/>
          </p:nvPicPr>
          <p:blipFill>
            <a:blip r:embed="rId3"/>
            <a:stretch>
              <a:fillRect/>
            </a:stretch>
          </p:blipFill>
          <p:spPr>
            <a:xfrm>
              <a:off x="1639448" y="993330"/>
              <a:ext cx="9412943" cy="3807267"/>
            </a:xfrm>
            <a:prstGeom prst="rect">
              <a:avLst/>
            </a:prstGeom>
          </p:spPr>
        </p:pic>
        <p:sp>
          <p:nvSpPr>
            <p:cNvPr id="9" name="TextBox 8">
              <a:extLst>
                <a:ext uri="{FF2B5EF4-FFF2-40B4-BE49-F238E27FC236}">
                  <a16:creationId xmlns:a16="http://schemas.microsoft.com/office/drawing/2014/main" id="{6A0C3F01-2237-2AFC-D570-56396B554AE3}"/>
                </a:ext>
              </a:extLst>
            </p:cNvPr>
            <p:cNvSpPr txBox="1"/>
            <p:nvPr/>
          </p:nvSpPr>
          <p:spPr>
            <a:xfrm>
              <a:off x="9161794" y="1021228"/>
              <a:ext cx="1563582" cy="541154"/>
            </a:xfrm>
            <a:prstGeom prst="rect">
              <a:avLst/>
            </a:prstGeom>
            <a:noFill/>
          </p:spPr>
          <p:txBody>
            <a:bodyPr wrap="none" rtlCol="0">
              <a:spAutoFit/>
            </a:bodyPr>
            <a:lstStyle/>
            <a:p>
              <a:r>
                <a:rPr lang="en-US" sz="1200"/>
                <a:t>Crab cavity</a:t>
              </a:r>
            </a:p>
          </p:txBody>
        </p:sp>
        <p:sp>
          <p:nvSpPr>
            <p:cNvPr id="10" name="TextBox 9">
              <a:extLst>
                <a:ext uri="{FF2B5EF4-FFF2-40B4-BE49-F238E27FC236}">
                  <a16:creationId xmlns:a16="http://schemas.microsoft.com/office/drawing/2014/main" id="{31EF5D56-F448-7C3A-CFB9-0BE12DD5DA64}"/>
                </a:ext>
              </a:extLst>
            </p:cNvPr>
            <p:cNvSpPr txBox="1"/>
            <p:nvPr/>
          </p:nvSpPr>
          <p:spPr>
            <a:xfrm>
              <a:off x="5748391" y="862409"/>
              <a:ext cx="2618775" cy="901923"/>
            </a:xfrm>
            <a:prstGeom prst="rect">
              <a:avLst/>
            </a:prstGeom>
            <a:noFill/>
          </p:spPr>
          <p:txBody>
            <a:bodyPr wrap="none" rtlCol="0">
              <a:spAutoFit/>
            </a:bodyPr>
            <a:lstStyle/>
            <a:p>
              <a:r>
                <a:rPr lang="en-US" sz="1200" b="1" dirty="0"/>
                <a:t>Photon Detector</a:t>
              </a:r>
            </a:p>
            <a:p>
              <a:r>
                <a:rPr lang="en-US" sz="1200" dirty="0"/>
                <a:t>(30 m from Laser IP)</a:t>
              </a:r>
            </a:p>
          </p:txBody>
        </p:sp>
        <p:sp>
          <p:nvSpPr>
            <p:cNvPr id="11" name="TextBox 10">
              <a:extLst>
                <a:ext uri="{FF2B5EF4-FFF2-40B4-BE49-F238E27FC236}">
                  <a16:creationId xmlns:a16="http://schemas.microsoft.com/office/drawing/2014/main" id="{E98F193F-59C5-7DD5-72E9-CA40C3E34739}"/>
                </a:ext>
              </a:extLst>
            </p:cNvPr>
            <p:cNvSpPr txBox="1"/>
            <p:nvPr/>
          </p:nvSpPr>
          <p:spPr>
            <a:xfrm>
              <a:off x="4323010" y="3459907"/>
              <a:ext cx="450496" cy="721538"/>
            </a:xfrm>
            <a:prstGeom prst="rect">
              <a:avLst/>
            </a:prstGeom>
            <a:noFill/>
          </p:spPr>
          <p:txBody>
            <a:bodyPr wrap="none" rtlCol="0">
              <a:spAutoFit/>
            </a:bodyPr>
            <a:lstStyle/>
            <a:p>
              <a:r>
                <a:rPr lang="en-US" b="1">
                  <a:solidFill>
                    <a:srgbClr val="00FA00"/>
                  </a:solidFill>
                </a:rPr>
                <a:t>*</a:t>
              </a:r>
            </a:p>
          </p:txBody>
        </p:sp>
        <p:cxnSp>
          <p:nvCxnSpPr>
            <p:cNvPr id="12" name="Straight Arrow Connector 11">
              <a:extLst>
                <a:ext uri="{FF2B5EF4-FFF2-40B4-BE49-F238E27FC236}">
                  <a16:creationId xmlns:a16="http://schemas.microsoft.com/office/drawing/2014/main" id="{85F5198A-8F9C-054A-81A3-CF731DBB7FA9}"/>
                </a:ext>
              </a:extLst>
            </p:cNvPr>
            <p:cNvCxnSpPr>
              <a:cxnSpLocks/>
            </p:cNvCxnSpPr>
            <p:nvPr/>
          </p:nvCxnSpPr>
          <p:spPr>
            <a:xfrm>
              <a:off x="3201836" y="1840097"/>
              <a:ext cx="1268333" cy="1652671"/>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447A2EE-1E79-1C56-6083-24B509CED447}"/>
                </a:ext>
              </a:extLst>
            </p:cNvPr>
            <p:cNvSpPr txBox="1"/>
            <p:nvPr/>
          </p:nvSpPr>
          <p:spPr>
            <a:xfrm>
              <a:off x="3885449" y="2865095"/>
              <a:ext cx="1271495" cy="811729"/>
            </a:xfrm>
            <a:prstGeom prst="rect">
              <a:avLst/>
            </a:prstGeom>
            <a:noFill/>
          </p:spPr>
          <p:txBody>
            <a:bodyPr wrap="none" rtlCol="0">
              <a:spAutoFit/>
            </a:bodyPr>
            <a:lstStyle/>
            <a:p>
              <a:r>
                <a:rPr lang="en-US" sz="1050" dirty="0"/>
                <a:t>D4EF</a:t>
              </a:r>
            </a:p>
            <a:p>
              <a:r>
                <a:rPr lang="en-US" sz="1050" dirty="0" err="1">
                  <a:latin typeface="Symbol" pitchFamily="2" charset="2"/>
                </a:rPr>
                <a:t>q</a:t>
              </a:r>
              <a:r>
                <a:rPr lang="en-US" sz="1050" baseline="-25000" dirty="0" err="1"/>
                <a:t>B</a:t>
              </a:r>
              <a:r>
                <a:rPr lang="en-US" sz="1050" dirty="0"/>
                <a:t>=1.5 </a:t>
              </a:r>
              <a:r>
                <a:rPr lang="en-US" sz="1050" dirty="0" err="1"/>
                <a:t>mr</a:t>
              </a:r>
              <a:endParaRPr lang="en-US" sz="1050" dirty="0"/>
            </a:p>
          </p:txBody>
        </p:sp>
        <p:sp>
          <p:nvSpPr>
            <p:cNvPr id="14" name="TextBox 13">
              <a:extLst>
                <a:ext uri="{FF2B5EF4-FFF2-40B4-BE49-F238E27FC236}">
                  <a16:creationId xmlns:a16="http://schemas.microsoft.com/office/drawing/2014/main" id="{815D872C-F1C9-0A78-A9E7-8F590A75E9F3}"/>
                </a:ext>
              </a:extLst>
            </p:cNvPr>
            <p:cNvSpPr txBox="1"/>
            <p:nvPr/>
          </p:nvSpPr>
          <p:spPr>
            <a:xfrm>
              <a:off x="4221378" y="3962081"/>
              <a:ext cx="879416" cy="496058"/>
            </a:xfrm>
            <a:prstGeom prst="rect">
              <a:avLst/>
            </a:prstGeom>
            <a:noFill/>
          </p:spPr>
          <p:txBody>
            <a:bodyPr wrap="none" rtlCol="0">
              <a:spAutoFit/>
            </a:bodyPr>
            <a:lstStyle/>
            <a:p>
              <a:r>
                <a:rPr lang="en-US" sz="1050"/>
                <a:t>Q9EF</a:t>
              </a:r>
            </a:p>
          </p:txBody>
        </p:sp>
        <p:sp>
          <p:nvSpPr>
            <p:cNvPr id="15" name="TextBox 14">
              <a:extLst>
                <a:ext uri="{FF2B5EF4-FFF2-40B4-BE49-F238E27FC236}">
                  <a16:creationId xmlns:a16="http://schemas.microsoft.com/office/drawing/2014/main" id="{29BB7203-7A9A-8FAA-3C3D-07B4C6504201}"/>
                </a:ext>
              </a:extLst>
            </p:cNvPr>
            <p:cNvSpPr txBox="1"/>
            <p:nvPr/>
          </p:nvSpPr>
          <p:spPr>
            <a:xfrm>
              <a:off x="3051044" y="3232129"/>
              <a:ext cx="1271495" cy="811729"/>
            </a:xfrm>
            <a:prstGeom prst="rect">
              <a:avLst/>
            </a:prstGeom>
            <a:noFill/>
          </p:spPr>
          <p:txBody>
            <a:bodyPr wrap="none" rtlCol="0">
              <a:spAutoFit/>
            </a:bodyPr>
            <a:lstStyle/>
            <a:p>
              <a:r>
                <a:rPr lang="en-US" sz="1050"/>
                <a:t>D5EF</a:t>
              </a:r>
            </a:p>
            <a:p>
              <a:r>
                <a:rPr lang="en-US" sz="1050" err="1">
                  <a:latin typeface="Symbol" pitchFamily="2" charset="2"/>
                </a:rPr>
                <a:t>q</a:t>
              </a:r>
              <a:r>
                <a:rPr lang="en-US" sz="1050" baseline="-25000" err="1"/>
                <a:t>B</a:t>
              </a:r>
              <a:r>
                <a:rPr lang="en-US" sz="1050"/>
                <a:t>=1.5 </a:t>
              </a:r>
              <a:r>
                <a:rPr lang="en-US" sz="1050" err="1"/>
                <a:t>mr</a:t>
              </a:r>
              <a:endParaRPr lang="en-US" sz="1050"/>
            </a:p>
          </p:txBody>
        </p:sp>
        <p:sp>
          <p:nvSpPr>
            <p:cNvPr id="16" name="TextBox 15">
              <a:extLst>
                <a:ext uri="{FF2B5EF4-FFF2-40B4-BE49-F238E27FC236}">
                  <a16:creationId xmlns:a16="http://schemas.microsoft.com/office/drawing/2014/main" id="{6F29592F-E156-A862-DE0F-0EC18C0B481B}"/>
                </a:ext>
              </a:extLst>
            </p:cNvPr>
            <p:cNvSpPr txBox="1"/>
            <p:nvPr/>
          </p:nvSpPr>
          <p:spPr>
            <a:xfrm>
              <a:off x="2160329" y="3623658"/>
              <a:ext cx="1210973" cy="811729"/>
            </a:xfrm>
            <a:prstGeom prst="rect">
              <a:avLst/>
            </a:prstGeom>
            <a:noFill/>
          </p:spPr>
          <p:txBody>
            <a:bodyPr wrap="none" rtlCol="0">
              <a:spAutoFit/>
            </a:bodyPr>
            <a:lstStyle/>
            <a:p>
              <a:r>
                <a:rPr lang="en-US" sz="1050"/>
                <a:t>D6EF</a:t>
              </a:r>
            </a:p>
            <a:p>
              <a:r>
                <a:rPr lang="en-US" sz="1050" err="1">
                  <a:latin typeface="Symbol" pitchFamily="2" charset="2"/>
                </a:rPr>
                <a:t>q</a:t>
              </a:r>
              <a:r>
                <a:rPr lang="en-US" sz="1050" baseline="-25000" err="1"/>
                <a:t>B</a:t>
              </a:r>
              <a:r>
                <a:rPr lang="en-US" sz="1050"/>
                <a:t>=12 </a:t>
              </a:r>
              <a:r>
                <a:rPr lang="en-US" sz="1050" err="1"/>
                <a:t>mr</a:t>
              </a:r>
              <a:endParaRPr lang="en-US" sz="1050"/>
            </a:p>
          </p:txBody>
        </p:sp>
        <p:sp>
          <p:nvSpPr>
            <p:cNvPr id="17" name="TextBox 16">
              <a:extLst>
                <a:ext uri="{FF2B5EF4-FFF2-40B4-BE49-F238E27FC236}">
                  <a16:creationId xmlns:a16="http://schemas.microsoft.com/office/drawing/2014/main" id="{8CA79346-D1E4-15D3-67FF-F2AFDF3884AB}"/>
                </a:ext>
              </a:extLst>
            </p:cNvPr>
            <p:cNvSpPr txBox="1"/>
            <p:nvPr/>
          </p:nvSpPr>
          <p:spPr>
            <a:xfrm>
              <a:off x="3167070" y="4207229"/>
              <a:ext cx="1003092" cy="496058"/>
            </a:xfrm>
            <a:prstGeom prst="rect">
              <a:avLst/>
            </a:prstGeom>
            <a:noFill/>
          </p:spPr>
          <p:txBody>
            <a:bodyPr wrap="none" rtlCol="0">
              <a:spAutoFit/>
            </a:bodyPr>
            <a:lstStyle/>
            <a:p>
              <a:r>
                <a:rPr lang="en-US" sz="1050"/>
                <a:t>Q10EF</a:t>
              </a:r>
            </a:p>
          </p:txBody>
        </p:sp>
        <p:sp>
          <p:nvSpPr>
            <p:cNvPr id="18" name="TextBox 17">
              <a:extLst>
                <a:ext uri="{FF2B5EF4-FFF2-40B4-BE49-F238E27FC236}">
                  <a16:creationId xmlns:a16="http://schemas.microsoft.com/office/drawing/2014/main" id="{0A42B2DD-40D6-5860-8188-74865D77F1AB}"/>
                </a:ext>
              </a:extLst>
            </p:cNvPr>
            <p:cNvSpPr txBox="1"/>
            <p:nvPr/>
          </p:nvSpPr>
          <p:spPr>
            <a:xfrm>
              <a:off x="5181014" y="3449500"/>
              <a:ext cx="879416" cy="496058"/>
            </a:xfrm>
            <a:prstGeom prst="rect">
              <a:avLst/>
            </a:prstGeom>
            <a:noFill/>
          </p:spPr>
          <p:txBody>
            <a:bodyPr wrap="none" rtlCol="0">
              <a:spAutoFit/>
            </a:bodyPr>
            <a:lstStyle/>
            <a:p>
              <a:r>
                <a:rPr lang="en-US" sz="1050"/>
                <a:t>Q8EF</a:t>
              </a:r>
            </a:p>
          </p:txBody>
        </p:sp>
        <p:sp>
          <p:nvSpPr>
            <p:cNvPr id="19" name="TextBox 18">
              <a:extLst>
                <a:ext uri="{FF2B5EF4-FFF2-40B4-BE49-F238E27FC236}">
                  <a16:creationId xmlns:a16="http://schemas.microsoft.com/office/drawing/2014/main" id="{62DE2FB9-3700-2ABF-DB40-516D3F6C994E}"/>
                </a:ext>
              </a:extLst>
            </p:cNvPr>
            <p:cNvSpPr txBox="1"/>
            <p:nvPr/>
          </p:nvSpPr>
          <p:spPr>
            <a:xfrm>
              <a:off x="6148854" y="3146195"/>
              <a:ext cx="879416" cy="496058"/>
            </a:xfrm>
            <a:prstGeom prst="rect">
              <a:avLst/>
            </a:prstGeom>
            <a:noFill/>
          </p:spPr>
          <p:txBody>
            <a:bodyPr wrap="none" rtlCol="0">
              <a:spAutoFit/>
            </a:bodyPr>
            <a:lstStyle/>
            <a:p>
              <a:r>
                <a:rPr lang="en-US" sz="1050"/>
                <a:t>Q7EF</a:t>
              </a:r>
            </a:p>
          </p:txBody>
        </p:sp>
        <p:sp>
          <p:nvSpPr>
            <p:cNvPr id="20" name="TextBox 19">
              <a:extLst>
                <a:ext uri="{FF2B5EF4-FFF2-40B4-BE49-F238E27FC236}">
                  <a16:creationId xmlns:a16="http://schemas.microsoft.com/office/drawing/2014/main" id="{10C88BB0-4EF1-1694-5855-A0CCD67D5BE9}"/>
                </a:ext>
              </a:extLst>
            </p:cNvPr>
            <p:cNvSpPr txBox="1"/>
            <p:nvPr/>
          </p:nvSpPr>
          <p:spPr>
            <a:xfrm>
              <a:off x="7078110" y="2829085"/>
              <a:ext cx="879416" cy="496058"/>
            </a:xfrm>
            <a:prstGeom prst="rect">
              <a:avLst/>
            </a:prstGeom>
            <a:noFill/>
          </p:spPr>
          <p:txBody>
            <a:bodyPr wrap="none" rtlCol="0">
              <a:spAutoFit/>
            </a:bodyPr>
            <a:lstStyle/>
            <a:p>
              <a:r>
                <a:rPr lang="en-US" sz="1050"/>
                <a:t>Q6EF</a:t>
              </a:r>
            </a:p>
          </p:txBody>
        </p:sp>
        <p:sp>
          <p:nvSpPr>
            <p:cNvPr id="21" name="TextBox 20">
              <a:extLst>
                <a:ext uri="{FF2B5EF4-FFF2-40B4-BE49-F238E27FC236}">
                  <a16:creationId xmlns:a16="http://schemas.microsoft.com/office/drawing/2014/main" id="{EB29650A-08EA-1EDA-5EDF-F5584BFE7509}"/>
                </a:ext>
              </a:extLst>
            </p:cNvPr>
            <p:cNvSpPr txBox="1"/>
            <p:nvPr/>
          </p:nvSpPr>
          <p:spPr>
            <a:xfrm>
              <a:off x="7914935" y="2500624"/>
              <a:ext cx="879416" cy="496058"/>
            </a:xfrm>
            <a:prstGeom prst="rect">
              <a:avLst/>
            </a:prstGeom>
            <a:noFill/>
          </p:spPr>
          <p:txBody>
            <a:bodyPr wrap="none" rtlCol="0">
              <a:spAutoFit/>
            </a:bodyPr>
            <a:lstStyle/>
            <a:p>
              <a:r>
                <a:rPr lang="en-US" sz="1050"/>
                <a:t>Q5EF</a:t>
              </a:r>
            </a:p>
          </p:txBody>
        </p:sp>
        <p:sp>
          <p:nvSpPr>
            <p:cNvPr id="22" name="TextBox 21">
              <a:extLst>
                <a:ext uri="{FF2B5EF4-FFF2-40B4-BE49-F238E27FC236}">
                  <a16:creationId xmlns:a16="http://schemas.microsoft.com/office/drawing/2014/main" id="{4ED76F88-3E66-9049-A225-3DAAADFD9C1F}"/>
                </a:ext>
              </a:extLst>
            </p:cNvPr>
            <p:cNvSpPr txBox="1"/>
            <p:nvPr/>
          </p:nvSpPr>
          <p:spPr>
            <a:xfrm>
              <a:off x="8878789" y="2229915"/>
              <a:ext cx="879416" cy="496058"/>
            </a:xfrm>
            <a:prstGeom prst="rect">
              <a:avLst/>
            </a:prstGeom>
            <a:noFill/>
          </p:spPr>
          <p:txBody>
            <a:bodyPr wrap="none" rtlCol="0">
              <a:spAutoFit/>
            </a:bodyPr>
            <a:lstStyle/>
            <a:p>
              <a:r>
                <a:rPr lang="en-US" sz="1050"/>
                <a:t>Q4EF</a:t>
              </a:r>
            </a:p>
          </p:txBody>
        </p:sp>
        <p:sp>
          <p:nvSpPr>
            <p:cNvPr id="23" name="TextBox 22">
              <a:extLst>
                <a:ext uri="{FF2B5EF4-FFF2-40B4-BE49-F238E27FC236}">
                  <a16:creationId xmlns:a16="http://schemas.microsoft.com/office/drawing/2014/main" id="{4E26094A-634B-92B8-AC81-620E75672E64}"/>
                </a:ext>
              </a:extLst>
            </p:cNvPr>
            <p:cNvSpPr txBox="1"/>
            <p:nvPr/>
          </p:nvSpPr>
          <p:spPr>
            <a:xfrm>
              <a:off x="9368054" y="1979481"/>
              <a:ext cx="879416" cy="496058"/>
            </a:xfrm>
            <a:prstGeom prst="rect">
              <a:avLst/>
            </a:prstGeom>
            <a:noFill/>
          </p:spPr>
          <p:txBody>
            <a:bodyPr wrap="none" rtlCol="0">
              <a:spAutoFit/>
            </a:bodyPr>
            <a:lstStyle/>
            <a:p>
              <a:r>
                <a:rPr lang="en-US" sz="1050"/>
                <a:t>Q3EF</a:t>
              </a:r>
            </a:p>
          </p:txBody>
        </p:sp>
        <p:sp>
          <p:nvSpPr>
            <p:cNvPr id="24" name="TextBox 23">
              <a:extLst>
                <a:ext uri="{FF2B5EF4-FFF2-40B4-BE49-F238E27FC236}">
                  <a16:creationId xmlns:a16="http://schemas.microsoft.com/office/drawing/2014/main" id="{225A1920-7411-3FC6-0D51-0B4866A76FA5}"/>
                </a:ext>
              </a:extLst>
            </p:cNvPr>
            <p:cNvSpPr txBox="1"/>
            <p:nvPr/>
          </p:nvSpPr>
          <p:spPr>
            <a:xfrm>
              <a:off x="4956154" y="2487845"/>
              <a:ext cx="1210973" cy="811729"/>
            </a:xfrm>
            <a:prstGeom prst="rect">
              <a:avLst/>
            </a:prstGeom>
            <a:noFill/>
          </p:spPr>
          <p:txBody>
            <a:bodyPr wrap="none" rtlCol="0">
              <a:spAutoFit/>
            </a:bodyPr>
            <a:lstStyle/>
            <a:p>
              <a:r>
                <a:rPr lang="en-US" sz="1050"/>
                <a:t>D3EF</a:t>
              </a:r>
            </a:p>
            <a:p>
              <a:r>
                <a:rPr lang="en-US" sz="1050" err="1">
                  <a:latin typeface="Symbol" pitchFamily="2" charset="2"/>
                </a:rPr>
                <a:t>q</a:t>
              </a:r>
              <a:r>
                <a:rPr lang="en-US" sz="1050" baseline="-25000" err="1"/>
                <a:t>B</a:t>
              </a:r>
              <a:r>
                <a:rPr lang="en-US" sz="1050"/>
                <a:t>=13 </a:t>
              </a:r>
              <a:r>
                <a:rPr lang="en-US" sz="1050" err="1"/>
                <a:t>mr</a:t>
              </a:r>
              <a:endParaRPr lang="en-US" sz="1050"/>
            </a:p>
          </p:txBody>
        </p:sp>
        <p:sp>
          <p:nvSpPr>
            <p:cNvPr id="25" name="TextBox 24">
              <a:extLst>
                <a:ext uri="{FF2B5EF4-FFF2-40B4-BE49-F238E27FC236}">
                  <a16:creationId xmlns:a16="http://schemas.microsoft.com/office/drawing/2014/main" id="{359B60DB-AB78-51FB-1A26-BC1F59909921}"/>
                </a:ext>
              </a:extLst>
            </p:cNvPr>
            <p:cNvSpPr txBox="1"/>
            <p:nvPr/>
          </p:nvSpPr>
          <p:spPr>
            <a:xfrm>
              <a:off x="10493987" y="1712664"/>
              <a:ext cx="868891" cy="496058"/>
            </a:xfrm>
            <a:prstGeom prst="rect">
              <a:avLst/>
            </a:prstGeom>
            <a:noFill/>
          </p:spPr>
          <p:txBody>
            <a:bodyPr wrap="none" rtlCol="0">
              <a:spAutoFit/>
            </a:bodyPr>
            <a:lstStyle/>
            <a:p>
              <a:r>
                <a:rPr lang="en-US" sz="1050"/>
                <a:t>D2EF</a:t>
              </a:r>
            </a:p>
          </p:txBody>
        </p:sp>
        <p:cxnSp>
          <p:nvCxnSpPr>
            <p:cNvPr id="26" name="Straight Arrow Connector 25">
              <a:extLst>
                <a:ext uri="{FF2B5EF4-FFF2-40B4-BE49-F238E27FC236}">
                  <a16:creationId xmlns:a16="http://schemas.microsoft.com/office/drawing/2014/main" id="{30A734EF-560C-7877-05EF-2FAE155B0586}"/>
                </a:ext>
              </a:extLst>
            </p:cNvPr>
            <p:cNvCxnSpPr>
              <a:cxnSpLocks/>
            </p:cNvCxnSpPr>
            <p:nvPr/>
          </p:nvCxnSpPr>
          <p:spPr>
            <a:xfrm flipH="1" flipV="1">
              <a:off x="8449483" y="1523623"/>
              <a:ext cx="952285" cy="261403"/>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48D86A7-079F-67A7-021C-2BDE2B5CA3BD}"/>
                </a:ext>
              </a:extLst>
            </p:cNvPr>
            <p:cNvSpPr txBox="1"/>
            <p:nvPr/>
          </p:nvSpPr>
          <p:spPr>
            <a:xfrm>
              <a:off x="4516726" y="1761177"/>
              <a:ext cx="2405632" cy="541154"/>
            </a:xfrm>
            <a:prstGeom prst="rect">
              <a:avLst/>
            </a:prstGeom>
            <a:noFill/>
          </p:spPr>
          <p:txBody>
            <a:bodyPr wrap="none" rtlCol="0">
              <a:spAutoFit/>
            </a:bodyPr>
            <a:lstStyle/>
            <a:p>
              <a:r>
                <a:rPr lang="en-US" sz="1200" b="1"/>
                <a:t>Electron Detector</a:t>
              </a:r>
            </a:p>
          </p:txBody>
        </p:sp>
        <p:cxnSp>
          <p:nvCxnSpPr>
            <p:cNvPr id="28" name="Straight Arrow Connector 27">
              <a:extLst>
                <a:ext uri="{FF2B5EF4-FFF2-40B4-BE49-F238E27FC236}">
                  <a16:creationId xmlns:a16="http://schemas.microsoft.com/office/drawing/2014/main" id="{5B48E128-0630-B23E-237E-1FB8123D4F7E}"/>
                </a:ext>
              </a:extLst>
            </p:cNvPr>
            <p:cNvCxnSpPr>
              <a:cxnSpLocks/>
            </p:cNvCxnSpPr>
            <p:nvPr/>
          </p:nvCxnSpPr>
          <p:spPr>
            <a:xfrm flipH="1" flipV="1">
              <a:off x="6270837" y="2188241"/>
              <a:ext cx="574911" cy="521911"/>
            </a:xfrm>
            <a:prstGeom prst="straightConnector1">
              <a:avLst/>
            </a:prstGeom>
            <a:ln w="2857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EEB46014-6233-67F3-7563-EFEADDDE37E7}"/>
                </a:ext>
              </a:extLst>
            </p:cNvPr>
            <p:cNvSpPr txBox="1"/>
            <p:nvPr/>
          </p:nvSpPr>
          <p:spPr>
            <a:xfrm>
              <a:off x="1548253" y="711882"/>
              <a:ext cx="3632761" cy="12195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lnSpc>
                  <a:spcPts val="2336"/>
                </a:lnSpc>
              </a:pPr>
              <a:r>
                <a:rPr lang="en-US" sz="1200" b="1" i="0" u="none" strike="noStrike" baseline="0" dirty="0">
                  <a:solidFill>
                    <a:srgbClr val="000000"/>
                  </a:solidFill>
                  <a:latin typeface="Arial"/>
                </a:rPr>
                <a:t>Laser IP</a:t>
              </a:r>
              <a:r>
                <a:rPr lang="en-US" sz="1200" b="0" i="0" dirty="0">
                  <a:latin typeface="Arial"/>
                </a:rPr>
                <a:t>​</a:t>
              </a:r>
            </a:p>
            <a:p>
              <a:pPr algn="ctr" rtl="0">
                <a:lnSpc>
                  <a:spcPts val="2076"/>
                </a:lnSpc>
              </a:pPr>
              <a:r>
                <a:rPr lang="en-US" sz="1200" b="0" i="0" u="none" strike="noStrike" baseline="0" dirty="0">
                  <a:solidFill>
                    <a:srgbClr val="000000"/>
                  </a:solidFill>
                  <a:latin typeface="Arial"/>
                </a:rPr>
                <a:t>74 m upstream of IP-6</a:t>
              </a:r>
              <a:endParaRPr lang="en-US" sz="1200" dirty="0"/>
            </a:p>
          </p:txBody>
        </p:sp>
      </p:grpSp>
      <p:sp>
        <p:nvSpPr>
          <p:cNvPr id="35" name="TextBox 34">
            <a:extLst>
              <a:ext uri="{FF2B5EF4-FFF2-40B4-BE49-F238E27FC236}">
                <a16:creationId xmlns:a16="http://schemas.microsoft.com/office/drawing/2014/main" id="{EAD12FCD-E98D-B098-2E33-30D0F8C1AE55}"/>
              </a:ext>
            </a:extLst>
          </p:cNvPr>
          <p:cNvSpPr txBox="1"/>
          <p:nvPr/>
        </p:nvSpPr>
        <p:spPr>
          <a:xfrm>
            <a:off x="462579" y="3243319"/>
            <a:ext cx="5480236" cy="1805623"/>
          </a:xfrm>
          <a:prstGeom prst="rect">
            <a:avLst/>
          </a:prstGeom>
          <a:noFill/>
        </p:spPr>
        <p:txBody>
          <a:bodyPr wrap="square" rtlCol="0">
            <a:spAutoFit/>
          </a:bodyPr>
          <a:lstStyle/>
          <a:p>
            <a:pPr>
              <a:spcAft>
                <a:spcPts val="400"/>
              </a:spcAft>
            </a:pPr>
            <a:r>
              <a:rPr lang="en-US" u="sng" dirty="0"/>
              <a:t>RCS properties</a:t>
            </a:r>
          </a:p>
          <a:p>
            <a:pPr marL="342900" indent="-342900">
              <a:spcAft>
                <a:spcPts val="400"/>
              </a:spcAft>
              <a:buFont typeface="Arial" panose="020B0604020202020204" pitchFamily="34" charset="0"/>
              <a:buChar char="•"/>
            </a:pPr>
            <a:r>
              <a:rPr lang="en-US" sz="1600" dirty="0"/>
              <a:t>RCS accelerates electron bunches</a:t>
            </a:r>
            <a:br>
              <a:rPr lang="en-US" sz="1600" dirty="0"/>
            </a:br>
            <a:r>
              <a:rPr lang="en-US" sz="1600" dirty="0"/>
              <a:t>from 3 GeV to full beam energy (5-18 GeV)</a:t>
            </a:r>
          </a:p>
          <a:p>
            <a:pPr marL="342900" indent="-342900">
              <a:spcAft>
                <a:spcPts val="400"/>
              </a:spcAft>
              <a:buFont typeface="Arial" panose="020B0604020202020204" pitchFamily="34" charset="0"/>
              <a:buChar char="•"/>
            </a:pPr>
            <a:r>
              <a:rPr lang="en-US" sz="1600" dirty="0"/>
              <a:t>Bunch repetition rate:</a:t>
            </a:r>
            <a:r>
              <a:rPr lang="en-US" sz="1600" dirty="0">
                <a:sym typeface="Wingdings" pitchFamily="2" charset="2"/>
              </a:rPr>
              <a:t> 2 Hz</a:t>
            </a:r>
          </a:p>
          <a:p>
            <a:pPr marL="342900" indent="-342900">
              <a:spcAft>
                <a:spcPts val="400"/>
              </a:spcAft>
              <a:buFont typeface="Arial" panose="020B0604020202020204" pitchFamily="34" charset="0"/>
              <a:buChar char="•"/>
            </a:pPr>
            <a:r>
              <a:rPr lang="en-US" sz="1600" dirty="0">
                <a:sym typeface="Wingdings" pitchFamily="2" charset="2"/>
              </a:rPr>
              <a:t>Bunch charge: up to 28 </a:t>
            </a:r>
            <a:r>
              <a:rPr lang="en-US" sz="1600" dirty="0" err="1">
                <a:sym typeface="Wingdings" pitchFamily="2" charset="2"/>
              </a:rPr>
              <a:t>nA</a:t>
            </a:r>
            <a:endParaRPr lang="en-US" sz="1600" dirty="0">
              <a:sym typeface="Wingdings" pitchFamily="2" charset="2"/>
            </a:endParaRPr>
          </a:p>
          <a:p>
            <a:pPr marL="342900" indent="-342900">
              <a:spcAft>
                <a:spcPts val="400"/>
              </a:spcAft>
              <a:buFont typeface="Arial" panose="020B0604020202020204" pitchFamily="34" charset="0"/>
              <a:buChar char="•"/>
            </a:pPr>
            <a:r>
              <a:rPr lang="en-US" sz="1600" dirty="0">
                <a:sym typeface="Wingdings" pitchFamily="2" charset="2"/>
              </a:rPr>
              <a:t>Ramping time: 100 </a:t>
            </a:r>
            <a:r>
              <a:rPr lang="en-US" sz="1600" dirty="0" err="1">
                <a:sym typeface="Wingdings" pitchFamily="2" charset="2"/>
              </a:rPr>
              <a:t>ms</a:t>
            </a:r>
            <a:endParaRPr lang="en-US" sz="1600" dirty="0">
              <a:sym typeface="Wingdings" pitchFamily="2" charset="2"/>
            </a:endParaRPr>
          </a:p>
        </p:txBody>
      </p:sp>
      <p:sp>
        <p:nvSpPr>
          <p:cNvPr id="36" name="Right Arrow 35">
            <a:extLst>
              <a:ext uri="{FF2B5EF4-FFF2-40B4-BE49-F238E27FC236}">
                <a16:creationId xmlns:a16="http://schemas.microsoft.com/office/drawing/2014/main" id="{37967C2E-7866-D5C8-EE90-966B80C77DC1}"/>
              </a:ext>
            </a:extLst>
          </p:cNvPr>
          <p:cNvSpPr/>
          <p:nvPr/>
        </p:nvSpPr>
        <p:spPr>
          <a:xfrm>
            <a:off x="5406624" y="4050581"/>
            <a:ext cx="854264" cy="553050"/>
          </a:xfrm>
          <a:prstGeom prst="rightArrow">
            <a:avLst>
              <a:gd name="adj1" fmla="val 50000"/>
              <a:gd name="adj2" fmla="val 68046"/>
            </a:avLst>
          </a:prstGeom>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7" name="TextBox 36">
            <a:extLst>
              <a:ext uri="{FF2B5EF4-FFF2-40B4-BE49-F238E27FC236}">
                <a16:creationId xmlns:a16="http://schemas.microsoft.com/office/drawing/2014/main" id="{9D1BC75A-5F52-E0A1-EDDB-B4A65EF5E386}"/>
              </a:ext>
            </a:extLst>
          </p:cNvPr>
          <p:cNvSpPr txBox="1"/>
          <p:nvPr/>
        </p:nvSpPr>
        <p:spPr>
          <a:xfrm>
            <a:off x="6687223" y="3335296"/>
            <a:ext cx="4840674" cy="1261884"/>
          </a:xfrm>
          <a:prstGeom prst="rect">
            <a:avLst/>
          </a:prstGeom>
          <a:noFill/>
        </p:spPr>
        <p:txBody>
          <a:bodyPr wrap="square" rtlCol="0">
            <a:spAutoFit/>
          </a:bodyPr>
          <a:lstStyle/>
          <a:p>
            <a:pPr>
              <a:spcAft>
                <a:spcPts val="400"/>
              </a:spcAft>
            </a:pPr>
            <a:r>
              <a:rPr lang="en-US" u="sng" dirty="0"/>
              <a:t>RCS Polarimetry challenges</a:t>
            </a:r>
          </a:p>
          <a:p>
            <a:pPr marL="285750" indent="-285750">
              <a:spcAft>
                <a:spcPts val="400"/>
              </a:spcAft>
              <a:buFont typeface="Arial" panose="020B0604020202020204" pitchFamily="34" charset="0"/>
              <a:buChar char="•"/>
            </a:pPr>
            <a:r>
              <a:rPr lang="en-US" sz="1600" dirty="0"/>
              <a:t>Analyzing power depends on beam energy </a:t>
            </a:r>
          </a:p>
          <a:p>
            <a:pPr marL="285750" indent="-285750">
              <a:spcAft>
                <a:spcPts val="400"/>
              </a:spcAft>
              <a:buFont typeface="Arial" panose="020B0604020202020204" pitchFamily="34" charset="0"/>
              <a:buChar char="•"/>
            </a:pPr>
            <a:r>
              <a:rPr lang="en-US" sz="1600" dirty="0"/>
              <a:t>Low average current</a:t>
            </a:r>
          </a:p>
          <a:p>
            <a:pPr marL="285750" indent="-285750">
              <a:spcAft>
                <a:spcPts val="400"/>
              </a:spcAft>
              <a:buFont typeface="Arial" panose="020B0604020202020204" pitchFamily="34" charset="0"/>
              <a:buChar char="•"/>
            </a:pPr>
            <a:r>
              <a:rPr lang="en-US" sz="1600" dirty="0"/>
              <a:t>Bunch lifetime is short</a:t>
            </a:r>
          </a:p>
        </p:txBody>
      </p:sp>
      <p:sp>
        <p:nvSpPr>
          <p:cNvPr id="38" name="TextBox 37">
            <a:extLst>
              <a:ext uri="{FF2B5EF4-FFF2-40B4-BE49-F238E27FC236}">
                <a16:creationId xmlns:a16="http://schemas.microsoft.com/office/drawing/2014/main" id="{DEB7344B-6436-78D2-5760-E419BDDD532C}"/>
              </a:ext>
            </a:extLst>
          </p:cNvPr>
          <p:cNvSpPr txBox="1"/>
          <p:nvPr/>
        </p:nvSpPr>
        <p:spPr>
          <a:xfrm>
            <a:off x="2083079" y="4985690"/>
            <a:ext cx="9042797" cy="1436291"/>
          </a:xfrm>
          <a:prstGeom prst="rect">
            <a:avLst/>
          </a:prstGeom>
          <a:noFill/>
        </p:spPr>
        <p:txBody>
          <a:bodyPr wrap="none" rtlCol="0">
            <a:spAutoFit/>
          </a:bodyPr>
          <a:lstStyle/>
          <a:p>
            <a:pPr>
              <a:spcAft>
                <a:spcPts val="400"/>
              </a:spcAft>
            </a:pPr>
            <a:r>
              <a:rPr lang="en-US" dirty="0"/>
              <a:t>RCS Compton Polarimeter</a:t>
            </a:r>
          </a:p>
          <a:p>
            <a:pPr marL="285750" indent="-285750">
              <a:spcAft>
                <a:spcPts val="400"/>
              </a:spcAft>
              <a:buFont typeface="Arial" panose="020B0604020202020204" pitchFamily="34" charset="0"/>
              <a:buChar char="•"/>
            </a:pPr>
            <a:r>
              <a:rPr lang="en-US" sz="1400" dirty="0">
                <a:sym typeface="Wingdings" pitchFamily="2" charset="2"/>
              </a:rPr>
              <a:t>Average over several bunches – can tag accelerating bunches to get information on bunches at fixed energy</a:t>
            </a:r>
          </a:p>
          <a:p>
            <a:pPr marL="285750" indent="-285750">
              <a:spcAft>
                <a:spcPts val="400"/>
              </a:spcAft>
              <a:buFont typeface="Arial" panose="020B0604020202020204" pitchFamily="34" charset="0"/>
              <a:buChar char="•"/>
            </a:pPr>
            <a:r>
              <a:rPr lang="en-US" sz="1400" dirty="0">
                <a:sym typeface="Wingdings" pitchFamily="2" charset="2"/>
              </a:rPr>
              <a:t>Requires measurement in </a:t>
            </a:r>
            <a:r>
              <a:rPr lang="en-US" sz="1400" b="1" i="1" dirty="0">
                <a:sym typeface="Wingdings" pitchFamily="2" charset="2"/>
              </a:rPr>
              <a:t>multiphoton mode </a:t>
            </a:r>
            <a:r>
              <a:rPr lang="en-US" sz="1400" dirty="0">
                <a:sym typeface="Wingdings" pitchFamily="2" charset="2"/>
              </a:rPr>
              <a:t>(many backscattered photons/electron bunch)</a:t>
            </a:r>
          </a:p>
          <a:p>
            <a:pPr marL="285750" indent="-285750">
              <a:spcAft>
                <a:spcPts val="400"/>
              </a:spcAft>
              <a:buFont typeface="Arial" panose="020B0604020202020204" pitchFamily="34" charset="0"/>
              <a:buChar char="•"/>
            </a:pPr>
            <a:r>
              <a:rPr lang="en-US" sz="1400" b="1" dirty="0">
                <a:solidFill>
                  <a:srgbClr val="C00000"/>
                </a:solidFill>
                <a:sym typeface="Wingdings" pitchFamily="2" charset="2"/>
              </a:rPr>
              <a:t>Will use same detector technologies as ESR Compton</a:t>
            </a:r>
            <a:endParaRPr lang="en-US" sz="1400" b="1" dirty="0">
              <a:solidFill>
                <a:srgbClr val="C00000"/>
              </a:solidFill>
              <a:cs typeface="Arial"/>
            </a:endParaRPr>
          </a:p>
          <a:p>
            <a:endParaRPr lang="en-US" sz="1400" dirty="0"/>
          </a:p>
        </p:txBody>
      </p:sp>
      <p:cxnSp>
        <p:nvCxnSpPr>
          <p:cNvPr id="40" name="Straight Connector 39">
            <a:extLst>
              <a:ext uri="{FF2B5EF4-FFF2-40B4-BE49-F238E27FC236}">
                <a16:creationId xmlns:a16="http://schemas.microsoft.com/office/drawing/2014/main" id="{9E14089D-1375-7935-935A-868FF5C057EE}"/>
              </a:ext>
            </a:extLst>
          </p:cNvPr>
          <p:cNvCxnSpPr>
            <a:cxnSpLocks/>
          </p:cNvCxnSpPr>
          <p:nvPr/>
        </p:nvCxnSpPr>
        <p:spPr>
          <a:xfrm flipV="1">
            <a:off x="440451" y="3168120"/>
            <a:ext cx="11522053" cy="3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bject 11">
            <a:extLst>
              <a:ext uri="{FF2B5EF4-FFF2-40B4-BE49-F238E27FC236}">
                <a16:creationId xmlns:a16="http://schemas.microsoft.com/office/drawing/2014/main" id="{752220E2-05BA-54F6-9B0A-2BB7677C08BF}"/>
              </a:ext>
            </a:extLst>
          </p:cNvPr>
          <p:cNvSpPr txBox="1"/>
          <p:nvPr/>
        </p:nvSpPr>
        <p:spPr>
          <a:xfrm>
            <a:off x="10416794" y="404229"/>
            <a:ext cx="1527551" cy="334733"/>
          </a:xfrm>
          <a:prstGeom prst="rect">
            <a:avLst/>
          </a:prstGeom>
          <a:solidFill>
            <a:srgbClr val="CCCCCC"/>
          </a:solidFill>
          <a:ln w="10470">
            <a:solidFill>
              <a:srgbClr val="1A2A5B"/>
            </a:solidFill>
          </a:ln>
        </p:spPr>
        <p:txBody>
          <a:bodyPr vert="horz" wrap="square" lIns="0" tIns="26569" rIns="0" bIns="0" rtlCol="0">
            <a:spAutoFit/>
          </a:bodyPr>
          <a:lstStyle/>
          <a:p>
            <a:pPr marL="253757">
              <a:spcBef>
                <a:spcPts val="209"/>
              </a:spcBef>
            </a:pPr>
            <a:r>
              <a:rPr sz="2001" spc="164" dirty="0">
                <a:solidFill>
                  <a:srgbClr val="1A2A5B"/>
                </a:solidFill>
                <a:latin typeface="Arial Narrow"/>
                <a:cs typeface="Arial Narrow"/>
              </a:rPr>
              <a:t>Charge</a:t>
            </a:r>
            <a:r>
              <a:rPr sz="2001" spc="82" dirty="0">
                <a:solidFill>
                  <a:srgbClr val="1A2A5B"/>
                </a:solidFill>
                <a:latin typeface="Arial Narrow"/>
                <a:cs typeface="Arial Narrow"/>
              </a:rPr>
              <a:t> </a:t>
            </a:r>
            <a:r>
              <a:rPr lang="en-US" sz="2001" spc="170" dirty="0">
                <a:solidFill>
                  <a:srgbClr val="1A2A5B"/>
                </a:solidFill>
                <a:latin typeface="Arial Narrow"/>
                <a:cs typeface="Arial Narrow"/>
              </a:rPr>
              <a:t>#2</a:t>
            </a:r>
            <a:endParaRPr sz="2001" dirty="0">
              <a:solidFill>
                <a:srgbClr val="FF0000"/>
              </a:solidFill>
              <a:latin typeface="Arial Narrow"/>
              <a:cs typeface="Arial Narrow"/>
            </a:endParaRPr>
          </a:p>
        </p:txBody>
      </p:sp>
    </p:spTree>
    <p:extLst>
      <p:ext uri="{BB962C8B-B14F-4D97-AF65-F5344CB8AC3E}">
        <p14:creationId xmlns:p14="http://schemas.microsoft.com/office/powerpoint/2010/main" val="12139645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67647-5429-6F8C-72DD-1AD5CB85C74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3E9FB94-1D0C-DF44-15E1-D6114EBFF138}"/>
              </a:ext>
            </a:extLst>
          </p:cNvPr>
          <p:cNvSpPr>
            <a:spLocks noGrp="1"/>
          </p:cNvSpPr>
          <p:nvPr>
            <p:ph type="sldNum" sz="quarter" idx="4"/>
          </p:nvPr>
        </p:nvSpPr>
        <p:spPr/>
        <p:txBody>
          <a:bodyPr/>
          <a:lstStyle/>
          <a:p>
            <a:fld id="{933A556B-7C63-244D-9B7C-B0EA8042B330}" type="slidenum">
              <a:rPr lang="en-US" smtClean="0"/>
              <a:pPr/>
              <a:t>34</a:t>
            </a:fld>
            <a:endParaRPr lang="en-US"/>
          </a:p>
        </p:txBody>
      </p:sp>
      <p:sp>
        <p:nvSpPr>
          <p:cNvPr id="3" name="Title 2">
            <a:extLst>
              <a:ext uri="{FF2B5EF4-FFF2-40B4-BE49-F238E27FC236}">
                <a16:creationId xmlns:a16="http://schemas.microsoft.com/office/drawing/2014/main" id="{1D0964FA-391E-25FB-9783-3B81F7B16A5E}"/>
              </a:ext>
            </a:extLst>
          </p:cNvPr>
          <p:cNvSpPr>
            <a:spLocks noGrp="1"/>
          </p:cNvSpPr>
          <p:nvPr>
            <p:ph type="title"/>
          </p:nvPr>
        </p:nvSpPr>
        <p:spPr/>
        <p:txBody>
          <a:bodyPr>
            <a:noAutofit/>
          </a:bodyPr>
          <a:lstStyle/>
          <a:p>
            <a:r>
              <a:rPr lang="en-US" sz="3200" dirty="0"/>
              <a:t>Technical Progress: ESR Compton Laser</a:t>
            </a:r>
          </a:p>
        </p:txBody>
      </p:sp>
      <p:sp>
        <p:nvSpPr>
          <p:cNvPr id="4" name="Text Placeholder 7">
            <a:extLst>
              <a:ext uri="{FF2B5EF4-FFF2-40B4-BE49-F238E27FC236}">
                <a16:creationId xmlns:a16="http://schemas.microsoft.com/office/drawing/2014/main" id="{802C13EB-4E6E-A064-8F2E-400204F7F1D8}"/>
              </a:ext>
            </a:extLst>
          </p:cNvPr>
          <p:cNvSpPr txBox="1">
            <a:spLocks/>
          </p:cNvSpPr>
          <p:nvPr/>
        </p:nvSpPr>
        <p:spPr>
          <a:xfrm>
            <a:off x="461963" y="981075"/>
            <a:ext cx="11125560" cy="5065713"/>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spcAft>
                <a:spcPts val="600"/>
              </a:spcAft>
              <a:buFont typeface="Arial" panose="020B0604020202020204" pitchFamily="34" charset="0"/>
              <a:buChar char="•"/>
            </a:pPr>
            <a:r>
              <a:rPr lang="en-US" sz="2000" dirty="0"/>
              <a:t>Laser system based on similar system used in JLab injector and LERF </a:t>
            </a:r>
          </a:p>
          <a:p>
            <a:pPr marL="342900" indent="-342900">
              <a:lnSpc>
                <a:spcPct val="100000"/>
              </a:lnSpc>
              <a:spcAft>
                <a:spcPts val="600"/>
              </a:spcAft>
              <a:buFont typeface="Arial" panose="020B0604020202020204" pitchFamily="34" charset="0"/>
              <a:buAutoNum type="arabicPeriod"/>
            </a:pPr>
            <a:r>
              <a:rPr lang="en-US" sz="2000" dirty="0"/>
              <a:t>Gain-switched diode seed laser</a:t>
            </a:r>
            <a:br>
              <a:rPr lang="en-US" sz="2000" dirty="0"/>
            </a:br>
            <a:r>
              <a:rPr lang="en-US" sz="2000" b="1" dirty="0">
                <a:solidFill>
                  <a:srgbClr val="00B050"/>
                </a:solidFill>
              </a:rPr>
              <a:t>10 </a:t>
            </a:r>
            <a:r>
              <a:rPr lang="en-US" sz="2000" b="1" dirty="0" err="1">
                <a:solidFill>
                  <a:srgbClr val="00B050"/>
                </a:solidFill>
              </a:rPr>
              <a:t>ps</a:t>
            </a:r>
            <a:r>
              <a:rPr lang="en-US" sz="2000" b="1" dirty="0">
                <a:solidFill>
                  <a:srgbClr val="00B050"/>
                </a:solidFill>
              </a:rPr>
              <a:t> pulses</a:t>
            </a:r>
            <a:r>
              <a:rPr lang="en-US" sz="2000" b="1" dirty="0">
                <a:solidFill>
                  <a:srgbClr val="FF0000"/>
                </a:solidFill>
              </a:rPr>
              <a:t> </a:t>
            </a:r>
            <a:r>
              <a:rPr lang="en-US" sz="2000" dirty="0"/>
              <a:t>@ </a:t>
            </a:r>
            <a:r>
              <a:rPr lang="en-US" sz="2000" dirty="0">
                <a:sym typeface="Wingdings" pitchFamily="2" charset="2"/>
              </a:rPr>
              <a:t>1064 nm</a:t>
            </a:r>
          </a:p>
          <a:p>
            <a:pPr marL="742950" lvl="1" indent="-285750">
              <a:lnSpc>
                <a:spcPct val="100000"/>
              </a:lnSpc>
              <a:spcAft>
                <a:spcPts val="600"/>
              </a:spcAft>
              <a:buFont typeface="Arial" panose="020B0604020202020204" pitchFamily="34" charset="0"/>
              <a:buChar char="•"/>
            </a:pPr>
            <a:r>
              <a:rPr lang="en-US" sz="1800" dirty="0">
                <a:sym typeface="Wingdings" pitchFamily="2" charset="2"/>
              </a:rPr>
              <a:t>Variable frequency allows optimal use at </a:t>
            </a:r>
            <a:br>
              <a:rPr lang="en-US" sz="1800" dirty="0">
                <a:sym typeface="Wingdings" pitchFamily="2" charset="2"/>
              </a:rPr>
            </a:br>
            <a:r>
              <a:rPr lang="en-US" sz="1800" dirty="0">
                <a:sym typeface="Wingdings" pitchFamily="2" charset="2"/>
              </a:rPr>
              <a:t>different bunch frequencies (</a:t>
            </a:r>
            <a:r>
              <a:rPr lang="en-US" sz="1800" b="1" dirty="0">
                <a:solidFill>
                  <a:srgbClr val="00B050"/>
                </a:solidFill>
                <a:sym typeface="Wingdings" pitchFamily="2" charset="2"/>
              </a:rPr>
              <a:t>100 MHz vs 25 MHz</a:t>
            </a:r>
            <a:r>
              <a:rPr lang="en-US" sz="1800" dirty="0">
                <a:sym typeface="Wingdings" pitchFamily="2" charset="2"/>
              </a:rPr>
              <a:t>)</a:t>
            </a:r>
            <a:endParaRPr lang="en-US" sz="1800" dirty="0"/>
          </a:p>
          <a:p>
            <a:pPr marL="342900" indent="-342900">
              <a:lnSpc>
                <a:spcPct val="100000"/>
              </a:lnSpc>
              <a:spcAft>
                <a:spcPts val="600"/>
              </a:spcAft>
              <a:buFont typeface="Arial" panose="020B0604020202020204" pitchFamily="34" charset="0"/>
              <a:buAutoNum type="arabicPeriod"/>
            </a:pPr>
            <a:r>
              <a:rPr lang="en-US" sz="2000" dirty="0"/>
              <a:t>Fiber amplifier </a:t>
            </a:r>
            <a:r>
              <a:rPr lang="en-US" sz="2000" dirty="0">
                <a:latin typeface="Arial" panose="020B0604020202020204" pitchFamily="34" charset="0"/>
                <a:cs typeface="Arial" panose="020B0604020202020204" pitchFamily="34" charset="0"/>
                <a:sym typeface="Wingdings" pitchFamily="2" charset="2"/>
              </a:rPr>
              <a:t>→</a:t>
            </a:r>
            <a:r>
              <a:rPr lang="en-US" sz="2000" dirty="0">
                <a:sym typeface="Wingdings" pitchFamily="2" charset="2"/>
              </a:rPr>
              <a:t> average power 10-20 W</a:t>
            </a:r>
          </a:p>
          <a:p>
            <a:pPr marL="342900" indent="-342900">
              <a:lnSpc>
                <a:spcPct val="100000"/>
              </a:lnSpc>
              <a:spcAft>
                <a:spcPts val="600"/>
              </a:spcAft>
              <a:buFont typeface="Arial" panose="020B0604020202020204" pitchFamily="34" charset="0"/>
              <a:buAutoNum type="arabicPeriod"/>
            </a:pPr>
            <a:r>
              <a:rPr lang="en-US" sz="2000" dirty="0">
                <a:sym typeface="Wingdings" pitchFamily="2" charset="2"/>
              </a:rPr>
              <a:t>Optional: Frequency doubling system </a:t>
            </a:r>
            <a:br>
              <a:rPr lang="en-US" sz="2000" dirty="0">
                <a:sym typeface="Wingdings" pitchFamily="2" charset="2"/>
              </a:rPr>
            </a:br>
            <a:r>
              <a:rPr lang="en-US" sz="2000" dirty="0">
                <a:sym typeface="Wingdings" pitchFamily="2" charset="2"/>
              </a:rPr>
              <a:t>(LBO or PPLN)</a:t>
            </a:r>
          </a:p>
          <a:p>
            <a:pPr marL="342900" indent="-342900">
              <a:lnSpc>
                <a:spcPct val="100000"/>
              </a:lnSpc>
              <a:spcAft>
                <a:spcPts val="600"/>
              </a:spcAft>
              <a:buFont typeface="Arial" panose="020B0604020202020204" pitchFamily="34" charset="0"/>
              <a:buAutoNum type="arabicPeriod"/>
            </a:pPr>
            <a:r>
              <a:rPr lang="en-US" sz="2000" dirty="0">
                <a:sym typeface="Wingdings" pitchFamily="2" charset="2"/>
              </a:rPr>
              <a:t>Partially reflective exit window to monitor reflected laser polarization</a:t>
            </a:r>
          </a:p>
          <a:p>
            <a:pPr marL="342900" indent="-342900">
              <a:spcAft>
                <a:spcPts val="600"/>
              </a:spcAft>
              <a:buFont typeface="Arial" panose="020B0604020202020204" pitchFamily="34" charset="0"/>
              <a:buChar char="•"/>
            </a:pPr>
            <a:r>
              <a:rPr lang="en-US" sz="2000" dirty="0"/>
              <a:t>Gain-switched seed laser components procured under earlier generic EIC R&amp;D</a:t>
            </a:r>
            <a:endParaRPr lang="en-US" sz="2000" dirty="0">
              <a:sym typeface="Wingdings" pitchFamily="2" charset="2"/>
            </a:endParaRPr>
          </a:p>
          <a:p>
            <a:pPr marL="342900" indent="-342900">
              <a:spcAft>
                <a:spcPts val="600"/>
              </a:spcAft>
              <a:buFont typeface="Arial" panose="020B0604020202020204" pitchFamily="34" charset="0"/>
              <a:buChar char="•"/>
            </a:pPr>
            <a:r>
              <a:rPr lang="en-US" sz="2000" b="1" dirty="0">
                <a:solidFill>
                  <a:srgbClr val="C00000"/>
                </a:solidFill>
                <a:sym typeface="Wingdings" pitchFamily="2" charset="2"/>
              </a:rPr>
              <a:t>Fiber amplifier obtained</a:t>
            </a:r>
            <a:r>
              <a:rPr lang="en-US" sz="2000" dirty="0">
                <a:sym typeface="Wingdings" pitchFamily="2" charset="2"/>
              </a:rPr>
              <a:t> - work underway in Compton polarimetry laser lab at JLab</a:t>
            </a:r>
            <a:endParaRPr lang="en-US" sz="2000" dirty="0"/>
          </a:p>
        </p:txBody>
      </p:sp>
      <p:pic>
        <p:nvPicPr>
          <p:cNvPr id="5" name="Picture 4">
            <a:extLst>
              <a:ext uri="{FF2B5EF4-FFF2-40B4-BE49-F238E27FC236}">
                <a16:creationId xmlns:a16="http://schemas.microsoft.com/office/drawing/2014/main" id="{23C8BC3D-E737-916F-9F4D-F05E0EBD07A8}"/>
              </a:ext>
            </a:extLst>
          </p:cNvPr>
          <p:cNvPicPr>
            <a:picLocks noChangeAspect="1"/>
          </p:cNvPicPr>
          <p:nvPr/>
        </p:nvPicPr>
        <p:blipFill>
          <a:blip r:embed="rId2"/>
          <a:srcRect l="3343" t="23665" r="5482" b="17752"/>
          <a:stretch/>
        </p:blipFill>
        <p:spPr>
          <a:xfrm>
            <a:off x="6019799" y="1312114"/>
            <a:ext cx="6172201" cy="3064459"/>
          </a:xfrm>
          <a:prstGeom prst="rect">
            <a:avLst/>
          </a:prstGeom>
        </p:spPr>
      </p:pic>
    </p:spTree>
    <p:extLst>
      <p:ext uri="{BB962C8B-B14F-4D97-AF65-F5344CB8AC3E}">
        <p14:creationId xmlns:p14="http://schemas.microsoft.com/office/powerpoint/2010/main" val="23003236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91E1F2-D08D-C5D9-658E-5792D4C65B76}"/>
              </a:ext>
            </a:extLst>
          </p:cNvPr>
          <p:cNvSpPr>
            <a:spLocks noGrp="1"/>
          </p:cNvSpPr>
          <p:nvPr>
            <p:ph type="sldNum" sz="quarter" idx="4"/>
          </p:nvPr>
        </p:nvSpPr>
        <p:spPr/>
        <p:txBody>
          <a:bodyPr/>
          <a:lstStyle/>
          <a:p>
            <a:fld id="{933A556B-7C63-244D-9B7C-B0EA8042B330}" type="slidenum">
              <a:rPr lang="en-US" smtClean="0"/>
              <a:pPr/>
              <a:t>35</a:t>
            </a:fld>
            <a:endParaRPr lang="en-US"/>
          </a:p>
        </p:txBody>
      </p:sp>
      <p:sp>
        <p:nvSpPr>
          <p:cNvPr id="3" name="Title 2">
            <a:extLst>
              <a:ext uri="{FF2B5EF4-FFF2-40B4-BE49-F238E27FC236}">
                <a16:creationId xmlns:a16="http://schemas.microsoft.com/office/drawing/2014/main" id="{04155514-45A1-1E6D-7F95-48D76F4242C3}"/>
              </a:ext>
            </a:extLst>
          </p:cNvPr>
          <p:cNvSpPr>
            <a:spLocks noGrp="1"/>
          </p:cNvSpPr>
          <p:nvPr>
            <p:ph type="title"/>
          </p:nvPr>
        </p:nvSpPr>
        <p:spPr/>
        <p:txBody>
          <a:bodyPr>
            <a:noAutofit/>
          </a:bodyPr>
          <a:lstStyle/>
          <a:p>
            <a:r>
              <a:rPr lang="en-US" sz="3200" dirty="0"/>
              <a:t>Technical Progress: Compton Polarimeter Detectors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06B9592-AF0F-87D9-2504-BB0F0F05617C}"/>
                  </a:ext>
                </a:extLst>
              </p:cNvPr>
              <p:cNvSpPr txBox="1"/>
              <p:nvPr/>
            </p:nvSpPr>
            <p:spPr>
              <a:xfrm>
                <a:off x="586837" y="1313036"/>
                <a:ext cx="7645637" cy="423192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2000" b="1" dirty="0">
                    <a:solidFill>
                      <a:srgbClr val="C00000"/>
                    </a:solidFill>
                  </a:rPr>
                  <a:t>Will use a Forward EMCAL module for photon calorimeter</a:t>
                </a:r>
                <a:endParaRPr lang="en-US" sz="2000" b="1" dirty="0">
                  <a:solidFill>
                    <a:srgbClr val="C00000"/>
                  </a:solidFill>
                  <a:cs typeface="Arial"/>
                </a:endParaRPr>
              </a:p>
              <a:p>
                <a:pPr marL="742950" lvl="1" indent="-285750">
                  <a:buFont typeface="Arial" panose="020B0604020202020204" pitchFamily="34" charset="0"/>
                  <a:buChar char="•"/>
                </a:pPr>
                <a:r>
                  <a:rPr lang="en-US" sz="2000" dirty="0"/>
                  <a:t>Block of </a:t>
                </a:r>
                <a14:m>
                  <m:oMath xmlns:m="http://schemas.openxmlformats.org/officeDocument/2006/math">
                    <m:r>
                      <a:rPr lang="en-US" sz="2000" i="1" dirty="0" smtClean="0">
                        <a:latin typeface="Cambria Math" panose="02040503050406030204" pitchFamily="18" charset="0"/>
                      </a:rPr>
                      <m:t>5 </m:t>
                    </m:r>
                    <m:r>
                      <a:rPr lang="en-US" sz="2000" i="1" dirty="0" smtClean="0">
                        <a:latin typeface="Cambria Math" panose="02040503050406030204" pitchFamily="18" charset="0"/>
                      </a:rPr>
                      <m:t>𝑥</m:t>
                    </m:r>
                    <m:r>
                      <a:rPr lang="en-US" sz="2000" i="1" dirty="0" smtClean="0">
                        <a:latin typeface="Cambria Math" panose="02040503050406030204" pitchFamily="18" charset="0"/>
                      </a:rPr>
                      <m:t> 5 </m:t>
                    </m:r>
                    <m:r>
                      <a:rPr lang="en-US" sz="2000" i="1" dirty="0" smtClean="0">
                        <a:latin typeface="Cambria Math" panose="02040503050406030204" pitchFamily="18" charset="0"/>
                      </a:rPr>
                      <m:t>𝑥</m:t>
                    </m:r>
                    <m:r>
                      <a:rPr lang="en-US" sz="2000" i="1" dirty="0" smtClean="0">
                        <a:latin typeface="Cambria Math" panose="02040503050406030204" pitchFamily="18" charset="0"/>
                      </a:rPr>
                      <m:t> 17 </m:t>
                    </m:r>
                    <m:sSup>
                      <m:sSupPr>
                        <m:ctrlPr>
                          <a:rPr lang="en-US" sz="2000" b="0" i="1" dirty="0" smtClean="0">
                            <a:latin typeface="Cambria Math" panose="02040503050406030204" pitchFamily="18" charset="0"/>
                          </a:rPr>
                        </m:ctrlPr>
                      </m:sSupPr>
                      <m:e>
                        <m:r>
                          <m:rPr>
                            <m:sty m:val="p"/>
                          </m:rPr>
                          <a:rPr lang="en-US" sz="2000" b="0" i="0" dirty="0" smtClean="0">
                            <a:latin typeface="Cambria Math" panose="02040503050406030204" pitchFamily="18" charset="0"/>
                          </a:rPr>
                          <m:t>cm</m:t>
                        </m:r>
                      </m:e>
                      <m:sup>
                        <m:r>
                          <a:rPr lang="en-US" sz="2000" b="0" i="1" dirty="0" smtClean="0">
                            <a:latin typeface="Cambria Math" panose="02040503050406030204" pitchFamily="18" charset="0"/>
                          </a:rPr>
                          <m:t>3</m:t>
                        </m:r>
                      </m:sup>
                    </m:sSup>
                    <m:r>
                      <a:rPr lang="en-US" sz="2000" i="1" dirty="0" smtClean="0">
                        <a:latin typeface="Cambria Math" panose="02040503050406030204" pitchFamily="18" charset="0"/>
                      </a:rPr>
                      <m:t> </m:t>
                    </m:r>
                  </m:oMath>
                </a14:m>
                <a:r>
                  <a:rPr lang="en-US" sz="2000" dirty="0"/>
                  <a:t>W/</a:t>
                </a:r>
                <a:r>
                  <a:rPr lang="en-US" sz="2000" dirty="0" err="1"/>
                  <a:t>SciFi</a:t>
                </a:r>
                <a:r>
                  <a:rPr lang="en-US" sz="2000" dirty="0"/>
                  <a:t>, subdivided into 4 towers</a:t>
                </a:r>
              </a:p>
              <a:p>
                <a:pPr marL="742950" lvl="1" indent="-285750">
                  <a:buFont typeface="Arial" panose="020B0604020202020204" pitchFamily="34" charset="0"/>
                  <a:buChar char="•"/>
                </a:pPr>
                <a:r>
                  <a:rPr lang="en-US" sz="2000" dirty="0"/>
                  <a:t>2 cm light guide from block to PMT</a:t>
                </a:r>
              </a:p>
              <a:p>
                <a:pPr marL="742950" lvl="1" indent="-285750">
                  <a:buFont typeface="Arial" panose="020B0604020202020204" pitchFamily="34" charset="0"/>
                  <a:buChar char="•"/>
                </a:pPr>
                <a:r>
                  <a:rPr lang="en-US" sz="2000" dirty="0"/>
                  <a:t>Expected resolution</a:t>
                </a:r>
              </a:p>
              <a:p>
                <a:pPr marL="742950" lvl="1" indent="-285750">
                  <a:buFont typeface="Arial" panose="020B0604020202020204" pitchFamily="34" charset="0"/>
                  <a:buChar char="•"/>
                </a:pPr>
                <a:endParaRPr lang="en-US" sz="2000" dirty="0"/>
              </a:p>
              <a:p>
                <a:pPr marL="742950" lvl="1"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Diamond strip detectors will be used for position-sensitive measurements</a:t>
                </a:r>
              </a:p>
              <a:p>
                <a:pPr marL="285750" indent="-285750">
                  <a:lnSpc>
                    <a:spcPct val="100000"/>
                  </a:lnSpc>
                  <a:spcBef>
                    <a:spcPts val="0"/>
                  </a:spcBef>
                  <a:spcAft>
                    <a:spcPts val="600"/>
                  </a:spcAft>
                  <a:buFont typeface="Arial" panose="020B0604020202020204" pitchFamily="34" charset="0"/>
                  <a:buChar char="•"/>
                </a:pPr>
                <a:r>
                  <a:rPr lang="en-US" sz="2000" dirty="0">
                    <a:sym typeface="Wingdings" pitchFamily="2" charset="2"/>
                  </a:rPr>
                  <a:t>Custom ASIC readout required</a:t>
                </a:r>
              </a:p>
              <a:p>
                <a:pPr marL="742950" lvl="1" indent="-285750">
                  <a:lnSpc>
                    <a:spcPct val="100000"/>
                  </a:lnSpc>
                  <a:spcBef>
                    <a:spcPts val="0"/>
                  </a:spcBef>
                  <a:spcAft>
                    <a:spcPts val="600"/>
                  </a:spcAft>
                  <a:buFont typeface="Arial" panose="020B0604020202020204" pitchFamily="34" charset="0"/>
                  <a:buChar char="•"/>
                </a:pPr>
                <a:r>
                  <a:rPr lang="en-US" b="1" dirty="0">
                    <a:solidFill>
                      <a:srgbClr val="C00000"/>
                    </a:solidFill>
                    <a:sym typeface="Wingdings" pitchFamily="2" charset="2"/>
                  </a:rPr>
                  <a:t>New “FLAT32” chip based on “CALYPSO” (used at LHC) </a:t>
                </a:r>
                <a:br>
                  <a:rPr lang="en-US" b="1" dirty="0">
                    <a:solidFill>
                      <a:srgbClr val="C00000"/>
                    </a:solidFill>
                    <a:sym typeface="Wingdings" pitchFamily="2" charset="2"/>
                  </a:rPr>
                </a:br>
                <a:r>
                  <a:rPr lang="en-US" b="1" dirty="0">
                    <a:solidFill>
                      <a:srgbClr val="C00000"/>
                    </a:solidFill>
                    <a:sym typeface="Wingdings" pitchFamily="2" charset="2"/>
                  </a:rPr>
                  <a:t>under development for JLab/MOLLER (nearly complete)</a:t>
                </a:r>
              </a:p>
              <a:p>
                <a:pPr marL="742950" lvl="1" indent="-285750">
                  <a:lnSpc>
                    <a:spcPct val="100000"/>
                  </a:lnSpc>
                  <a:spcBef>
                    <a:spcPts val="0"/>
                  </a:spcBef>
                  <a:spcAft>
                    <a:spcPts val="600"/>
                  </a:spcAft>
                  <a:buFont typeface="Arial" panose="020B0604020202020204" pitchFamily="34" charset="0"/>
                  <a:buChar char="•"/>
                </a:pPr>
                <a:r>
                  <a:rPr lang="en-US" dirty="0">
                    <a:sym typeface="Wingdings" pitchFamily="2" charset="2"/>
                  </a:rPr>
                  <a:t>Meets timing requirements of EIC (10 ns)</a:t>
                </a:r>
              </a:p>
              <a:p>
                <a:endParaRPr lang="en-US" sz="2000" dirty="0"/>
              </a:p>
            </p:txBody>
          </p:sp>
        </mc:Choice>
        <mc:Fallback xmlns="">
          <p:sp>
            <p:nvSpPr>
              <p:cNvPr id="8" name="TextBox 7">
                <a:extLst>
                  <a:ext uri="{FF2B5EF4-FFF2-40B4-BE49-F238E27FC236}">
                    <a16:creationId xmlns:a16="http://schemas.microsoft.com/office/drawing/2014/main" id="{006B9592-AF0F-87D9-2504-BB0F0F05617C}"/>
                  </a:ext>
                </a:extLst>
              </p:cNvPr>
              <p:cNvSpPr txBox="1">
                <a:spLocks noRot="1" noChangeAspect="1" noMove="1" noResize="1" noEditPoints="1" noAdjustHandles="1" noChangeArrowheads="1" noChangeShapeType="1" noTextEdit="1"/>
              </p:cNvSpPr>
              <p:nvPr/>
            </p:nvSpPr>
            <p:spPr>
              <a:xfrm>
                <a:off x="586837" y="1313036"/>
                <a:ext cx="7645637" cy="4231928"/>
              </a:xfrm>
              <a:prstGeom prst="rect">
                <a:avLst/>
              </a:prstGeom>
              <a:blipFill>
                <a:blip r:embed="rId2"/>
                <a:stretch>
                  <a:fillRect l="-664" t="-898"/>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A161B29A-3C0B-5242-CD12-740D28C6243D}"/>
              </a:ext>
            </a:extLst>
          </p:cNvPr>
          <p:cNvPicPr>
            <a:picLocks noChangeAspect="1"/>
          </p:cNvPicPr>
          <p:nvPr/>
        </p:nvPicPr>
        <p:blipFill>
          <a:blip r:embed="rId3"/>
          <a:stretch>
            <a:fillRect/>
          </a:stretch>
        </p:blipFill>
        <p:spPr>
          <a:xfrm>
            <a:off x="8232474" y="1051574"/>
            <a:ext cx="3219175" cy="2405420"/>
          </a:xfrm>
          <a:prstGeom prst="rect">
            <a:avLst/>
          </a:prstGeom>
        </p:spPr>
      </p:pic>
      <p:grpSp>
        <p:nvGrpSpPr>
          <p:cNvPr id="10" name="Group 9">
            <a:extLst>
              <a:ext uri="{FF2B5EF4-FFF2-40B4-BE49-F238E27FC236}">
                <a16:creationId xmlns:a16="http://schemas.microsoft.com/office/drawing/2014/main" id="{87D942A8-9512-DA49-FE9E-B113089B1073}"/>
              </a:ext>
            </a:extLst>
          </p:cNvPr>
          <p:cNvGrpSpPr/>
          <p:nvPr/>
        </p:nvGrpSpPr>
        <p:grpSpPr>
          <a:xfrm>
            <a:off x="8232474" y="3693606"/>
            <a:ext cx="3344564" cy="2035863"/>
            <a:chOff x="5026814" y="3056149"/>
            <a:chExt cx="3664345" cy="3009162"/>
          </a:xfrm>
        </p:grpSpPr>
        <p:pic>
          <p:nvPicPr>
            <p:cNvPr id="11" name="Picture 10">
              <a:extLst>
                <a:ext uri="{FF2B5EF4-FFF2-40B4-BE49-F238E27FC236}">
                  <a16:creationId xmlns:a16="http://schemas.microsoft.com/office/drawing/2014/main" id="{98B9E224-9B8A-51D9-12D4-40BDD7B054A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5026814" y="3056149"/>
              <a:ext cx="3664345" cy="3009162"/>
            </a:xfrm>
            <a:prstGeom prst="rect">
              <a:avLst/>
            </a:prstGeom>
          </p:spPr>
        </p:pic>
        <p:cxnSp>
          <p:nvCxnSpPr>
            <p:cNvPr id="12" name="Straight Arrow Connector 11">
              <a:extLst>
                <a:ext uri="{FF2B5EF4-FFF2-40B4-BE49-F238E27FC236}">
                  <a16:creationId xmlns:a16="http://schemas.microsoft.com/office/drawing/2014/main" id="{A1B83FFE-D41A-58BB-C58F-DEC7F5E459AD}"/>
                </a:ext>
              </a:extLst>
            </p:cNvPr>
            <p:cNvCxnSpPr/>
            <p:nvPr/>
          </p:nvCxnSpPr>
          <p:spPr>
            <a:xfrm>
              <a:off x="7216137" y="5722930"/>
              <a:ext cx="437745" cy="0"/>
            </a:xfrm>
            <a:prstGeom prst="straightConnector1">
              <a:avLst/>
            </a:prstGeom>
            <a:ln w="28575">
              <a:solidFill>
                <a:schemeClr val="accent4">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28A725F-37E3-06AC-2610-14A1D346B6A9}"/>
                </a:ext>
              </a:extLst>
            </p:cNvPr>
            <p:cNvSpPr txBox="1"/>
            <p:nvPr/>
          </p:nvSpPr>
          <p:spPr>
            <a:xfrm>
              <a:off x="7693676" y="5538264"/>
              <a:ext cx="772411" cy="402693"/>
            </a:xfrm>
            <a:prstGeom prst="rect">
              <a:avLst/>
            </a:prstGeom>
            <a:solidFill>
              <a:srgbClr val="FFFF00"/>
            </a:solidFill>
          </p:spPr>
          <p:txBody>
            <a:bodyPr wrap="none" rtlCol="0">
              <a:spAutoFit/>
            </a:bodyPr>
            <a:lstStyle/>
            <a:p>
              <a:pPr algn="ctr"/>
              <a:r>
                <a:rPr lang="en-US" sz="1400">
                  <a:highlight>
                    <a:srgbClr val="FFFF00"/>
                  </a:highlight>
                </a:rPr>
                <a:t>10 ns</a:t>
              </a:r>
            </a:p>
          </p:txBody>
        </p:sp>
      </p:grpSp>
    </p:spTree>
    <p:extLst>
      <p:ext uri="{BB962C8B-B14F-4D97-AF65-F5344CB8AC3E}">
        <p14:creationId xmlns:p14="http://schemas.microsoft.com/office/powerpoint/2010/main" val="2270754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2A86A-B2F4-CDE1-92D7-076A656B81F1}"/>
              </a:ext>
            </a:extLst>
          </p:cNvPr>
          <p:cNvSpPr>
            <a:spLocks noGrp="1"/>
          </p:cNvSpPr>
          <p:nvPr>
            <p:ph type="title"/>
          </p:nvPr>
        </p:nvSpPr>
        <p:spPr>
          <a:xfrm>
            <a:off x="571500" y="76002"/>
            <a:ext cx="10515600" cy="695830"/>
          </a:xfrm>
        </p:spPr>
        <p:txBody>
          <a:bodyPr>
            <a:normAutofit/>
          </a:bodyPr>
          <a:lstStyle/>
          <a:p>
            <a:r>
              <a:rPr lang="en-US"/>
              <a:t>Polarized Atomic Hydrogen Jet Target</a:t>
            </a:r>
          </a:p>
        </p:txBody>
      </p:sp>
      <p:sp>
        <p:nvSpPr>
          <p:cNvPr id="3" name="Slide Number Placeholder 2">
            <a:extLst>
              <a:ext uri="{FF2B5EF4-FFF2-40B4-BE49-F238E27FC236}">
                <a16:creationId xmlns:a16="http://schemas.microsoft.com/office/drawing/2014/main" id="{FD6CBEE7-8969-FA24-BC68-2D9D25413AD5}"/>
              </a:ext>
            </a:extLst>
          </p:cNvPr>
          <p:cNvSpPr>
            <a:spLocks noGrp="1"/>
          </p:cNvSpPr>
          <p:nvPr>
            <p:ph type="sldNum" sz="quarter" idx="12"/>
          </p:nvPr>
        </p:nvSpPr>
        <p:spPr>
          <a:xfrm>
            <a:off x="11263898" y="6532521"/>
            <a:ext cx="825696" cy="365125"/>
          </a:xfrm>
        </p:spPr>
        <p:txBody>
          <a:bodyPr/>
          <a:lstStyle/>
          <a:p>
            <a:fld id="{DF69D58E-C59B-4BE3-83E0-B1C1287A8E5B}" type="slidenum">
              <a:rPr lang="en-US" sz="1000" b="0" smtClean="0"/>
              <a:pPr/>
              <a:t>36</a:t>
            </a:fld>
            <a:endParaRPr lang="en-US" sz="1000" b="0"/>
          </a:p>
        </p:txBody>
      </p:sp>
      <p:pic>
        <p:nvPicPr>
          <p:cNvPr id="5" name="Picture 4">
            <a:extLst>
              <a:ext uri="{FF2B5EF4-FFF2-40B4-BE49-F238E27FC236}">
                <a16:creationId xmlns:a16="http://schemas.microsoft.com/office/drawing/2014/main" id="{21EC43AD-2480-8335-FF4F-8D6D034CBCDE}"/>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rot="5400000" flipH="1">
            <a:off x="9846687" y="861317"/>
            <a:ext cx="1879658" cy="1947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F3F863B-E868-454E-A227-3583B0CC92F5}"/>
                  </a:ext>
                </a:extLst>
              </p:cNvPr>
              <p:cNvSpPr txBox="1"/>
              <p:nvPr/>
            </p:nvSpPr>
            <p:spPr>
              <a:xfrm>
                <a:off x="6353666" y="1079557"/>
                <a:ext cx="3291779" cy="1461939"/>
              </a:xfrm>
              <a:prstGeom prst="rect">
                <a:avLst/>
              </a:prstGeom>
              <a:noFill/>
            </p:spPr>
            <p:txBody>
              <a:bodyPr wrap="square">
                <a:spAutoFit/>
              </a:bodyPr>
              <a:lstStyle/>
              <a:p>
                <a:pPr>
                  <a:spcAft>
                    <a:spcPts val="600"/>
                  </a:spcAft>
                </a:pPr>
                <a:r>
                  <a:rPr lang="en-US" sz="2000" b="1" dirty="0">
                    <a:solidFill>
                      <a:schemeClr val="accent1">
                        <a:lumMod val="75000"/>
                      </a:schemeClr>
                    </a:solidFill>
                    <a:latin typeface="Calibri" panose="020F0502020204030204" pitchFamily="34" charset="0"/>
                    <a:cs typeface="Calibri" panose="020F0502020204030204" pitchFamily="34" charset="0"/>
                  </a:rPr>
                  <a:t>Set of eight </a:t>
                </a:r>
                <a14:m>
                  <m:oMath xmlns:m="http://schemas.openxmlformats.org/officeDocument/2006/math">
                    <m:r>
                      <a:rPr lang="en-US" sz="2000" b="1" i="0" dirty="0" smtClean="0">
                        <a:solidFill>
                          <a:schemeClr val="accent1">
                            <a:lumMod val="75000"/>
                          </a:schemeClr>
                        </a:solidFill>
                        <a:latin typeface="Cambria Math" panose="02040503050406030204" pitchFamily="18" charset="0"/>
                      </a:rPr>
                      <m:t>𝐒𝐢</m:t>
                    </m:r>
                  </m:oMath>
                </a14:m>
                <a:r>
                  <a:rPr lang="en-US" sz="2000" b="1" dirty="0">
                    <a:solidFill>
                      <a:schemeClr val="accent1">
                        <a:lumMod val="75000"/>
                      </a:schemeClr>
                    </a:solidFill>
                    <a:latin typeface="Calibri" panose="020F0502020204030204" pitchFamily="34" charset="0"/>
                    <a:cs typeface="Calibri" panose="020F0502020204030204" pitchFamily="34" charset="0"/>
                  </a:rPr>
                  <a:t> strip detectors</a:t>
                </a:r>
              </a:p>
              <a:p>
                <a:pPr marL="285750" indent="-285750">
                  <a:spcAft>
                    <a:spcPts val="600"/>
                  </a:spcAft>
                  <a:buFont typeface="Arial" panose="020B0604020202020204" pitchFamily="34" charset="0"/>
                  <a:buChar char="•"/>
                </a:pPr>
                <a:r>
                  <a:rPr lang="en-US" dirty="0">
                    <a:solidFill>
                      <a:schemeClr val="accent1">
                        <a:lumMod val="75000"/>
                      </a:schemeClr>
                    </a:solidFill>
                    <a:latin typeface="Calibri" panose="020F0502020204030204" pitchFamily="34" charset="0"/>
                    <a:cs typeface="Calibri" panose="020F0502020204030204" pitchFamily="34" charset="0"/>
                  </a:rPr>
                  <a:t>12 vertical strips</a:t>
                </a:r>
              </a:p>
              <a:p>
                <a:pPr marL="628650" lvl="1" indent="-285750">
                  <a:spcAft>
                    <a:spcPts val="600"/>
                  </a:spcAft>
                  <a:buFont typeface="Arial" panose="020B0604020202020204" pitchFamily="34" charset="0"/>
                  <a:buChar char="•"/>
                </a:pPr>
                <a14:m>
                  <m:oMath xmlns:m="http://schemas.openxmlformats.org/officeDocument/2006/math">
                    <m:r>
                      <a:rPr lang="en-US" i="1" dirty="0" smtClean="0">
                        <a:solidFill>
                          <a:schemeClr val="accent1">
                            <a:lumMod val="75000"/>
                          </a:schemeClr>
                        </a:solidFill>
                        <a:latin typeface="Cambria Math"/>
                      </a:rPr>
                      <m:t>3.75 </m:t>
                    </m:r>
                    <m:r>
                      <m:rPr>
                        <m:nor/>
                      </m:rPr>
                      <a:rPr lang="en-US" i="0" dirty="0" smtClean="0">
                        <a:solidFill>
                          <a:schemeClr val="accent1">
                            <a:lumMod val="75000"/>
                          </a:schemeClr>
                        </a:solidFill>
                        <a:latin typeface="Calibri" panose="020F0502020204030204" pitchFamily="34" charset="0"/>
                        <a:cs typeface="Calibri" panose="020F0502020204030204" pitchFamily="34" charset="0"/>
                      </a:rPr>
                      <m:t>mm</m:t>
                    </m:r>
                  </m:oMath>
                </a14:m>
                <a:r>
                  <a:rPr lang="en-US" dirty="0">
                    <a:solidFill>
                      <a:schemeClr val="accent1">
                        <a:lumMod val="75000"/>
                      </a:schemeClr>
                    </a:solidFill>
                    <a:latin typeface="Calibri" panose="020F0502020204030204" pitchFamily="34" charset="0"/>
                    <a:cs typeface="Calibri" panose="020F0502020204030204" pitchFamily="34" charset="0"/>
                  </a:rPr>
                  <a:t> pitch</a:t>
                </a:r>
              </a:p>
              <a:p>
                <a:pPr marL="628650" lvl="1" indent="-285750">
                  <a:spcAft>
                    <a:spcPts val="600"/>
                  </a:spcAft>
                  <a:buFont typeface="Arial" panose="020B0604020202020204" pitchFamily="34" charset="0"/>
                  <a:buChar char="•"/>
                </a:pPr>
                <a14:m>
                  <m:oMath xmlns:m="http://schemas.openxmlformats.org/officeDocument/2006/math">
                    <m:r>
                      <a:rPr lang="en-US" i="1" dirty="0" smtClean="0">
                        <a:solidFill>
                          <a:schemeClr val="accent1">
                            <a:lumMod val="75000"/>
                          </a:schemeClr>
                        </a:solidFill>
                        <a:latin typeface="Cambria Math"/>
                      </a:rPr>
                      <m:t>500 </m:t>
                    </m:r>
                    <m:r>
                      <m:rPr>
                        <m:nor/>
                      </m:rPr>
                      <a:rPr lang="en-US" b="0" i="0" dirty="0" smtClean="0">
                        <a:solidFill>
                          <a:schemeClr val="accent1">
                            <a:lumMod val="75000"/>
                          </a:schemeClr>
                        </a:solidFill>
                        <a:latin typeface="Calibri" panose="020F0502020204030204" pitchFamily="34" charset="0"/>
                        <a:cs typeface="Calibri" panose="020F0502020204030204" pitchFamily="34" charset="0"/>
                      </a:rPr>
                      <m:t>μ</m:t>
                    </m:r>
                    <m:r>
                      <m:rPr>
                        <m:nor/>
                      </m:rPr>
                      <a:rPr lang="en-US" i="0" dirty="0" smtClean="0">
                        <a:solidFill>
                          <a:schemeClr val="accent1">
                            <a:lumMod val="75000"/>
                          </a:schemeClr>
                        </a:solidFill>
                        <a:latin typeface="Calibri" panose="020F0502020204030204" pitchFamily="34" charset="0"/>
                        <a:cs typeface="Calibri" panose="020F0502020204030204" pitchFamily="34" charset="0"/>
                      </a:rPr>
                      <m:t>m</m:t>
                    </m:r>
                  </m:oMath>
                </a14:m>
                <a:r>
                  <a:rPr lang="en-US" dirty="0">
                    <a:solidFill>
                      <a:schemeClr val="accent1">
                        <a:lumMod val="75000"/>
                      </a:schemeClr>
                    </a:solidFill>
                    <a:latin typeface="Calibri" panose="020F0502020204030204" pitchFamily="34" charset="0"/>
                    <a:cs typeface="Calibri" panose="020F0502020204030204" pitchFamily="34" charset="0"/>
                  </a:rPr>
                  <a:t> thick</a:t>
                </a:r>
                <a:endParaRPr lang="en-US" sz="1600" dirty="0">
                  <a:solidFill>
                    <a:schemeClr val="accent1">
                      <a:lumMod val="75000"/>
                    </a:schemeClr>
                  </a:solidFill>
                  <a:latin typeface="Calibri" panose="020F0502020204030204" pitchFamily="34" charset="0"/>
                  <a:cs typeface="Calibri" panose="020F0502020204030204" pitchFamily="34" charset="0"/>
                </a:endParaRPr>
              </a:p>
            </p:txBody>
          </p:sp>
        </mc:Choice>
        <mc:Fallback xmlns="">
          <p:sp>
            <p:nvSpPr>
              <p:cNvPr id="7" name="TextBox 6">
                <a:extLst>
                  <a:ext uri="{FF2B5EF4-FFF2-40B4-BE49-F238E27FC236}">
                    <a16:creationId xmlns:a16="http://schemas.microsoft.com/office/drawing/2014/main" id="{BF3F863B-E868-454E-A227-3583B0CC92F5}"/>
                  </a:ext>
                </a:extLst>
              </p:cNvPr>
              <p:cNvSpPr txBox="1">
                <a:spLocks noRot="1" noChangeAspect="1" noMove="1" noResize="1" noEditPoints="1" noAdjustHandles="1" noChangeArrowheads="1" noChangeShapeType="1" noTextEdit="1"/>
              </p:cNvSpPr>
              <p:nvPr/>
            </p:nvSpPr>
            <p:spPr>
              <a:xfrm>
                <a:off x="6353666" y="1079557"/>
                <a:ext cx="3291779" cy="1461939"/>
              </a:xfrm>
              <a:prstGeom prst="rect">
                <a:avLst/>
              </a:prstGeom>
              <a:blipFill>
                <a:blip r:embed="rId4"/>
                <a:stretch>
                  <a:fillRect l="-1852" t="-2083" r="-1111" b="-5833"/>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D1DBA8F6-BDE6-5784-7826-C4DBA037B3C8}"/>
              </a:ext>
            </a:extLst>
          </p:cNvPr>
          <p:cNvGrpSpPr/>
          <p:nvPr/>
        </p:nvGrpSpPr>
        <p:grpSpPr>
          <a:xfrm>
            <a:off x="609615" y="880393"/>
            <a:ext cx="4562153" cy="5205775"/>
            <a:chOff x="668607" y="870561"/>
            <a:chExt cx="4475197" cy="5220000"/>
          </a:xfrm>
        </p:grpSpPr>
        <p:pic>
          <p:nvPicPr>
            <p:cNvPr id="26" name="Picture 25">
              <a:extLst>
                <a:ext uri="{FF2B5EF4-FFF2-40B4-BE49-F238E27FC236}">
                  <a16:creationId xmlns:a16="http://schemas.microsoft.com/office/drawing/2014/main" id="{997AD89B-8EF8-20F8-D3EE-DC7F39EFF32B}"/>
                </a:ext>
              </a:extLst>
            </p:cNvPr>
            <p:cNvPicPr>
              <a:picLocks noChangeAspect="1"/>
            </p:cNvPicPr>
            <p:nvPr/>
          </p:nvPicPr>
          <p:blipFill rotWithShape="1">
            <a:blip r:embed="rId5" cstate="print">
              <a:extLst>
                <a:ext uri="{28A0092B-C50C-407E-A947-70E740481C1C}">
                  <a14:useLocalDpi xmlns:a14="http://schemas.microsoft.com/office/drawing/2010/main"/>
                </a:ext>
              </a:extLst>
            </a:blip>
            <a:stretch/>
          </p:blipFill>
          <p:spPr>
            <a:xfrm>
              <a:off x="668607" y="870561"/>
              <a:ext cx="4475197" cy="5220000"/>
            </a:xfrm>
            <a:prstGeom prst="rect">
              <a:avLst/>
            </a:prstGeom>
            <a:ln>
              <a:solidFill>
                <a:srgbClr val="002060"/>
              </a:solidFill>
            </a:ln>
          </p:spPr>
        </p:pic>
        <p:sp>
          <p:nvSpPr>
            <p:cNvPr id="44" name="TextBox 43">
              <a:extLst>
                <a:ext uri="{FF2B5EF4-FFF2-40B4-BE49-F238E27FC236}">
                  <a16:creationId xmlns:a16="http://schemas.microsoft.com/office/drawing/2014/main" id="{2AAD2B0D-7900-1171-B359-9EC04EC2761F}"/>
                </a:ext>
              </a:extLst>
            </p:cNvPr>
            <p:cNvSpPr txBox="1"/>
            <p:nvPr/>
          </p:nvSpPr>
          <p:spPr>
            <a:xfrm>
              <a:off x="1288499" y="968790"/>
              <a:ext cx="1326004" cy="369332"/>
            </a:xfrm>
            <a:prstGeom prst="rect">
              <a:avLst/>
            </a:prstGeom>
            <a:solidFill>
              <a:srgbClr val="92D050"/>
            </a:solidFill>
            <a:ln>
              <a:solidFill>
                <a:srgbClr val="92D050"/>
              </a:solidFill>
            </a:ln>
          </p:spPr>
          <p:txBody>
            <a:bodyPr wrap="none" rtlCol="0" anchor="ctr">
              <a:spAutoFit/>
            </a:bodyPr>
            <a:lstStyle/>
            <a:p>
              <a:pPr>
                <a:spcAft>
                  <a:spcPts val="600"/>
                </a:spcAft>
              </a:pPr>
              <a:r>
                <a:rPr lang="en-US">
                  <a:solidFill>
                    <a:srgbClr val="FF0000"/>
                  </a:solidFill>
                </a:rPr>
                <a:t>Dissociator</a:t>
              </a:r>
            </a:p>
          </p:txBody>
        </p:sp>
        <p:sp>
          <p:nvSpPr>
            <p:cNvPr id="55" name="TextBox 54">
              <a:extLst>
                <a:ext uri="{FF2B5EF4-FFF2-40B4-BE49-F238E27FC236}">
                  <a16:creationId xmlns:a16="http://schemas.microsoft.com/office/drawing/2014/main" id="{DDFF4337-B56C-93FF-4869-D5F737F35FDA}"/>
                </a:ext>
              </a:extLst>
            </p:cNvPr>
            <p:cNvSpPr txBox="1"/>
            <p:nvPr/>
          </p:nvSpPr>
          <p:spPr>
            <a:xfrm rot="20695307">
              <a:off x="871446" y="4446032"/>
              <a:ext cx="724878" cy="369332"/>
            </a:xfrm>
            <a:prstGeom prst="rect">
              <a:avLst/>
            </a:prstGeom>
            <a:noFill/>
          </p:spPr>
          <p:txBody>
            <a:bodyPr wrap="none" rtlCol="0">
              <a:spAutoFit/>
            </a:bodyPr>
            <a:lstStyle/>
            <a:p>
              <a:r>
                <a:rPr lang="en-US" b="1">
                  <a:solidFill>
                    <a:srgbClr val="00CC00"/>
                  </a:solidFill>
                </a:rPr>
                <a:t>beam</a:t>
              </a:r>
            </a:p>
          </p:txBody>
        </p:sp>
        <p:cxnSp>
          <p:nvCxnSpPr>
            <p:cNvPr id="17" name="Straight Arrow Connector 16">
              <a:extLst>
                <a:ext uri="{FF2B5EF4-FFF2-40B4-BE49-F238E27FC236}">
                  <a16:creationId xmlns:a16="http://schemas.microsoft.com/office/drawing/2014/main" id="{DC3A599F-AE1B-5377-B96A-E74934AC46B5}"/>
                </a:ext>
              </a:extLst>
            </p:cNvPr>
            <p:cNvCxnSpPr>
              <a:cxnSpLocks/>
            </p:cNvCxnSpPr>
            <p:nvPr/>
          </p:nvCxnSpPr>
          <p:spPr>
            <a:xfrm flipV="1">
              <a:off x="874034" y="4200808"/>
              <a:ext cx="828931" cy="213859"/>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87535114-28F9-DE92-6CEA-95010ADF9F79}"/>
                </a:ext>
              </a:extLst>
            </p:cNvPr>
            <p:cNvSpPr txBox="1"/>
            <p:nvPr/>
          </p:nvSpPr>
          <p:spPr>
            <a:xfrm>
              <a:off x="3915519" y="3429000"/>
              <a:ext cx="1228152" cy="369332"/>
            </a:xfrm>
            <a:prstGeom prst="rect">
              <a:avLst/>
            </a:prstGeom>
            <a:solidFill>
              <a:schemeClr val="accent1"/>
            </a:solidFill>
          </p:spPr>
          <p:txBody>
            <a:bodyPr wrap="square" anchor="ctr">
              <a:spAutoFit/>
            </a:bodyPr>
            <a:lstStyle/>
            <a:p>
              <a:pPr algn="ctr"/>
              <a:r>
                <a:rPr lang="en-US">
                  <a:solidFill>
                    <a:srgbClr val="FF0000"/>
                  </a:solidFill>
                </a:rPr>
                <a:t>Detectors</a:t>
              </a:r>
              <a:endParaRPr lang="en-US"/>
            </a:p>
          </p:txBody>
        </p:sp>
        <p:sp>
          <p:nvSpPr>
            <p:cNvPr id="24" name="TextBox 23">
              <a:extLst>
                <a:ext uri="{FF2B5EF4-FFF2-40B4-BE49-F238E27FC236}">
                  <a16:creationId xmlns:a16="http://schemas.microsoft.com/office/drawing/2014/main" id="{73EE4E69-1540-6C65-0DD1-1623CB10B6BE}"/>
                </a:ext>
              </a:extLst>
            </p:cNvPr>
            <p:cNvSpPr txBox="1"/>
            <p:nvPr/>
          </p:nvSpPr>
          <p:spPr>
            <a:xfrm>
              <a:off x="677519" y="3430993"/>
              <a:ext cx="1614544" cy="369332"/>
            </a:xfrm>
            <a:prstGeom prst="rect">
              <a:avLst/>
            </a:prstGeom>
            <a:solidFill>
              <a:schemeClr val="accent1"/>
            </a:solidFill>
          </p:spPr>
          <p:txBody>
            <a:bodyPr wrap="square" anchor="ctr">
              <a:spAutoFit/>
            </a:bodyPr>
            <a:lstStyle/>
            <a:p>
              <a:pPr algn="ctr"/>
              <a:r>
                <a:rPr lang="en-US">
                  <a:solidFill>
                    <a:srgbClr val="FF0000"/>
                  </a:solidFill>
                </a:rPr>
                <a:t>Holding field</a:t>
              </a:r>
            </a:p>
          </p:txBody>
        </p:sp>
      </p:grpSp>
      <p:pic>
        <p:nvPicPr>
          <p:cNvPr id="10" name="Picture 9" descr="Chart, funnel chart&#10;&#10;AI-generated content may be incorrect.">
            <a:extLst>
              <a:ext uri="{FF2B5EF4-FFF2-40B4-BE49-F238E27FC236}">
                <a16:creationId xmlns:a16="http://schemas.microsoft.com/office/drawing/2014/main" id="{6F0959DF-A7B4-9079-EABA-12CE5D36D322}"/>
              </a:ext>
            </a:extLst>
          </p:cNvPr>
          <p:cNvPicPr>
            <a:picLocks noChangeAspect="1"/>
          </p:cNvPicPr>
          <p:nvPr/>
        </p:nvPicPr>
        <p:blipFill>
          <a:blip r:embed="rId6"/>
          <a:stretch>
            <a:fillRect/>
          </a:stretch>
        </p:blipFill>
        <p:spPr>
          <a:xfrm>
            <a:off x="6440861" y="2815292"/>
            <a:ext cx="5142327" cy="3276000"/>
          </a:xfrm>
          <a:prstGeom prst="rect">
            <a:avLst/>
          </a:prstGeom>
        </p:spPr>
      </p:pic>
    </p:spTree>
    <p:extLst>
      <p:ext uri="{BB962C8B-B14F-4D97-AF65-F5344CB8AC3E}">
        <p14:creationId xmlns:p14="http://schemas.microsoft.com/office/powerpoint/2010/main" val="38731009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9BC146A-79EE-6964-4A78-6755B3869ACB}"/>
              </a:ext>
            </a:extLst>
          </p:cNvPr>
          <p:cNvSpPr>
            <a:spLocks noGrp="1"/>
          </p:cNvSpPr>
          <p:nvPr>
            <p:ph type="sldNum" sz="quarter" idx="12"/>
          </p:nvPr>
        </p:nvSpPr>
        <p:spPr>
          <a:xfrm>
            <a:off x="11247120" y="6557688"/>
            <a:ext cx="825696" cy="365125"/>
          </a:xfrm>
        </p:spPr>
        <p:txBody>
          <a:bodyPr/>
          <a:lstStyle/>
          <a:p>
            <a:fld id="{893C5830-40F3-F04E-B2E3-10E6672BA8FF}" type="slidenum">
              <a:rPr lang="en-US" sz="1000" b="0" smtClean="0"/>
              <a:pPr/>
              <a:t>37</a:t>
            </a:fld>
            <a:endParaRPr lang="en-US" sz="1000" b="0"/>
          </a:p>
        </p:txBody>
      </p:sp>
      <mc:AlternateContent xmlns:mc="http://schemas.openxmlformats.org/markup-compatibility/2006" xmlns:a14="http://schemas.microsoft.com/office/drawing/2010/main">
        <mc:Choice Requires="a14">
          <p:sp>
            <p:nvSpPr>
              <p:cNvPr id="6" name="Text Placeholder 9">
                <a:extLst>
                  <a:ext uri="{FF2B5EF4-FFF2-40B4-BE49-F238E27FC236}">
                    <a16:creationId xmlns:a16="http://schemas.microsoft.com/office/drawing/2014/main" id="{35495DBE-2EB3-5A6F-592A-8A59FA844086}"/>
                  </a:ext>
                </a:extLst>
              </p:cNvPr>
              <p:cNvSpPr txBox="1">
                <a:spLocks/>
              </p:cNvSpPr>
              <p:nvPr/>
            </p:nvSpPr>
            <p:spPr>
              <a:xfrm>
                <a:off x="605259" y="933089"/>
                <a:ext cx="5731932" cy="932237"/>
              </a:xfrm>
            </p:spPr>
            <p:txBody>
              <a:bodyPr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t>Shorter</a:t>
                </a:r>
                <a14:m>
                  <m:oMath xmlns:m="http://schemas.openxmlformats.org/officeDocument/2006/math">
                    <m:r>
                      <a:rPr lang="en-US" b="1" i="0" dirty="0" smtClean="0">
                        <a:latin typeface="Cambria Math" panose="02040503050406030204" pitchFamily="18" charset="0"/>
                      </a:rPr>
                      <m:t> </m:t>
                    </m:r>
                    <m:r>
                      <a:rPr lang="en-US" b="1" i="1" dirty="0">
                        <a:latin typeface="Cambria Math" panose="02040503050406030204" pitchFamily="18" charset="0"/>
                      </a:rPr>
                      <m:t>𝟏𝟎</m:t>
                    </m:r>
                    <m:r>
                      <a:rPr lang="en-US" b="1" i="1" dirty="0">
                        <a:latin typeface="Cambria Math" panose="02040503050406030204" pitchFamily="18" charset="0"/>
                      </a:rPr>
                      <m:t> </m:t>
                    </m:r>
                    <m:r>
                      <a:rPr lang="en-US" b="1" i="1" dirty="0">
                        <a:latin typeface="Cambria Math" panose="02040503050406030204" pitchFamily="18" charset="0"/>
                      </a:rPr>
                      <m:t>𝐧𝐬</m:t>
                    </m:r>
                  </m:oMath>
                </a14:m>
                <a:r>
                  <a:rPr lang="en-US" b="1" dirty="0"/>
                  <a:t> bunch spacing at EIC</a:t>
                </a:r>
              </a:p>
              <a:p>
                <a:pPr marL="184150" lvl="1" indent="-174625">
                  <a:buFont typeface="Arial" panose="020B0604020202020204" pitchFamily="34" charset="0"/>
                  <a:buChar char="•"/>
                </a:pPr>
                <a:r>
                  <a:rPr lang="en-US" sz="1600" dirty="0"/>
                  <a:t>Fiber target chambers ok for single-bunches</a:t>
                </a:r>
              </a:p>
              <a:p>
                <a:pPr marL="184150" lvl="1" indent="-174625">
                  <a:buFont typeface="Arial" panose="020B0604020202020204" pitchFamily="34" charset="0"/>
                  <a:buChar char="•"/>
                </a:pPr>
                <a:r>
                  <a:rPr lang="en-US" sz="1600" dirty="0"/>
                  <a:t>Higher order modes → pumping ports → RF shielding </a:t>
                </a:r>
              </a:p>
            </p:txBody>
          </p:sp>
        </mc:Choice>
        <mc:Fallback xmlns="">
          <p:sp>
            <p:nvSpPr>
              <p:cNvPr id="6" name="Text Placeholder 9">
                <a:extLst>
                  <a:ext uri="{FF2B5EF4-FFF2-40B4-BE49-F238E27FC236}">
                    <a16:creationId xmlns:a16="http://schemas.microsoft.com/office/drawing/2014/main" id="{35495DBE-2EB3-5A6F-592A-8A59FA844086}"/>
                  </a:ext>
                </a:extLst>
              </p:cNvPr>
              <p:cNvSpPr txBox="1">
                <a:spLocks noRot="1" noChangeAspect="1" noMove="1" noResize="1" noEditPoints="1" noAdjustHandles="1" noChangeArrowheads="1" noChangeShapeType="1" noTextEdit="1"/>
              </p:cNvSpPr>
              <p:nvPr/>
            </p:nvSpPr>
            <p:spPr>
              <a:xfrm>
                <a:off x="605259" y="933089"/>
                <a:ext cx="5731932" cy="932237"/>
              </a:xfrm>
              <a:blipFill>
                <a:blip r:embed="rId3"/>
                <a:stretch>
                  <a:fillRect/>
                </a:stretch>
              </a:blipFill>
            </p:spPr>
            <p:txBody>
              <a:bodyPr/>
              <a:lstStyle/>
              <a:p>
                <a:r>
                  <a:rPr lang="en-US">
                    <a:noFill/>
                  </a:rPr>
                  <a:t> </a:t>
                </a:r>
              </a:p>
            </p:txBody>
          </p:sp>
        </mc:Fallback>
      </mc:AlternateContent>
      <p:sp>
        <p:nvSpPr>
          <p:cNvPr id="5" name="Title 1">
            <a:extLst>
              <a:ext uri="{FF2B5EF4-FFF2-40B4-BE49-F238E27FC236}">
                <a16:creationId xmlns:a16="http://schemas.microsoft.com/office/drawing/2014/main" id="{1FA8735C-3401-C1FF-D7A4-0A6F174BD5E9}"/>
              </a:ext>
            </a:extLst>
          </p:cNvPr>
          <p:cNvSpPr txBox="1">
            <a:spLocks/>
          </p:cNvSpPr>
          <p:nvPr/>
        </p:nvSpPr>
        <p:spPr>
          <a:xfrm>
            <a:off x="471951" y="54401"/>
            <a:ext cx="11720049" cy="76933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1" u="none" kern="1200">
                <a:solidFill>
                  <a:schemeClr val="tx1"/>
                </a:solidFill>
                <a:latin typeface="+mn-lt"/>
                <a:ea typeface="+mj-ea"/>
                <a:cs typeface="+mj-cs"/>
              </a:defRPr>
            </a:lvl1pPr>
          </a:lstStyle>
          <a:p>
            <a:r>
              <a:rPr lang="en-US" sz="3600" dirty="0"/>
              <a:t>C fiber target polarimeter:  impedance calculations I</a:t>
            </a:r>
          </a:p>
        </p:txBody>
      </p:sp>
      <p:pic>
        <p:nvPicPr>
          <p:cNvPr id="14" name="Picture 4">
            <a:extLst>
              <a:ext uri="{FF2B5EF4-FFF2-40B4-BE49-F238E27FC236}">
                <a16:creationId xmlns:a16="http://schemas.microsoft.com/office/drawing/2014/main" id="{75D99AB9-900F-31BB-977D-1166939A20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356" y="2097115"/>
            <a:ext cx="3722727" cy="101987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CA817892-86BF-A5F8-618B-5CA9838FFE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5929" y="1974681"/>
            <a:ext cx="1481023" cy="125166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EC45321-8AEF-C29B-612D-5F24F3AE9E07}"/>
                  </a:ext>
                </a:extLst>
              </p:cNvPr>
              <p:cNvSpPr txBox="1"/>
              <p:nvPr/>
            </p:nvSpPr>
            <p:spPr>
              <a:xfrm>
                <a:off x="399376" y="3408365"/>
                <a:ext cx="5490741" cy="2585323"/>
              </a:xfrm>
              <a:prstGeom prst="rect">
                <a:avLst/>
              </a:prstGeom>
              <a:noFill/>
            </p:spPr>
            <p:txBody>
              <a:bodyPr wrap="square" rtlCol="0">
                <a:spAutoFit/>
              </a:bodyPr>
              <a:lstStyle/>
              <a:p>
                <a:pPr marL="285750" indent="-285750">
                  <a:buFont typeface="Arial" panose="020B0604020202020204" pitchFamily="34" charset="0"/>
                  <a:buChar char="•"/>
                </a:pPr>
                <a:r>
                  <a:rPr lang="en-US" dirty="0"/>
                  <a:t>C target chambers (steel 316L) will work for EIC</a:t>
                </a:r>
              </a:p>
              <a:p>
                <a:pPr marL="285750" indent="-285750">
                  <a:buFont typeface="Arial" panose="020B0604020202020204" pitchFamily="34" charset="0"/>
                  <a:buChar char="•"/>
                </a:pPr>
                <a:r>
                  <a:rPr lang="en-US" sz="1600" b="1" dirty="0">
                    <a:solidFill>
                      <a:srgbClr val="C00000"/>
                    </a:solidFill>
                  </a:rPr>
                  <a:t>Simulations of C target holders</a:t>
                </a:r>
              </a:p>
              <a:p>
                <a:pPr lvl="1"/>
                <a:r>
                  <a:rPr lang="en-US" sz="1600" dirty="0"/>
                  <a:t>Studies involved target holders made from Al, SS and dielectric (e.g., Al</a:t>
                </a:r>
                <a:r>
                  <a:rPr lang="en-US" sz="1600" baseline="-25000" dirty="0"/>
                  <a:t>2</a:t>
                </a:r>
                <a:r>
                  <a:rPr lang="en-US" sz="1600" dirty="0"/>
                  <a:t>O</a:t>
                </a:r>
                <a:r>
                  <a:rPr lang="en-US" sz="1600" baseline="-25000" dirty="0"/>
                  <a:t>3</a:t>
                </a:r>
                <a:r>
                  <a:rPr lang="en-US" sz="1600" dirty="0"/>
                  <a:t>)</a:t>
                </a:r>
              </a:p>
              <a:p>
                <a:pPr marL="800100" lvl="1" indent="-342900">
                  <a:buFont typeface="Arial" panose="020B0604020202020204" pitchFamily="34" charset="0"/>
                  <a:buChar char="•"/>
                </a:pPr>
                <a:r>
                  <a:rPr lang="en-US" sz="1600" dirty="0"/>
                  <a:t>Preliminary results favor dielectric target holder over metallic ones</a:t>
                </a:r>
              </a:p>
              <a:p>
                <a:pPr marL="800100" lvl="1" indent="-342900">
                  <a:buFont typeface="Arial" panose="020B0604020202020204" pitchFamily="34" charset="0"/>
                  <a:buChar char="•"/>
                </a:pPr>
                <a14:m>
                  <m:oMath xmlns:m="http://schemas.openxmlformats.org/officeDocument/2006/math">
                    <m:r>
                      <a:rPr lang="en-US" sz="1600" i="1" dirty="0" smtClean="0">
                        <a:latin typeface="Cambria Math" panose="02040503050406030204" pitchFamily="18" charset="0"/>
                      </a:rPr>
                      <m:t>10</m:t>
                    </m:r>
                    <m:r>
                      <a:rPr lang="en-US" sz="1600" i="1" dirty="0">
                        <a:latin typeface="Cambria Math" panose="02040503050406030204" pitchFamily="18" charset="0"/>
                      </a:rPr>
                      <m:t> </m:t>
                    </m:r>
                    <m:r>
                      <m:rPr>
                        <m:sty m:val="p"/>
                      </m:rPr>
                      <a:rPr lang="en-US" sz="1600" i="0" dirty="0" smtClean="0">
                        <a:latin typeface="Cambria Math" panose="02040503050406030204" pitchFamily="18" charset="0"/>
                      </a:rPr>
                      <m:t>nm</m:t>
                    </m:r>
                  </m:oMath>
                </a14:m>
                <a:r>
                  <a:rPr lang="en-US" sz="1600" dirty="0"/>
                  <a:t> gold layer to avoid charging up of target</a:t>
                </a:r>
              </a:p>
              <a:p>
                <a:pPr marL="800100" lvl="1" indent="-342900">
                  <a:buFont typeface="Arial" panose="020B0604020202020204" pitchFamily="34" charset="0"/>
                  <a:buChar char="•"/>
                </a:pPr>
                <a:r>
                  <a:rPr lang="en-US" sz="1600" dirty="0"/>
                  <a:t>Operation: one target in chamber at a time</a:t>
                </a:r>
              </a:p>
              <a:p>
                <a:pPr marL="1200150" lvl="2" indent="-285750">
                  <a:buFont typeface="Arial" panose="020B0604020202020204" pitchFamily="34" charset="0"/>
                  <a:buChar char="•"/>
                </a:pPr>
                <a14:m>
                  <m:oMath xmlns:m="http://schemas.openxmlformats.org/officeDocument/2006/math">
                    <m:r>
                      <a:rPr lang="en-US" sz="1600" i="1" smtClean="0">
                        <a:latin typeface="Cambria Math" panose="02040503050406030204" pitchFamily="18" charset="0"/>
                        <a:ea typeface="Cambria Math" panose="02040503050406030204" pitchFamily="18" charset="0"/>
                      </a:rPr>
                      <m:t>→</m:t>
                    </m:r>
                  </m:oMath>
                </a14:m>
                <a:r>
                  <a:rPr lang="en-US" sz="1600" dirty="0"/>
                  <a:t> design vacuum transfer chamber</a:t>
                </a:r>
              </a:p>
              <a:p>
                <a:pPr marL="800100" lvl="1" indent="-342900">
                  <a:buFont typeface="Arial" panose="020B0604020202020204" pitchFamily="34" charset="0"/>
                  <a:buChar char="•"/>
                </a:pPr>
                <a:r>
                  <a:rPr lang="en-US" sz="1600" dirty="0"/>
                  <a:t>No adverse effect from shifted targets positions</a:t>
                </a:r>
              </a:p>
            </p:txBody>
          </p:sp>
        </mc:Choice>
        <mc:Fallback xmlns="">
          <p:sp>
            <p:nvSpPr>
              <p:cNvPr id="17" name="TextBox 16">
                <a:extLst>
                  <a:ext uri="{FF2B5EF4-FFF2-40B4-BE49-F238E27FC236}">
                    <a16:creationId xmlns:a16="http://schemas.microsoft.com/office/drawing/2014/main" id="{4EC45321-8AEF-C29B-612D-5F24F3AE9E07}"/>
                  </a:ext>
                </a:extLst>
              </p:cNvPr>
              <p:cNvSpPr txBox="1">
                <a:spLocks noRot="1" noChangeAspect="1" noMove="1" noResize="1" noEditPoints="1" noAdjustHandles="1" noChangeArrowheads="1" noChangeShapeType="1" noTextEdit="1"/>
              </p:cNvSpPr>
              <p:nvPr/>
            </p:nvSpPr>
            <p:spPr>
              <a:xfrm>
                <a:off x="399376" y="3408365"/>
                <a:ext cx="5490741" cy="2585323"/>
              </a:xfrm>
              <a:prstGeom prst="rect">
                <a:avLst/>
              </a:prstGeom>
              <a:blipFill>
                <a:blip r:embed="rId6"/>
                <a:stretch>
                  <a:fillRect l="-693" t="-980" r="-924" b="-2451"/>
                </a:stretch>
              </a:blipFill>
            </p:spPr>
            <p:txBody>
              <a:bodyPr/>
              <a:lstStyle/>
              <a:p>
                <a:r>
                  <a:rPr lang="en-US">
                    <a:noFill/>
                  </a:rPr>
                  <a:t> </a:t>
                </a:r>
              </a:p>
            </p:txBody>
          </p:sp>
        </mc:Fallback>
      </mc:AlternateContent>
      <p:pic>
        <p:nvPicPr>
          <p:cNvPr id="20" name="Picture 19" descr="A picture containing text, antenna, needle, lined&#10;&#10;AI-generated content may be incorrect.">
            <a:extLst>
              <a:ext uri="{FF2B5EF4-FFF2-40B4-BE49-F238E27FC236}">
                <a16:creationId xmlns:a16="http://schemas.microsoft.com/office/drawing/2014/main" id="{B4739548-987F-FD3B-7F76-7306C56CF8C8}"/>
              </a:ext>
            </a:extLst>
          </p:cNvPr>
          <p:cNvPicPr>
            <a:picLocks noChangeAspect="1"/>
          </p:cNvPicPr>
          <p:nvPr/>
        </p:nvPicPr>
        <p:blipFill>
          <a:blip r:embed="rId7"/>
          <a:srcRect l="-495" t="8292" r="495" b="-2284"/>
          <a:stretch>
            <a:fillRect/>
          </a:stretch>
        </p:blipFill>
        <p:spPr>
          <a:xfrm>
            <a:off x="6096000" y="1408004"/>
            <a:ext cx="5819791" cy="1691878"/>
          </a:xfrm>
          <a:prstGeom prst="rect">
            <a:avLst/>
          </a:prstGeom>
        </p:spPr>
      </p:pic>
      <p:pic>
        <p:nvPicPr>
          <p:cNvPr id="21" name="Picture 20">
            <a:extLst>
              <a:ext uri="{FF2B5EF4-FFF2-40B4-BE49-F238E27FC236}">
                <a16:creationId xmlns:a16="http://schemas.microsoft.com/office/drawing/2014/main" id="{4F5C5D7F-16B8-1672-41F6-426690A5A10A}"/>
              </a:ext>
            </a:extLst>
          </p:cNvPr>
          <p:cNvPicPr>
            <a:picLocks noChangeAspect="1"/>
          </p:cNvPicPr>
          <p:nvPr/>
        </p:nvPicPr>
        <p:blipFill>
          <a:blip r:embed="rId8"/>
          <a:srcRect t="9637"/>
          <a:stretch>
            <a:fillRect/>
          </a:stretch>
        </p:blipFill>
        <p:spPr>
          <a:xfrm>
            <a:off x="6096005" y="3284029"/>
            <a:ext cx="5819786" cy="1626536"/>
          </a:xfrm>
          <a:prstGeom prst="rect">
            <a:avLst/>
          </a:prstGeom>
        </p:spPr>
      </p:pic>
      <p:sp>
        <p:nvSpPr>
          <p:cNvPr id="22" name="TextBox 21">
            <a:extLst>
              <a:ext uri="{FF2B5EF4-FFF2-40B4-BE49-F238E27FC236}">
                <a16:creationId xmlns:a16="http://schemas.microsoft.com/office/drawing/2014/main" id="{D6366BE7-2368-013A-A172-D795D8F89E22}"/>
              </a:ext>
            </a:extLst>
          </p:cNvPr>
          <p:cNvSpPr txBox="1"/>
          <p:nvPr/>
        </p:nvSpPr>
        <p:spPr>
          <a:xfrm>
            <a:off x="6662943" y="977769"/>
            <a:ext cx="4685898" cy="369332"/>
          </a:xfrm>
          <a:prstGeom prst="rect">
            <a:avLst/>
          </a:prstGeom>
          <a:noFill/>
        </p:spPr>
        <p:txBody>
          <a:bodyPr wrap="none" rtlCol="0">
            <a:spAutoFit/>
          </a:bodyPr>
          <a:lstStyle/>
          <a:p>
            <a:r>
              <a:rPr lang="en-US" dirty="0">
                <a:solidFill>
                  <a:srgbClr val="0070C0"/>
                </a:solidFill>
              </a:rPr>
              <a:t>Fresh results from </a:t>
            </a:r>
            <a:r>
              <a:rPr lang="en-US" dirty="0" err="1">
                <a:solidFill>
                  <a:srgbClr val="0070C0"/>
                </a:solidFill>
              </a:rPr>
              <a:t>Medani</a:t>
            </a:r>
            <a:r>
              <a:rPr lang="en-US" dirty="0">
                <a:solidFill>
                  <a:srgbClr val="0070C0"/>
                </a:solidFill>
              </a:rPr>
              <a:t> </a:t>
            </a:r>
            <a:r>
              <a:rPr lang="en-US" dirty="0" err="1">
                <a:solidFill>
                  <a:srgbClr val="0070C0"/>
                </a:solidFill>
              </a:rPr>
              <a:t>Sangroula</a:t>
            </a:r>
            <a:r>
              <a:rPr lang="en-US" dirty="0">
                <a:solidFill>
                  <a:srgbClr val="0070C0"/>
                </a:solidFill>
              </a:rPr>
              <a:t> (CAD)</a:t>
            </a:r>
          </a:p>
        </p:txBody>
      </p:sp>
      <p:sp>
        <p:nvSpPr>
          <p:cNvPr id="23" name="TextBox 22">
            <a:extLst>
              <a:ext uri="{FF2B5EF4-FFF2-40B4-BE49-F238E27FC236}">
                <a16:creationId xmlns:a16="http://schemas.microsoft.com/office/drawing/2014/main" id="{7263662D-4513-B092-60E8-B982BEE958BB}"/>
              </a:ext>
            </a:extLst>
          </p:cNvPr>
          <p:cNvSpPr txBox="1"/>
          <p:nvPr/>
        </p:nvSpPr>
        <p:spPr>
          <a:xfrm>
            <a:off x="9879574" y="2607051"/>
            <a:ext cx="1740926" cy="307777"/>
          </a:xfrm>
          <a:prstGeom prst="rect">
            <a:avLst/>
          </a:prstGeom>
          <a:solidFill>
            <a:schemeClr val="bg1"/>
          </a:solidFill>
        </p:spPr>
        <p:txBody>
          <a:bodyPr wrap="none" rtlCol="0">
            <a:spAutoFit/>
          </a:bodyPr>
          <a:lstStyle/>
          <a:p>
            <a:r>
              <a:rPr lang="en-US" sz="1400" dirty="0"/>
              <a:t>Wake field potential</a:t>
            </a:r>
          </a:p>
        </p:txBody>
      </p:sp>
      <p:sp>
        <p:nvSpPr>
          <p:cNvPr id="24" name="TextBox 23">
            <a:extLst>
              <a:ext uri="{FF2B5EF4-FFF2-40B4-BE49-F238E27FC236}">
                <a16:creationId xmlns:a16="http://schemas.microsoft.com/office/drawing/2014/main" id="{D68A0CEC-3471-05EA-4D38-08BF7C52C450}"/>
              </a:ext>
            </a:extLst>
          </p:cNvPr>
          <p:cNvSpPr txBox="1"/>
          <p:nvPr/>
        </p:nvSpPr>
        <p:spPr>
          <a:xfrm>
            <a:off x="9787452" y="4602788"/>
            <a:ext cx="1561389" cy="307777"/>
          </a:xfrm>
          <a:prstGeom prst="rect">
            <a:avLst/>
          </a:prstGeom>
          <a:solidFill>
            <a:schemeClr val="bg1"/>
          </a:solidFill>
        </p:spPr>
        <p:txBody>
          <a:bodyPr wrap="none" rtlCol="0">
            <a:spAutoFit/>
          </a:bodyPr>
          <a:lstStyle/>
          <a:p>
            <a:r>
              <a:rPr lang="en-US" sz="1400" dirty="0"/>
              <a:t>Wake impedance</a:t>
            </a:r>
          </a:p>
        </p:txBody>
      </p:sp>
      <p:sp>
        <p:nvSpPr>
          <p:cNvPr id="2" name="TextBox 1">
            <a:extLst>
              <a:ext uri="{FF2B5EF4-FFF2-40B4-BE49-F238E27FC236}">
                <a16:creationId xmlns:a16="http://schemas.microsoft.com/office/drawing/2014/main" id="{6F2F2208-6E0A-664F-625B-076A61BA1BBB}"/>
              </a:ext>
            </a:extLst>
          </p:cNvPr>
          <p:cNvSpPr txBox="1"/>
          <p:nvPr/>
        </p:nvSpPr>
        <p:spPr>
          <a:xfrm>
            <a:off x="6662943" y="5233900"/>
            <a:ext cx="4598295" cy="646331"/>
          </a:xfrm>
          <a:prstGeom prst="rect">
            <a:avLst/>
          </a:prstGeom>
          <a:solidFill>
            <a:schemeClr val="bg1"/>
          </a:solidFill>
          <a:ln>
            <a:solidFill>
              <a:schemeClr val="tx1"/>
            </a:solidFill>
          </a:ln>
        </p:spPr>
        <p:txBody>
          <a:bodyPr wrap="square" rtlCol="0">
            <a:spAutoFit/>
          </a:bodyPr>
          <a:lstStyle/>
          <a:p>
            <a:r>
              <a:rPr lang="en-US" dirty="0"/>
              <a:t>Improved performance of machine when dielectric target holder will be used</a:t>
            </a:r>
          </a:p>
        </p:txBody>
      </p:sp>
    </p:spTree>
    <p:extLst>
      <p:ext uri="{BB962C8B-B14F-4D97-AF65-F5344CB8AC3E}">
        <p14:creationId xmlns:p14="http://schemas.microsoft.com/office/powerpoint/2010/main" val="37297778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3B90F-3DD6-B03A-AE49-79E85CC097E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5124FC1-5DD5-1353-A72F-5F098AE3FBF7}"/>
              </a:ext>
            </a:extLst>
          </p:cNvPr>
          <p:cNvSpPr>
            <a:spLocks noGrp="1"/>
          </p:cNvSpPr>
          <p:nvPr>
            <p:ph type="sldNum" sz="quarter" idx="12"/>
          </p:nvPr>
        </p:nvSpPr>
        <p:spPr/>
        <p:txBody>
          <a:bodyPr/>
          <a:lstStyle/>
          <a:p>
            <a:fld id="{893C5830-40F3-F04E-B2E3-10E6672BA8FF}" type="slidenum">
              <a:rPr lang="en-US" smtClean="0"/>
              <a:pPr/>
              <a:t>38</a:t>
            </a:fld>
            <a:endParaRPr lang="en-US" b="1"/>
          </a:p>
        </p:txBody>
      </p:sp>
      <p:sp>
        <p:nvSpPr>
          <p:cNvPr id="5" name="Title 1">
            <a:extLst>
              <a:ext uri="{FF2B5EF4-FFF2-40B4-BE49-F238E27FC236}">
                <a16:creationId xmlns:a16="http://schemas.microsoft.com/office/drawing/2014/main" id="{2F1D4AC7-B2A1-E5EE-8375-9644BC82E191}"/>
              </a:ext>
            </a:extLst>
          </p:cNvPr>
          <p:cNvSpPr txBox="1">
            <a:spLocks/>
          </p:cNvSpPr>
          <p:nvPr/>
        </p:nvSpPr>
        <p:spPr>
          <a:xfrm>
            <a:off x="471951" y="54401"/>
            <a:ext cx="11720049" cy="76933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1" u="none" kern="1200">
                <a:solidFill>
                  <a:schemeClr val="tx1"/>
                </a:solidFill>
                <a:latin typeface="+mn-lt"/>
                <a:ea typeface="+mj-ea"/>
                <a:cs typeface="+mj-cs"/>
              </a:defRPr>
            </a:lvl1pPr>
          </a:lstStyle>
          <a:p>
            <a:r>
              <a:rPr lang="en-US" sz="3600" dirty="0"/>
              <a:t>C fiber target polarimeter:  impedance calculations II</a:t>
            </a:r>
          </a:p>
        </p:txBody>
      </p:sp>
      <p:pic>
        <p:nvPicPr>
          <p:cNvPr id="4098" name="Picture 2">
            <a:extLst>
              <a:ext uri="{FF2B5EF4-FFF2-40B4-BE49-F238E27FC236}">
                <a16:creationId xmlns:a16="http://schemas.microsoft.com/office/drawing/2014/main" id="{F7411A5B-E43A-83DC-A0A5-6975A6CDED8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612"/>
          <a:stretch>
            <a:fillRect/>
          </a:stretch>
        </p:blipFill>
        <p:spPr bwMode="auto">
          <a:xfrm>
            <a:off x="4881908" y="1014983"/>
            <a:ext cx="6924364" cy="232817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BEF7669-BD3B-34BB-3240-B26C37B2533B}"/>
              </a:ext>
            </a:extLst>
          </p:cNvPr>
          <p:cNvSpPr txBox="1"/>
          <p:nvPr/>
        </p:nvSpPr>
        <p:spPr>
          <a:xfrm>
            <a:off x="571500" y="1428621"/>
            <a:ext cx="4009644" cy="1200329"/>
          </a:xfrm>
          <a:prstGeom prst="rect">
            <a:avLst/>
          </a:prstGeom>
          <a:noFill/>
        </p:spPr>
        <p:txBody>
          <a:bodyPr wrap="square" rtlCol="0">
            <a:spAutoFit/>
          </a:bodyPr>
          <a:lstStyle/>
          <a:p>
            <a:r>
              <a:rPr lang="en-US" b="1" dirty="0"/>
              <a:t>Shifted dielectric target positions:</a:t>
            </a:r>
          </a:p>
          <a:p>
            <a:endParaRPr lang="en-US" b="1" dirty="0"/>
          </a:p>
          <a:p>
            <a:pPr marL="285750" indent="-285750">
              <a:buFont typeface="Arial" panose="020B0604020202020204" pitchFamily="34" charset="0"/>
              <a:buChar char="•"/>
            </a:pPr>
            <a:r>
              <a:rPr lang="en-US" dirty="0"/>
              <a:t>Like RHIC, EIC will use multiple targets on same target holders</a:t>
            </a:r>
          </a:p>
        </p:txBody>
      </p:sp>
      <p:sp>
        <p:nvSpPr>
          <p:cNvPr id="8" name="TextBox 7">
            <a:extLst>
              <a:ext uri="{FF2B5EF4-FFF2-40B4-BE49-F238E27FC236}">
                <a16:creationId xmlns:a16="http://schemas.microsoft.com/office/drawing/2014/main" id="{FB43E402-07E5-C988-0E79-91D6946A21EC}"/>
              </a:ext>
            </a:extLst>
          </p:cNvPr>
          <p:cNvSpPr txBox="1"/>
          <p:nvPr/>
        </p:nvSpPr>
        <p:spPr>
          <a:xfrm>
            <a:off x="9623542" y="2475062"/>
            <a:ext cx="1740926" cy="307777"/>
          </a:xfrm>
          <a:prstGeom prst="rect">
            <a:avLst/>
          </a:prstGeom>
          <a:solidFill>
            <a:schemeClr val="bg1"/>
          </a:solidFill>
        </p:spPr>
        <p:txBody>
          <a:bodyPr wrap="none" rtlCol="0">
            <a:spAutoFit/>
          </a:bodyPr>
          <a:lstStyle/>
          <a:p>
            <a:r>
              <a:rPr lang="en-US" sz="1400" dirty="0"/>
              <a:t>Wake field potential</a:t>
            </a:r>
          </a:p>
        </p:txBody>
      </p:sp>
      <p:pic>
        <p:nvPicPr>
          <p:cNvPr id="4100" name="Picture 4">
            <a:extLst>
              <a:ext uri="{FF2B5EF4-FFF2-40B4-BE49-F238E27FC236}">
                <a16:creationId xmlns:a16="http://schemas.microsoft.com/office/drawing/2014/main" id="{F498A52C-484C-477E-F97A-FFCCD6919B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2009" y="3386966"/>
            <a:ext cx="2628000" cy="2085637"/>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92DF4049-9A35-882E-E870-A8375C84DB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1238" y="3397599"/>
            <a:ext cx="2232000" cy="2088661"/>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93C33543-4B7C-86D1-14A6-345359BC66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44808" y="3397600"/>
            <a:ext cx="2196000" cy="224878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F502FB2-9E85-CCC5-E308-9B775434DD84}"/>
              </a:ext>
            </a:extLst>
          </p:cNvPr>
          <p:cNvSpPr txBox="1"/>
          <p:nvPr/>
        </p:nvSpPr>
        <p:spPr>
          <a:xfrm>
            <a:off x="696723" y="4143799"/>
            <a:ext cx="3453436" cy="646331"/>
          </a:xfrm>
          <a:prstGeom prst="rect">
            <a:avLst/>
          </a:prstGeom>
          <a:noFill/>
        </p:spPr>
        <p:txBody>
          <a:bodyPr wrap="square" rtlCol="0">
            <a:spAutoFit/>
          </a:bodyPr>
          <a:lstStyle/>
          <a:p>
            <a:r>
              <a:rPr lang="en-US" dirty="0"/>
              <a:t>Wakefield amplitude decrease with target holder shifted down</a:t>
            </a:r>
          </a:p>
        </p:txBody>
      </p:sp>
      <p:sp>
        <p:nvSpPr>
          <p:cNvPr id="10" name="TextBox 9">
            <a:extLst>
              <a:ext uri="{FF2B5EF4-FFF2-40B4-BE49-F238E27FC236}">
                <a16:creationId xmlns:a16="http://schemas.microsoft.com/office/drawing/2014/main" id="{7939304F-22D4-93C2-1136-C7D39FCEB558}"/>
              </a:ext>
            </a:extLst>
          </p:cNvPr>
          <p:cNvSpPr txBox="1"/>
          <p:nvPr/>
        </p:nvSpPr>
        <p:spPr>
          <a:xfrm>
            <a:off x="1485178" y="5646389"/>
            <a:ext cx="9221435" cy="369332"/>
          </a:xfrm>
          <a:prstGeom prst="rect">
            <a:avLst/>
          </a:prstGeom>
          <a:noFill/>
          <a:ln>
            <a:solidFill>
              <a:srgbClr val="C00000"/>
            </a:solidFill>
          </a:ln>
        </p:spPr>
        <p:txBody>
          <a:bodyPr wrap="none" rtlCol="0">
            <a:spAutoFit/>
          </a:bodyPr>
          <a:lstStyle/>
          <a:p>
            <a:r>
              <a:rPr lang="en-US" dirty="0">
                <a:solidFill>
                  <a:srgbClr val="C00000"/>
                </a:solidFill>
              </a:rPr>
              <a:t>Similar behavior when different C targets are inserted into beam from same target holder</a:t>
            </a:r>
          </a:p>
        </p:txBody>
      </p:sp>
    </p:spTree>
    <p:extLst>
      <p:ext uri="{BB962C8B-B14F-4D97-AF65-F5344CB8AC3E}">
        <p14:creationId xmlns:p14="http://schemas.microsoft.com/office/powerpoint/2010/main" val="24776400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0E82FB-F8B6-93D3-2236-2F63905C8C28}"/>
              </a:ext>
            </a:extLst>
          </p:cNvPr>
          <p:cNvSpPr>
            <a:spLocks noGrp="1"/>
          </p:cNvSpPr>
          <p:nvPr>
            <p:ph type="sldNum" sz="quarter" idx="4"/>
          </p:nvPr>
        </p:nvSpPr>
        <p:spPr/>
        <p:txBody>
          <a:bodyPr/>
          <a:lstStyle/>
          <a:p>
            <a:fld id="{933A556B-7C63-244D-9B7C-B0EA8042B330}" type="slidenum">
              <a:rPr lang="en-US" smtClean="0"/>
              <a:pPr/>
              <a:t>39</a:t>
            </a:fld>
            <a:endParaRPr lang="en-US"/>
          </a:p>
        </p:txBody>
      </p:sp>
      <p:sp>
        <p:nvSpPr>
          <p:cNvPr id="5" name="Title 4">
            <a:extLst>
              <a:ext uri="{FF2B5EF4-FFF2-40B4-BE49-F238E27FC236}">
                <a16:creationId xmlns:a16="http://schemas.microsoft.com/office/drawing/2014/main" id="{726900B9-AAE3-7B9D-6567-2B4ECC1CA07E}"/>
              </a:ext>
            </a:extLst>
          </p:cNvPr>
          <p:cNvSpPr>
            <a:spLocks noGrp="1"/>
          </p:cNvSpPr>
          <p:nvPr>
            <p:ph type="title" idx="4294967295"/>
          </p:nvPr>
        </p:nvSpPr>
        <p:spPr>
          <a:xfrm>
            <a:off x="462579" y="0"/>
            <a:ext cx="11499925" cy="825178"/>
          </a:xfrm>
        </p:spPr>
        <p:txBody>
          <a:bodyPr>
            <a:normAutofit/>
          </a:bodyPr>
          <a:lstStyle/>
          <a:p>
            <a:r>
              <a:rPr lang="en-US" dirty="0"/>
              <a:t>Hadron polarimetry layout at IP4</a:t>
            </a:r>
          </a:p>
        </p:txBody>
      </p:sp>
      <p:sp>
        <p:nvSpPr>
          <p:cNvPr id="23" name="TextBox 22">
            <a:extLst>
              <a:ext uri="{FF2B5EF4-FFF2-40B4-BE49-F238E27FC236}">
                <a16:creationId xmlns:a16="http://schemas.microsoft.com/office/drawing/2014/main" id="{E7C5A1AB-FEEC-AF34-915A-700F0C06847A}"/>
              </a:ext>
            </a:extLst>
          </p:cNvPr>
          <p:cNvSpPr txBox="1"/>
          <p:nvPr/>
        </p:nvSpPr>
        <p:spPr>
          <a:xfrm>
            <a:off x="1819210" y="1164426"/>
            <a:ext cx="9376192" cy="1200329"/>
          </a:xfrm>
          <a:prstGeom prst="rect">
            <a:avLst/>
          </a:prstGeom>
          <a:noFill/>
        </p:spPr>
        <p:txBody>
          <a:bodyPr wrap="square">
            <a:spAutoFit/>
          </a:bodyPr>
          <a:lstStyle/>
          <a:p>
            <a:pPr marL="285750" indent="-285750">
              <a:buFont typeface="Arial" panose="020B0604020202020204" pitchFamily="34" charset="0"/>
              <a:buChar char="•"/>
            </a:pPr>
            <a:r>
              <a:rPr lang="en-US" b="1" dirty="0"/>
              <a:t>Choice of location driven by required drift space</a:t>
            </a:r>
          </a:p>
          <a:p>
            <a:pPr marL="285750" indent="-285750">
              <a:buFont typeface="Arial" panose="020B0604020202020204" pitchFamily="34" charset="0"/>
              <a:buChar char="•"/>
            </a:pPr>
            <a:r>
              <a:rPr kumimoji="0" lang="en-US" b="1" i="0" u="none" strike="noStrike" kern="1200" cap="none" spc="0" normalizeH="0" baseline="0" noProof="0" dirty="0">
                <a:ln>
                  <a:noFill/>
                </a:ln>
                <a:effectLst/>
                <a:uLnTx/>
                <a:uFillTx/>
                <a:ea typeface="+mn-ea"/>
                <a:cs typeface="+mn-cs"/>
              </a:rPr>
              <a:t>Carbon and polarized H and </a:t>
            </a:r>
            <a:r>
              <a:rPr kumimoji="0" lang="en-US" b="1" i="0" u="none" strike="noStrike" kern="1200" cap="none" spc="0" normalizeH="0" baseline="30000" noProof="0" dirty="0">
                <a:ln>
                  <a:noFill/>
                </a:ln>
                <a:effectLst/>
                <a:uLnTx/>
                <a:uFillTx/>
                <a:ea typeface="+mn-ea"/>
                <a:cs typeface="+mn-cs"/>
              </a:rPr>
              <a:t>3</a:t>
            </a:r>
            <a:r>
              <a:rPr kumimoji="0" lang="en-US" b="1" i="0" u="none" strike="noStrike" kern="1200" cap="none" spc="0" normalizeH="0" baseline="0" noProof="0" dirty="0">
                <a:ln>
                  <a:noFill/>
                </a:ln>
                <a:effectLst/>
                <a:uLnTx/>
                <a:uFillTx/>
                <a:ea typeface="+mn-ea"/>
                <a:cs typeface="+mn-cs"/>
              </a:rPr>
              <a:t>He targets</a:t>
            </a:r>
            <a:r>
              <a:rPr lang="en-US" b="1" dirty="0">
                <a:effectLst/>
              </a:rPr>
              <a:t> all located in one place</a:t>
            </a:r>
          </a:p>
          <a:p>
            <a:pPr marL="742950" lvl="1" indent="-285750">
              <a:buFont typeface="Arial" panose="020B0604020202020204" pitchFamily="34" charset="0"/>
              <a:buChar char="•"/>
            </a:pPr>
            <a:r>
              <a:rPr lang="en-US" dirty="0">
                <a:effectLst/>
              </a:rPr>
              <a:t>Minimize spin rotations between polarimeters</a:t>
            </a:r>
          </a:p>
          <a:p>
            <a:pPr marL="742950" lvl="1" indent="-285750">
              <a:buFont typeface="Arial" panose="020B0604020202020204" pitchFamily="34" charset="0"/>
              <a:buChar char="•"/>
            </a:pPr>
            <a:r>
              <a:rPr lang="en-US" dirty="0"/>
              <a:t>Enable efficient use of common infrastructure</a:t>
            </a:r>
          </a:p>
        </p:txBody>
      </p:sp>
      <p:grpSp>
        <p:nvGrpSpPr>
          <p:cNvPr id="3" name="Group 2">
            <a:extLst>
              <a:ext uri="{FF2B5EF4-FFF2-40B4-BE49-F238E27FC236}">
                <a16:creationId xmlns:a16="http://schemas.microsoft.com/office/drawing/2014/main" id="{A033C490-6885-DD2B-6BCD-4155C9BDD8AA}"/>
              </a:ext>
            </a:extLst>
          </p:cNvPr>
          <p:cNvGrpSpPr/>
          <p:nvPr/>
        </p:nvGrpSpPr>
        <p:grpSpPr>
          <a:xfrm>
            <a:off x="366321" y="2469280"/>
            <a:ext cx="11574455" cy="3865194"/>
            <a:chOff x="366321" y="2469280"/>
            <a:chExt cx="11574455" cy="3865194"/>
          </a:xfrm>
        </p:grpSpPr>
        <p:pic>
          <p:nvPicPr>
            <p:cNvPr id="54" name="Picture 53">
              <a:extLst>
                <a:ext uri="{FF2B5EF4-FFF2-40B4-BE49-F238E27FC236}">
                  <a16:creationId xmlns:a16="http://schemas.microsoft.com/office/drawing/2014/main" id="{06BE31FD-42A6-7A9E-B9F5-92157F058F50}"/>
                </a:ext>
              </a:extLst>
            </p:cNvPr>
            <p:cNvPicPr>
              <a:picLocks noChangeAspect="1"/>
            </p:cNvPicPr>
            <p:nvPr/>
          </p:nvPicPr>
          <p:blipFill>
            <a:blip r:embed="rId2"/>
            <a:stretch>
              <a:fillRect/>
            </a:stretch>
          </p:blipFill>
          <p:spPr>
            <a:xfrm>
              <a:off x="366321" y="2911990"/>
              <a:ext cx="11573175" cy="3046461"/>
            </a:xfrm>
            <a:prstGeom prst="rect">
              <a:avLst/>
            </a:prstGeom>
          </p:spPr>
        </p:pic>
        <p:sp>
          <p:nvSpPr>
            <p:cNvPr id="55" name="TextBox 54">
              <a:extLst>
                <a:ext uri="{FF2B5EF4-FFF2-40B4-BE49-F238E27FC236}">
                  <a16:creationId xmlns:a16="http://schemas.microsoft.com/office/drawing/2014/main" id="{757D0934-8570-B240-759D-D43ECBF469FE}"/>
                </a:ext>
              </a:extLst>
            </p:cNvPr>
            <p:cNvSpPr txBox="1"/>
            <p:nvPr/>
          </p:nvSpPr>
          <p:spPr>
            <a:xfrm>
              <a:off x="1592419" y="2738962"/>
              <a:ext cx="449162" cy="276999"/>
            </a:xfrm>
            <a:prstGeom prst="rect">
              <a:avLst/>
            </a:prstGeom>
            <a:noFill/>
          </p:spPr>
          <p:txBody>
            <a:bodyPr wrap="none" rtlCol="0">
              <a:spAutoFit/>
            </a:bodyPr>
            <a:lstStyle/>
            <a:p>
              <a:pPr algn="ctr"/>
              <a:r>
                <a:rPr lang="en-US" sz="1200" b="1" dirty="0">
                  <a:solidFill>
                    <a:srgbClr val="C00000"/>
                  </a:solidFill>
                </a:rPr>
                <a:t>CNI</a:t>
              </a:r>
            </a:p>
          </p:txBody>
        </p:sp>
        <p:sp>
          <p:nvSpPr>
            <p:cNvPr id="57" name="TextBox 56">
              <a:extLst>
                <a:ext uri="{FF2B5EF4-FFF2-40B4-BE49-F238E27FC236}">
                  <a16:creationId xmlns:a16="http://schemas.microsoft.com/office/drawing/2014/main" id="{16E39763-C4E7-EF5D-C23B-6E28F75DFDFD}"/>
                </a:ext>
              </a:extLst>
            </p:cNvPr>
            <p:cNvSpPr txBox="1"/>
            <p:nvPr/>
          </p:nvSpPr>
          <p:spPr>
            <a:xfrm>
              <a:off x="633628" y="2469280"/>
              <a:ext cx="868849" cy="269682"/>
            </a:xfrm>
            <a:prstGeom prst="rect">
              <a:avLst/>
            </a:prstGeom>
            <a:noFill/>
          </p:spPr>
          <p:txBody>
            <a:bodyPr wrap="none" rtlCol="0">
              <a:spAutoFit/>
            </a:bodyPr>
            <a:lstStyle/>
            <a:p>
              <a:pPr algn="ctr"/>
              <a:r>
                <a:rPr lang="en-US" sz="1200" dirty="0"/>
                <a:t>Triplet (Q3)</a:t>
              </a:r>
            </a:p>
          </p:txBody>
        </p:sp>
        <p:sp>
          <p:nvSpPr>
            <p:cNvPr id="59" name="TextBox 58">
              <a:extLst>
                <a:ext uri="{FF2B5EF4-FFF2-40B4-BE49-F238E27FC236}">
                  <a16:creationId xmlns:a16="http://schemas.microsoft.com/office/drawing/2014/main" id="{2A1BB398-9653-6B67-E42A-7079223FD4DE}"/>
                </a:ext>
              </a:extLst>
            </p:cNvPr>
            <p:cNvSpPr txBox="1"/>
            <p:nvPr/>
          </p:nvSpPr>
          <p:spPr>
            <a:xfrm>
              <a:off x="2200189" y="2700773"/>
              <a:ext cx="729688" cy="276999"/>
            </a:xfrm>
            <a:prstGeom prst="rect">
              <a:avLst/>
            </a:prstGeom>
            <a:noFill/>
          </p:spPr>
          <p:txBody>
            <a:bodyPr wrap="none" rtlCol="0">
              <a:spAutoFit/>
            </a:bodyPr>
            <a:lstStyle/>
            <a:p>
              <a:pPr algn="ctr"/>
              <a:r>
                <a:rPr lang="en-US" sz="1200" b="1" dirty="0">
                  <a:solidFill>
                    <a:srgbClr val="C00000"/>
                  </a:solidFill>
                </a:rPr>
                <a:t>3He Jet</a:t>
              </a:r>
            </a:p>
          </p:txBody>
        </p:sp>
        <p:sp>
          <p:nvSpPr>
            <p:cNvPr id="61" name="TextBox 60">
              <a:extLst>
                <a:ext uri="{FF2B5EF4-FFF2-40B4-BE49-F238E27FC236}">
                  <a16:creationId xmlns:a16="http://schemas.microsoft.com/office/drawing/2014/main" id="{D78BB563-974E-4799-DAB6-0BC8FD03A578}"/>
                </a:ext>
              </a:extLst>
            </p:cNvPr>
            <p:cNvSpPr txBox="1"/>
            <p:nvPr/>
          </p:nvSpPr>
          <p:spPr>
            <a:xfrm>
              <a:off x="3080945" y="2835614"/>
              <a:ext cx="516488" cy="276999"/>
            </a:xfrm>
            <a:prstGeom prst="rect">
              <a:avLst/>
            </a:prstGeom>
            <a:noFill/>
          </p:spPr>
          <p:txBody>
            <a:bodyPr wrap="none" rtlCol="0">
              <a:spAutoFit/>
            </a:bodyPr>
            <a:lstStyle/>
            <a:p>
              <a:pPr algn="ctr"/>
              <a:r>
                <a:rPr lang="en-US" sz="1200" b="1" dirty="0">
                  <a:solidFill>
                    <a:srgbClr val="C00000"/>
                  </a:solidFill>
                </a:rPr>
                <a:t>HJet</a:t>
              </a:r>
            </a:p>
          </p:txBody>
        </p:sp>
        <p:sp>
          <p:nvSpPr>
            <p:cNvPr id="62" name="TextBox 61">
              <a:extLst>
                <a:ext uri="{FF2B5EF4-FFF2-40B4-BE49-F238E27FC236}">
                  <a16:creationId xmlns:a16="http://schemas.microsoft.com/office/drawing/2014/main" id="{4301D413-6289-CF0A-CEB3-049D8D3FAD47}"/>
                </a:ext>
              </a:extLst>
            </p:cNvPr>
            <p:cNvSpPr txBox="1"/>
            <p:nvPr/>
          </p:nvSpPr>
          <p:spPr>
            <a:xfrm>
              <a:off x="3886660" y="3105296"/>
              <a:ext cx="942450" cy="269682"/>
            </a:xfrm>
            <a:prstGeom prst="rect">
              <a:avLst/>
            </a:prstGeom>
            <a:noFill/>
          </p:spPr>
          <p:txBody>
            <a:bodyPr wrap="none" rtlCol="0">
              <a:spAutoFit/>
            </a:bodyPr>
            <a:lstStyle/>
            <a:p>
              <a:pPr algn="ctr"/>
              <a:r>
                <a:rPr lang="en-US" sz="1200" dirty="0"/>
                <a:t>2X Warm D0</a:t>
              </a:r>
            </a:p>
          </p:txBody>
        </p:sp>
        <p:sp>
          <p:nvSpPr>
            <p:cNvPr id="63" name="TextBox 62">
              <a:extLst>
                <a:ext uri="{FF2B5EF4-FFF2-40B4-BE49-F238E27FC236}">
                  <a16:creationId xmlns:a16="http://schemas.microsoft.com/office/drawing/2014/main" id="{E0CD1CF9-D76F-AEE9-5CDD-8989C7105B2E}"/>
                </a:ext>
              </a:extLst>
            </p:cNvPr>
            <p:cNvSpPr txBox="1"/>
            <p:nvPr/>
          </p:nvSpPr>
          <p:spPr>
            <a:xfrm>
              <a:off x="4866815" y="3006750"/>
              <a:ext cx="1451634" cy="295387"/>
            </a:xfrm>
            <a:prstGeom prst="rect">
              <a:avLst/>
            </a:prstGeom>
            <a:noFill/>
          </p:spPr>
          <p:txBody>
            <a:bodyPr wrap="none" rtlCol="0">
              <a:spAutoFit/>
            </a:bodyPr>
            <a:lstStyle/>
            <a:p>
              <a:pPr algn="ctr"/>
              <a:r>
                <a:rPr lang="en-US" sz="1200" dirty="0" err="1"/>
                <a:t>Longit</a:t>
              </a:r>
              <a:r>
                <a:rPr lang="en-US" sz="1200" dirty="0"/>
                <a:t> SC Pickup</a:t>
              </a:r>
            </a:p>
          </p:txBody>
        </p:sp>
        <p:sp>
          <p:nvSpPr>
            <p:cNvPr id="67" name="TextBox 66">
              <a:extLst>
                <a:ext uri="{FF2B5EF4-FFF2-40B4-BE49-F238E27FC236}">
                  <a16:creationId xmlns:a16="http://schemas.microsoft.com/office/drawing/2014/main" id="{6FA141BD-51D3-460A-D5B0-75B6B1B06D2C}"/>
                </a:ext>
              </a:extLst>
            </p:cNvPr>
            <p:cNvSpPr txBox="1"/>
            <p:nvPr/>
          </p:nvSpPr>
          <p:spPr>
            <a:xfrm>
              <a:off x="6004003" y="3371192"/>
              <a:ext cx="1270562" cy="269682"/>
            </a:xfrm>
            <a:prstGeom prst="rect">
              <a:avLst/>
            </a:prstGeom>
            <a:noFill/>
          </p:spPr>
          <p:txBody>
            <a:bodyPr wrap="none" rtlCol="0">
              <a:spAutoFit/>
            </a:bodyPr>
            <a:lstStyle/>
            <a:p>
              <a:pPr algn="ctr"/>
              <a:r>
                <a:rPr lang="en-US" sz="1200" dirty="0"/>
                <a:t>4X </a:t>
              </a:r>
              <a:r>
                <a:rPr lang="en-US" sz="1200" dirty="0" err="1"/>
                <a:t>Horiz</a:t>
              </a:r>
              <a:r>
                <a:rPr lang="en-US" sz="1200" dirty="0"/>
                <a:t> SC Kicker</a:t>
              </a:r>
            </a:p>
          </p:txBody>
        </p:sp>
        <p:sp>
          <p:nvSpPr>
            <p:cNvPr id="68" name="TextBox 67">
              <a:extLst>
                <a:ext uri="{FF2B5EF4-FFF2-40B4-BE49-F238E27FC236}">
                  <a16:creationId xmlns:a16="http://schemas.microsoft.com/office/drawing/2014/main" id="{C4CE876D-D991-DD02-DF5C-D7FCAA8EBC12}"/>
                </a:ext>
              </a:extLst>
            </p:cNvPr>
            <p:cNvSpPr txBox="1"/>
            <p:nvPr/>
          </p:nvSpPr>
          <p:spPr>
            <a:xfrm>
              <a:off x="7526403" y="3595926"/>
              <a:ext cx="1205326" cy="269682"/>
            </a:xfrm>
            <a:prstGeom prst="rect">
              <a:avLst/>
            </a:prstGeom>
            <a:noFill/>
          </p:spPr>
          <p:txBody>
            <a:bodyPr wrap="none" rtlCol="0">
              <a:spAutoFit/>
            </a:bodyPr>
            <a:lstStyle/>
            <a:p>
              <a:pPr algn="ctr"/>
              <a:r>
                <a:rPr lang="en-US" sz="1200" dirty="0"/>
                <a:t>4X Vert SC Kicker</a:t>
              </a:r>
            </a:p>
          </p:txBody>
        </p:sp>
        <p:sp>
          <p:nvSpPr>
            <p:cNvPr id="69" name="TextBox 68">
              <a:extLst>
                <a:ext uri="{FF2B5EF4-FFF2-40B4-BE49-F238E27FC236}">
                  <a16:creationId xmlns:a16="http://schemas.microsoft.com/office/drawing/2014/main" id="{CE79D876-80CE-1D5D-7237-9E27DB5C09B5}"/>
                </a:ext>
              </a:extLst>
            </p:cNvPr>
            <p:cNvSpPr txBox="1"/>
            <p:nvPr/>
          </p:nvSpPr>
          <p:spPr>
            <a:xfrm>
              <a:off x="9007898" y="3694314"/>
              <a:ext cx="1506952" cy="461665"/>
            </a:xfrm>
            <a:prstGeom prst="rect">
              <a:avLst/>
            </a:prstGeom>
            <a:noFill/>
          </p:spPr>
          <p:txBody>
            <a:bodyPr wrap="none" rtlCol="0">
              <a:spAutoFit/>
            </a:bodyPr>
            <a:lstStyle/>
            <a:p>
              <a:pPr algn="ctr"/>
              <a:r>
                <a:rPr lang="en-US" sz="1200" b="1" dirty="0">
                  <a:solidFill>
                    <a:srgbClr val="C00000"/>
                  </a:solidFill>
                </a:rPr>
                <a:t>HJet Tagger Drift /</a:t>
              </a:r>
            </a:p>
            <a:p>
              <a:pPr algn="ctr"/>
              <a:r>
                <a:rPr lang="en-US" sz="1200" b="1" dirty="0">
                  <a:solidFill>
                    <a:srgbClr val="C00000"/>
                  </a:solidFill>
                </a:rPr>
                <a:t>Tagging System</a:t>
              </a:r>
            </a:p>
          </p:txBody>
        </p:sp>
        <p:sp>
          <p:nvSpPr>
            <p:cNvPr id="70" name="TextBox 69">
              <a:extLst>
                <a:ext uri="{FF2B5EF4-FFF2-40B4-BE49-F238E27FC236}">
                  <a16:creationId xmlns:a16="http://schemas.microsoft.com/office/drawing/2014/main" id="{BE5753C8-7363-7114-3D85-D69A19AF9228}"/>
                </a:ext>
              </a:extLst>
            </p:cNvPr>
            <p:cNvSpPr txBox="1"/>
            <p:nvPr/>
          </p:nvSpPr>
          <p:spPr>
            <a:xfrm>
              <a:off x="11362675" y="4042797"/>
              <a:ext cx="357702" cy="269682"/>
            </a:xfrm>
            <a:prstGeom prst="rect">
              <a:avLst/>
            </a:prstGeom>
            <a:noFill/>
          </p:spPr>
          <p:txBody>
            <a:bodyPr wrap="none" rtlCol="0">
              <a:spAutoFit/>
            </a:bodyPr>
            <a:lstStyle/>
            <a:p>
              <a:pPr algn="ctr"/>
              <a:r>
                <a:rPr lang="en-US" sz="1200" dirty="0"/>
                <a:t>Q4</a:t>
              </a:r>
            </a:p>
          </p:txBody>
        </p:sp>
        <p:sp>
          <p:nvSpPr>
            <p:cNvPr id="71" name="TextBox 70">
              <a:extLst>
                <a:ext uri="{FF2B5EF4-FFF2-40B4-BE49-F238E27FC236}">
                  <a16:creationId xmlns:a16="http://schemas.microsoft.com/office/drawing/2014/main" id="{B8A562D5-0A48-0E0B-0CC8-15B559F6EBB5}"/>
                </a:ext>
              </a:extLst>
            </p:cNvPr>
            <p:cNvSpPr txBox="1"/>
            <p:nvPr/>
          </p:nvSpPr>
          <p:spPr>
            <a:xfrm>
              <a:off x="10469374" y="4188967"/>
              <a:ext cx="763474" cy="269682"/>
            </a:xfrm>
            <a:prstGeom prst="rect">
              <a:avLst/>
            </a:prstGeom>
            <a:noFill/>
          </p:spPr>
          <p:txBody>
            <a:bodyPr wrap="none" rtlCol="0">
              <a:spAutoFit/>
            </a:bodyPr>
            <a:lstStyle/>
            <a:p>
              <a:pPr algn="ctr"/>
              <a:r>
                <a:rPr lang="en-US" sz="1200" dirty="0"/>
                <a:t>Ion Pump</a:t>
              </a:r>
            </a:p>
          </p:txBody>
        </p:sp>
        <p:cxnSp>
          <p:nvCxnSpPr>
            <p:cNvPr id="72" name="Straight Arrow Connector 71">
              <a:extLst>
                <a:ext uri="{FF2B5EF4-FFF2-40B4-BE49-F238E27FC236}">
                  <a16:creationId xmlns:a16="http://schemas.microsoft.com/office/drawing/2014/main" id="{B409C49D-2EEA-92BA-045E-DE696B34A945}"/>
                </a:ext>
              </a:extLst>
            </p:cNvPr>
            <p:cNvCxnSpPr>
              <a:cxnSpLocks/>
              <a:stCxn id="57" idx="2"/>
            </p:cNvCxnSpPr>
            <p:nvPr/>
          </p:nvCxnSpPr>
          <p:spPr>
            <a:xfrm flipH="1">
              <a:off x="837181" y="2738962"/>
              <a:ext cx="230872" cy="68108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92A65A0E-473D-DD14-82B7-ECA4EBB4D62A}"/>
                </a:ext>
              </a:extLst>
            </p:cNvPr>
            <p:cNvCxnSpPr>
              <a:cxnSpLocks/>
              <a:stCxn id="55" idx="2"/>
            </p:cNvCxnSpPr>
            <p:nvPr/>
          </p:nvCxnSpPr>
          <p:spPr>
            <a:xfrm flipH="1">
              <a:off x="1530588" y="3015961"/>
              <a:ext cx="286412" cy="6588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492EAF16-3F08-507C-43C1-55281ECD87C0}"/>
                </a:ext>
              </a:extLst>
            </p:cNvPr>
            <p:cNvCxnSpPr>
              <a:cxnSpLocks/>
              <a:stCxn id="59" idx="2"/>
            </p:cNvCxnSpPr>
            <p:nvPr/>
          </p:nvCxnSpPr>
          <p:spPr>
            <a:xfrm flipH="1">
              <a:off x="2338347" y="2977772"/>
              <a:ext cx="226686" cy="39404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FD0B1503-5A05-192E-5D61-239138E261D0}"/>
                </a:ext>
              </a:extLst>
            </p:cNvPr>
            <p:cNvCxnSpPr>
              <a:cxnSpLocks/>
              <a:stCxn id="61" idx="2"/>
            </p:cNvCxnSpPr>
            <p:nvPr/>
          </p:nvCxnSpPr>
          <p:spPr>
            <a:xfrm flipH="1">
              <a:off x="2972844" y="3112613"/>
              <a:ext cx="366345" cy="3682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0D456AE2-1BE7-1249-2B09-BAC07650FCA4}"/>
                </a:ext>
              </a:extLst>
            </p:cNvPr>
            <p:cNvCxnSpPr>
              <a:cxnSpLocks/>
              <a:stCxn id="62" idx="2"/>
            </p:cNvCxnSpPr>
            <p:nvPr/>
          </p:nvCxnSpPr>
          <p:spPr>
            <a:xfrm flipH="1">
              <a:off x="4207968" y="3374977"/>
              <a:ext cx="149917" cy="61635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59834228-720A-EC85-9E26-CE989CC633B2}"/>
                </a:ext>
              </a:extLst>
            </p:cNvPr>
            <p:cNvCxnSpPr>
              <a:cxnSpLocks/>
              <a:stCxn id="63" idx="2"/>
            </p:cNvCxnSpPr>
            <p:nvPr/>
          </p:nvCxnSpPr>
          <p:spPr>
            <a:xfrm flipH="1">
              <a:off x="5390287" y="3302137"/>
              <a:ext cx="202345" cy="97437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483B542C-8A14-2D94-ABC9-DD98F9169123}"/>
                </a:ext>
              </a:extLst>
            </p:cNvPr>
            <p:cNvCxnSpPr>
              <a:cxnSpLocks/>
              <a:stCxn id="67" idx="2"/>
            </p:cNvCxnSpPr>
            <p:nvPr/>
          </p:nvCxnSpPr>
          <p:spPr>
            <a:xfrm flipH="1">
              <a:off x="6331821" y="3640873"/>
              <a:ext cx="307463" cy="70092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257F710F-3F14-A26B-BCAB-6FFB2E87DA48}"/>
                </a:ext>
              </a:extLst>
            </p:cNvPr>
            <p:cNvCxnSpPr>
              <a:cxnSpLocks/>
              <a:stCxn id="68" idx="2"/>
            </p:cNvCxnSpPr>
            <p:nvPr/>
          </p:nvCxnSpPr>
          <p:spPr>
            <a:xfrm flipH="1">
              <a:off x="7821603" y="3865607"/>
              <a:ext cx="307463" cy="66249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54D0669A-EB82-309F-4121-564D53DE5DA0}"/>
                </a:ext>
              </a:extLst>
            </p:cNvPr>
            <p:cNvCxnSpPr>
              <a:cxnSpLocks/>
              <a:stCxn id="69" idx="2"/>
            </p:cNvCxnSpPr>
            <p:nvPr/>
          </p:nvCxnSpPr>
          <p:spPr>
            <a:xfrm flipH="1">
              <a:off x="9678167" y="4155979"/>
              <a:ext cx="83207" cy="6841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4710E6F9-9E56-D543-F1D3-EF5B266D6AEC}"/>
                </a:ext>
              </a:extLst>
            </p:cNvPr>
            <p:cNvCxnSpPr>
              <a:cxnSpLocks/>
              <a:stCxn id="71" idx="2"/>
            </p:cNvCxnSpPr>
            <p:nvPr/>
          </p:nvCxnSpPr>
          <p:spPr>
            <a:xfrm>
              <a:off x="10851111" y="4458648"/>
              <a:ext cx="174787" cy="6729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DCA1D5C2-9601-F011-D901-2D9F0D36B377}"/>
                </a:ext>
              </a:extLst>
            </p:cNvPr>
            <p:cNvCxnSpPr>
              <a:cxnSpLocks/>
              <a:stCxn id="70" idx="2"/>
            </p:cNvCxnSpPr>
            <p:nvPr/>
          </p:nvCxnSpPr>
          <p:spPr>
            <a:xfrm>
              <a:off x="11541526" y="4312478"/>
              <a:ext cx="44646" cy="79071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50E1665C-4B39-0B56-7C26-2018941C329C}"/>
                </a:ext>
              </a:extLst>
            </p:cNvPr>
            <p:cNvCxnSpPr>
              <a:cxnSpLocks/>
            </p:cNvCxnSpPr>
            <p:nvPr/>
          </p:nvCxnSpPr>
          <p:spPr>
            <a:xfrm>
              <a:off x="1620201" y="4698835"/>
              <a:ext cx="808641" cy="123501"/>
            </a:xfrm>
            <a:prstGeom prst="straightConnector1">
              <a:avLst/>
            </a:prstGeom>
            <a:ln w="76200">
              <a:solidFill>
                <a:srgbClr val="FFFF00"/>
              </a:solidFill>
              <a:tailEnd type="triangle"/>
            </a:ln>
            <a:effectLst>
              <a:glow rad="635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10E9EBFF-2699-ED94-824E-19CC8D3EE051}"/>
                </a:ext>
              </a:extLst>
            </p:cNvPr>
            <p:cNvSpPr txBox="1"/>
            <p:nvPr/>
          </p:nvSpPr>
          <p:spPr>
            <a:xfrm>
              <a:off x="1679846" y="4773586"/>
              <a:ext cx="513768" cy="329610"/>
            </a:xfrm>
            <a:prstGeom prst="rect">
              <a:avLst/>
            </a:prstGeom>
            <a:noFill/>
          </p:spPr>
          <p:txBody>
            <a:bodyPr wrap="none" rtlCol="0">
              <a:spAutoFit/>
            </a:bodyPr>
            <a:lstStyle/>
            <a:p>
              <a:pPr algn="ctr"/>
              <a:r>
                <a:rPr lang="en-US" sz="1600" b="1" dirty="0"/>
                <a:t>HSR</a:t>
              </a:r>
            </a:p>
          </p:txBody>
        </p:sp>
        <p:sp>
          <p:nvSpPr>
            <p:cNvPr id="91" name="TextBox 90">
              <a:extLst>
                <a:ext uri="{FF2B5EF4-FFF2-40B4-BE49-F238E27FC236}">
                  <a16:creationId xmlns:a16="http://schemas.microsoft.com/office/drawing/2014/main" id="{1DA7D728-0E68-A50D-8D50-9BC195D84FAD}"/>
                </a:ext>
              </a:extLst>
            </p:cNvPr>
            <p:cNvSpPr txBox="1"/>
            <p:nvPr/>
          </p:nvSpPr>
          <p:spPr>
            <a:xfrm>
              <a:off x="11333368" y="6004864"/>
              <a:ext cx="607408" cy="329610"/>
            </a:xfrm>
            <a:prstGeom prst="rect">
              <a:avLst/>
            </a:prstGeom>
            <a:noFill/>
          </p:spPr>
          <p:txBody>
            <a:bodyPr wrap="none" rtlCol="0">
              <a:spAutoFit/>
            </a:bodyPr>
            <a:lstStyle/>
            <a:p>
              <a:r>
                <a:rPr lang="en-US" sz="800" dirty="0"/>
                <a:t>E. Link</a:t>
              </a:r>
            </a:p>
            <a:p>
              <a:r>
                <a:rPr lang="en-US" sz="800" dirty="0"/>
                <a:t>5/16/2025</a:t>
              </a:r>
            </a:p>
          </p:txBody>
        </p:sp>
        <p:cxnSp>
          <p:nvCxnSpPr>
            <p:cNvPr id="92" name="Straight Arrow Connector 91">
              <a:extLst>
                <a:ext uri="{FF2B5EF4-FFF2-40B4-BE49-F238E27FC236}">
                  <a16:creationId xmlns:a16="http://schemas.microsoft.com/office/drawing/2014/main" id="{B13E3D90-A741-63A6-25BA-A628034D821E}"/>
                </a:ext>
              </a:extLst>
            </p:cNvPr>
            <p:cNvCxnSpPr>
              <a:cxnSpLocks/>
            </p:cNvCxnSpPr>
            <p:nvPr/>
          </p:nvCxnSpPr>
          <p:spPr>
            <a:xfrm>
              <a:off x="8179003" y="5471789"/>
              <a:ext cx="2579375" cy="382805"/>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7B842221-AF3B-0623-5A68-4AA197401A21}"/>
                </a:ext>
              </a:extLst>
            </p:cNvPr>
            <p:cNvCxnSpPr>
              <a:cxnSpLocks/>
            </p:cNvCxnSpPr>
            <p:nvPr/>
          </p:nvCxnSpPr>
          <p:spPr>
            <a:xfrm flipH="1">
              <a:off x="8203393" y="4853004"/>
              <a:ext cx="204756" cy="56631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B0A1FC57-2F12-F342-B907-2925815EEE91}"/>
                </a:ext>
              </a:extLst>
            </p:cNvPr>
            <p:cNvCxnSpPr>
              <a:cxnSpLocks/>
            </p:cNvCxnSpPr>
            <p:nvPr/>
          </p:nvCxnSpPr>
          <p:spPr>
            <a:xfrm flipH="1">
              <a:off x="10752195" y="5238946"/>
              <a:ext cx="204756" cy="56631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7" name="Straight Connector 6">
            <a:extLst>
              <a:ext uri="{FF2B5EF4-FFF2-40B4-BE49-F238E27FC236}">
                <a16:creationId xmlns:a16="http://schemas.microsoft.com/office/drawing/2014/main" id="{6AC7AAB0-558B-404F-D1BB-3B86922B5967}"/>
              </a:ext>
            </a:extLst>
          </p:cNvPr>
          <p:cNvCxnSpPr>
            <a:cxnSpLocks/>
          </p:cNvCxnSpPr>
          <p:nvPr/>
        </p:nvCxnSpPr>
        <p:spPr>
          <a:xfrm flipH="1">
            <a:off x="4671024" y="4253975"/>
            <a:ext cx="204756" cy="56631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E45BC74-FA5F-906D-9C34-F7F5889BD61F}"/>
              </a:ext>
            </a:extLst>
          </p:cNvPr>
          <p:cNvCxnSpPr>
            <a:cxnSpLocks/>
          </p:cNvCxnSpPr>
          <p:nvPr/>
        </p:nvCxnSpPr>
        <p:spPr>
          <a:xfrm>
            <a:off x="4675828" y="4820288"/>
            <a:ext cx="3527565" cy="547235"/>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DC5321C-ED8D-A457-36C2-BBCA05876C96}"/>
              </a:ext>
            </a:extLst>
          </p:cNvPr>
          <p:cNvSpPr txBox="1"/>
          <p:nvPr/>
        </p:nvSpPr>
        <p:spPr>
          <a:xfrm rot="546461">
            <a:off x="5847701" y="5055088"/>
            <a:ext cx="654346" cy="276999"/>
          </a:xfrm>
          <a:prstGeom prst="rect">
            <a:avLst/>
          </a:prstGeom>
          <a:noFill/>
        </p:spPr>
        <p:txBody>
          <a:bodyPr wrap="none" rtlCol="0">
            <a:spAutoFit/>
          </a:bodyPr>
          <a:lstStyle/>
          <a:p>
            <a:pPr algn="ctr"/>
            <a:r>
              <a:rPr lang="en-US" sz="1200" dirty="0"/>
              <a:t>12.3 m</a:t>
            </a:r>
          </a:p>
        </p:txBody>
      </p:sp>
      <p:sp>
        <p:nvSpPr>
          <p:cNvPr id="10" name="TextBox 9">
            <a:extLst>
              <a:ext uri="{FF2B5EF4-FFF2-40B4-BE49-F238E27FC236}">
                <a16:creationId xmlns:a16="http://schemas.microsoft.com/office/drawing/2014/main" id="{621FF441-C809-BA58-FAF9-5A819D34D8A1}"/>
              </a:ext>
            </a:extLst>
          </p:cNvPr>
          <p:cNvSpPr txBox="1"/>
          <p:nvPr/>
        </p:nvSpPr>
        <p:spPr>
          <a:xfrm rot="540000">
            <a:off x="9165959" y="5665057"/>
            <a:ext cx="569388" cy="276999"/>
          </a:xfrm>
          <a:prstGeom prst="rect">
            <a:avLst/>
          </a:prstGeom>
          <a:noFill/>
        </p:spPr>
        <p:txBody>
          <a:bodyPr wrap="none" rtlCol="0">
            <a:spAutoFit/>
          </a:bodyPr>
          <a:lstStyle/>
          <a:p>
            <a:pPr algn="ctr"/>
            <a:r>
              <a:rPr lang="en-US" sz="1200" dirty="0"/>
              <a:t>8.0 m</a:t>
            </a:r>
          </a:p>
        </p:txBody>
      </p:sp>
    </p:spTree>
    <p:extLst>
      <p:ext uri="{BB962C8B-B14F-4D97-AF65-F5344CB8AC3E}">
        <p14:creationId xmlns:p14="http://schemas.microsoft.com/office/powerpoint/2010/main" val="1315309194"/>
      </p:ext>
    </p:extLst>
  </p:cSld>
  <p:clrMapOvr>
    <a:masterClrMapping/>
  </p:clrMapOvr>
</p:sld>
</file>

<file path=ppt/theme/theme1.xml><?xml version="1.0" encoding="utf-8"?>
<a:theme xmlns:a="http://schemas.openxmlformats.org/drawingml/2006/main" name="BNL">
  <a:themeElements>
    <a:clrScheme name="BNL_NSLS-II">
      <a:dk1>
        <a:srgbClr val="000000"/>
      </a:dk1>
      <a:lt1>
        <a:srgbClr val="FFFFFF"/>
      </a:lt1>
      <a:dk2>
        <a:srgbClr val="105B78"/>
      </a:dk2>
      <a:lt2>
        <a:srgbClr val="00ACDB"/>
      </a:lt2>
      <a:accent1>
        <a:srgbClr val="B2D33A"/>
      </a:accent1>
      <a:accent2>
        <a:srgbClr val="F68A1F"/>
      </a:accent2>
      <a:accent3>
        <a:srgbClr val="B62466"/>
      </a:accent3>
      <a:accent4>
        <a:srgbClr val="FFCC33"/>
      </a:accent4>
      <a:accent5>
        <a:srgbClr val="DA3525"/>
      </a:accent5>
      <a:accent6>
        <a:srgbClr val="50489D"/>
      </a:accent6>
      <a:hlink>
        <a:srgbClr val="4881C3"/>
      </a:hlink>
      <a:folHlink>
        <a:srgbClr val="24B574"/>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D-3B EIC_PPT_Outline_Template_Widescreen_0924.potx" id="{71A51187-4E24-47FA-ABCB-D4BFDCCFBFCB}" vid="{96F8F30C-5A31-45B4-A89E-A3B45A08558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bfd71d5-c7ac-4dca-b865-a609d1eb4074" xsi:nil="true"/>
    <lcf76f155ced4ddcb4097134ff3c332f xmlns="2352377a-63f2-414e-9291-4b9957ac4bd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0F4037D52DD7A40B7473D286F4904EE" ma:contentTypeVersion="15" ma:contentTypeDescription="Create a new document." ma:contentTypeScope="" ma:versionID="cd5d6e4532fb2b808ca6212087a8709b">
  <xsd:schema xmlns:xsd="http://www.w3.org/2001/XMLSchema" xmlns:xs="http://www.w3.org/2001/XMLSchema" xmlns:p="http://schemas.microsoft.com/office/2006/metadata/properties" xmlns:ns2="2352377a-63f2-414e-9291-4b9957ac4bde" xmlns:ns3="dd7425a4-fa23-406d-b478-3c2992d2d4ba" xmlns:ns4="3bfd71d5-c7ac-4dca-b865-a609d1eb4074" targetNamespace="http://schemas.microsoft.com/office/2006/metadata/properties" ma:root="true" ma:fieldsID="89dafafcfe35c47e2579c3d5d701f3eb" ns2:_="" ns3:_="" ns4:_="">
    <xsd:import namespace="2352377a-63f2-414e-9291-4b9957ac4bde"/>
    <xsd:import namespace="dd7425a4-fa23-406d-b478-3c2992d2d4ba"/>
    <xsd:import namespace="3bfd71d5-c7ac-4dca-b865-a609d1eb407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52377a-63f2-414e-9291-4b9957ac4b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a325a567-783b-4eae-ad25-f71283ef2f6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d7425a4-fa23-406d-b478-3c2992d2d4b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fd71d5-c7ac-4dca-b865-a609d1eb4074"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c11a0df5-9a12-49e9-8865-351e10a89734}" ma:internalName="TaxCatchAll" ma:showField="CatchAllData" ma:web="dd7425a4-fa23-406d-b478-3c2992d2d4b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E88647-562A-460A-88A0-13D05ABABF01}">
  <ds:schemaRefs>
    <ds:schemaRef ds:uri="2352377a-63f2-414e-9291-4b9957ac4bde"/>
    <ds:schemaRef ds:uri="3bfd71d5-c7ac-4dca-b865-a609d1eb4074"/>
    <ds:schemaRef ds:uri="b06df8a4-c198-4f86-a4ae-b9b815c97217"/>
    <ds:schemaRef ds:uri="b0758665-f9e7-42fb-86fc-03d00855454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DE22D85F-60BA-4A51-A1DF-FC43A3B6C642}">
  <ds:schemaRefs>
    <ds:schemaRef ds:uri="http://schemas.microsoft.com/sharepoint/v3/contenttype/forms"/>
  </ds:schemaRefs>
</ds:datastoreItem>
</file>

<file path=customXml/itemProps3.xml><?xml version="1.0" encoding="utf-8"?>
<ds:datastoreItem xmlns:ds="http://schemas.openxmlformats.org/officeDocument/2006/customXml" ds:itemID="{BCC4B8A5-A715-4677-96D3-53C5B3162F9A}">
  <ds:schemaRefs>
    <ds:schemaRef ds:uri="2352377a-63f2-414e-9291-4b9957ac4bde"/>
    <ds:schemaRef ds:uri="3bfd71d5-c7ac-4dca-b865-a609d1eb4074"/>
    <ds:schemaRef ds:uri="dd7425a4-fa23-406d-b478-3c2992d2d4b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CD-3B EIC_PPT_Outline_Template_Widescreen_0924</Template>
  <TotalTime>18749</TotalTime>
  <Words>3592</Words>
  <Application>Microsoft Macintosh PowerPoint</Application>
  <PresentationFormat>Widescreen</PresentationFormat>
  <Paragraphs>572</Paragraphs>
  <Slides>39</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Arial</vt:lpstr>
      <vt:lpstr>Arial Narrow</vt:lpstr>
      <vt:lpstr>Calibri</vt:lpstr>
      <vt:lpstr>Cambria Math</vt:lpstr>
      <vt:lpstr>Helvetica</vt:lpstr>
      <vt:lpstr>Symbol</vt:lpstr>
      <vt:lpstr>Wingdings</vt:lpstr>
      <vt:lpstr>BNL</vt:lpstr>
      <vt:lpstr>Electron and Hadron Polarimetry</vt:lpstr>
      <vt:lpstr>About us</vt:lpstr>
      <vt:lpstr>Outline</vt:lpstr>
      <vt:lpstr>Charge Questions</vt:lpstr>
      <vt:lpstr>Scope Introduction</vt:lpstr>
      <vt:lpstr>PowerPoint Presentation</vt:lpstr>
      <vt:lpstr>Scope Definition (from WBS, abbreviated)</vt:lpstr>
      <vt:lpstr>Scope Definition (from WBS, abbreviated)</vt:lpstr>
      <vt:lpstr>PowerPoint Presentation</vt:lpstr>
      <vt:lpstr>PowerPoint Presentation</vt:lpstr>
      <vt:lpstr>Polarimeters</vt:lpstr>
      <vt:lpstr>Tech. Progress: ESR Laser and Position Detector</vt:lpstr>
      <vt:lpstr>PowerPoint Presentation</vt:lpstr>
      <vt:lpstr>PowerPoint Presentation</vt:lpstr>
      <vt:lpstr>Technical Path Forward</vt:lpstr>
      <vt:lpstr>Dependencies</vt:lpstr>
      <vt:lpstr>Major Interfaces</vt:lpstr>
      <vt:lpstr>Example: Interface for hadron polarimeters</vt:lpstr>
      <vt:lpstr>Example: Interface for  electron polarimeters</vt:lpstr>
      <vt:lpstr>Quality Assurance</vt:lpstr>
      <vt:lpstr>Major Acquisition Planning</vt:lpstr>
      <vt:lpstr>Schedule</vt:lpstr>
      <vt:lpstr>Costs: Budget at Completion</vt:lpstr>
      <vt:lpstr>Costs: Budget Profile</vt:lpstr>
      <vt:lpstr>Staffing and Organization</vt:lpstr>
      <vt:lpstr>Risks</vt:lpstr>
      <vt:lpstr>Basis of Estimate</vt:lpstr>
      <vt:lpstr>PowerPoint Presentation</vt:lpstr>
      <vt:lpstr>Cost Trace (ESR Laser System)</vt:lpstr>
      <vt:lpstr>Preliminary Design Review on Polarimetry</vt:lpstr>
      <vt:lpstr>Summary</vt:lpstr>
      <vt:lpstr>Backup</vt:lpstr>
      <vt:lpstr>Electron Polarimeters</vt:lpstr>
      <vt:lpstr>Technical Progress: ESR Compton Laser</vt:lpstr>
      <vt:lpstr>Technical Progress: Compton Polarimeter Detectors</vt:lpstr>
      <vt:lpstr>Polarized Atomic Hydrogen Jet Target</vt:lpstr>
      <vt:lpstr>PowerPoint Presentation</vt:lpstr>
      <vt:lpstr>PowerPoint Presentation</vt:lpstr>
      <vt:lpstr>Hadron polarimetry layout at IP4</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EVMS for CD-3A &amp; CD-3B</dc:title>
  <dc:subject/>
  <dc:creator>Krug, Kelly</dc:creator>
  <cp:keywords/>
  <dc:description/>
  <cp:lastModifiedBy>Elke-Caroline Aschenauer</cp:lastModifiedBy>
  <cp:revision>61</cp:revision>
  <dcterms:created xsi:type="dcterms:W3CDTF">2024-12-02T19:13:25Z</dcterms:created>
  <dcterms:modified xsi:type="dcterms:W3CDTF">2026-01-25T23:22:34Z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0x01010000F4037D52DD7A40B7473D286F4904EE</vt:lpwstr>
  </property>
  <property fmtid="{D5CDD505-2E9C-101B-9397-08002B2CF9AE}" pid="3" name="MediaServiceImageTags">
    <vt:lpwstr/>
  </property>
  <property fmtid="{D5CDD505-2E9C-101B-9397-08002B2CF9AE}" pid="4" name="Order">
    <vt:lpwstr>93500.0000000000</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lpwstr/>
  </property>
</Properties>
</file>